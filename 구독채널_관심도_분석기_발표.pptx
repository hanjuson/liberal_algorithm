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F971D4-CDB2-4822-BC53-288A61021AA8}" v="3" dt="2026-06-02T04:17:52.1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명준 송" userId="7e48128a0c33bc37" providerId="LiveId" clId="{A62D5C53-2774-4FE3-8307-3525D25D70A4}"/>
    <pc:docChg chg="modSld">
      <pc:chgData name="명준 송" userId="7e48128a0c33bc37" providerId="LiveId" clId="{A62D5C53-2774-4FE3-8307-3525D25D70A4}" dt="2026-06-02T04:18:34.892" v="11" actId="20577"/>
      <pc:docMkLst>
        <pc:docMk/>
      </pc:docMkLst>
      <pc:sldChg chg="addSp modSp mod">
        <pc:chgData name="명준 송" userId="7e48128a0c33bc37" providerId="LiveId" clId="{A62D5C53-2774-4FE3-8307-3525D25D70A4}" dt="2026-06-02T04:18:34.892" v="11" actId="20577"/>
        <pc:sldMkLst>
          <pc:docMk/>
          <pc:sldMk cId="0" sldId="267"/>
        </pc:sldMkLst>
        <pc:spChg chg="mod">
          <ac:chgData name="명준 송" userId="7e48128a0c33bc37" providerId="LiveId" clId="{A62D5C53-2774-4FE3-8307-3525D25D70A4}" dt="2026-06-02T04:18:34.892" v="11" actId="20577"/>
          <ac:spMkLst>
            <pc:docMk/>
            <pc:sldMk cId="0" sldId="267"/>
            <ac:spMk id="5" creationId="{00000000-0000-0000-0000-000000000000}"/>
          </ac:spMkLst>
        </pc:spChg>
        <pc:picChg chg="mod">
          <ac:chgData name="명준 송" userId="7e48128a0c33bc37" providerId="LiveId" clId="{A62D5C53-2774-4FE3-8307-3525D25D70A4}" dt="2026-06-02T04:17:44.366" v="5" actId="14826"/>
          <ac:picMkLst>
            <pc:docMk/>
            <pc:sldMk cId="0" sldId="267"/>
            <ac:picMk id="7" creationId="{00000000-0000-0000-0000-000000000000}"/>
          </ac:picMkLst>
        </pc:picChg>
        <pc:picChg chg="add mod">
          <ac:chgData name="명준 송" userId="7e48128a0c33bc37" providerId="LiveId" clId="{A62D5C53-2774-4FE3-8307-3525D25D70A4}" dt="2026-06-02T04:17:58.142" v="7" actId="1076"/>
          <ac:picMkLst>
            <pc:docMk/>
            <pc:sldMk cId="0" sldId="267"/>
            <ac:picMk id="26" creationId="{30383C1C-7B24-148C-3724-379698AD630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3B3B"/>
                </a:solidFill>
                <a:latin typeface="Consolas"/>
              </a:rPr>
              <a:t>// YOUTUBE CHANNEL ANALYZER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9848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000" b="1">
                <a:solidFill>
                  <a:srgbClr val="F2F2F2"/>
                </a:solidFill>
                <a:latin typeface="Segoe UI"/>
              </a:rPr>
              <a:t>Subscription </a:t>
            </a:r>
            <a:r>
              <a:rPr sz="5000" b="1">
                <a:solidFill>
                  <a:srgbClr val="FF3B3B"/>
                </a:solidFill>
                <a:latin typeface="Segoe UI"/>
              </a:rPr>
              <a:t>Interest 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24128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A9AA2"/>
                </a:solidFill>
                <a:latin typeface="Segoe UI"/>
              </a:rPr>
              <a:t>Connect your Google account via OAuth and turn subscribed channels into an </a:t>
            </a:r>
            <a:r>
              <a:rPr sz="1700" b="1">
                <a:solidFill>
                  <a:srgbClr val="F2F2F2"/>
                </a:solidFill>
                <a:latin typeface="Segoe UI"/>
              </a:rPr>
              <a:t>Interest Score (0–100)</a:t>
            </a:r>
            <a:r>
              <a:rPr sz="1700" b="0">
                <a:solidFill>
                  <a:srgbClr val="9A9AA2"/>
                </a:solidFill>
                <a:latin typeface="Segoe UI"/>
              </a:rPr>
              <a:t>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A9AA2"/>
                </a:solidFill>
                <a:latin typeface="Segoe UI"/>
              </a:rPr>
              <a:t>then let </a:t>
            </a:r>
            <a:r>
              <a:rPr sz="1700" b="1">
                <a:solidFill>
                  <a:srgbClr val="F2F2F2"/>
                </a:solidFill>
                <a:latin typeface="Segoe UI"/>
              </a:rPr>
              <a:t>Solar LLM</a:t>
            </a:r>
            <a:r>
              <a:rPr sz="1700" b="0">
                <a:solidFill>
                  <a:srgbClr val="9A9AA2"/>
                </a:solidFill>
                <a:latin typeface="Segoe UI"/>
              </a:rPr>
              <a:t> interpret your taste — persona, subscription cleanup, and new-channel recommendation.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983480"/>
            <a:ext cx="740664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740664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Flask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28216" y="4983480"/>
            <a:ext cx="1161288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28216" y="4983480"/>
            <a:ext cx="1161288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Vanilla JS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54096" y="4983480"/>
            <a:ext cx="1834286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54096" y="4983480"/>
            <a:ext cx="1834286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Google OAuth (GIS)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52974" y="4983480"/>
            <a:ext cx="1918411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52974" y="4983480"/>
            <a:ext cx="1918411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YouTube Data API v3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5977" y="4983480"/>
            <a:ext cx="1750161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5977" y="4983480"/>
            <a:ext cx="1750161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Upstage Solar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A6A72"/>
                </a:solidFill>
                <a:latin typeface="Consolas"/>
              </a:rPr>
              <a:t>Algorithm Course — Team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01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Where this project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5486400" cy="484632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50292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3B3B"/>
                </a:solidFill>
                <a:latin typeface="Segoe U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• Subscriptions pile up to dozens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hundreds, yet it's hard to tell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which channels you actually watch.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• "Subscribed for years but never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watch" — dormant channels clutter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the whole list.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• YouTube offers no API for your full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comment / watch history </a:t>
            </a:r>
            <a:r>
              <a:rPr sz="1300" b="0">
                <a:solidFill>
                  <a:srgbClr val="6A6A72"/>
                </a:solidFill>
                <a:latin typeface="Segoe UI"/>
              </a:rPr>
              <a:t>(removed 2016).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463040"/>
            <a:ext cx="5486400" cy="484632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3952" y="1691640"/>
            <a:ext cx="50292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Our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24028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Weight &amp; sum comments, likes, watch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 count, sub age → </a:t>
            </a:r>
            <a:r>
              <a:rPr sz="1500" b="1">
                <a:solidFill>
                  <a:srgbClr val="F2F2F2"/>
                </a:solidFill>
                <a:latin typeface="Segoe UI"/>
              </a:rPr>
              <a:t>Interest Score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1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</a:t>
            </a:r>
            <a:r>
              <a:rPr sz="1500" b="1">
                <a:solidFill>
                  <a:srgbClr val="FF3B3B"/>
                </a:solidFill>
                <a:latin typeface="Segoe UI"/>
              </a:rPr>
              <a:t>Zero activity → instant 0 points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1">
              <a:solidFill>
                <a:srgbClr val="FF3B3B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Auto-classify into 4 groups 🔥 😊 👋 🌱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Boost accuracy with real </a:t>
            </a:r>
            <a:r>
              <a:rPr sz="1500" b="1">
                <a:solidFill>
                  <a:srgbClr val="F2F2F2"/>
                </a:solidFill>
                <a:latin typeface="Segoe UI"/>
              </a:rPr>
              <a:t>watch history</a:t>
            </a:r>
            <a:r>
              <a:rPr sz="1500" b="0">
                <a:solidFill>
                  <a:srgbClr val="9A9AA2"/>
                </a:solidFill>
                <a:latin typeface="Segoe UI"/>
              </a:rPr>
              <a:t> (Takeout)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Solar LLM interprets taste &amp; recommends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02 ·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Core features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📊  </a:t>
            </a:r>
            <a:r>
              <a:rPr sz="1600" b="1">
                <a:solidFill>
                  <a:srgbClr val="FF3B3B"/>
                </a:solidFill>
                <a:latin typeface="Segoe UI"/>
              </a:rPr>
              <a:t>Interest 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Weight &amp; sum comments, likes,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watch &amp; sub age into 0–100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07992" y="1755648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🗂️  </a:t>
            </a:r>
            <a:r>
              <a:rPr sz="1600" b="1">
                <a:solidFill>
                  <a:srgbClr val="FF3B3B"/>
                </a:solidFill>
                <a:latin typeface="Segoe UI"/>
              </a:rPr>
              <a:t>4-Group Classification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🔥 Top / 😊 Often / 👋 Sometimes /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🌱 Subscribed-only via binary 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84464" y="1755648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📥  </a:t>
            </a:r>
            <a:r>
              <a:rPr sz="1600" b="1">
                <a:solidFill>
                  <a:srgbClr val="FF3B3B"/>
                </a:solidFill>
                <a:latin typeface="Segoe UI"/>
              </a:rPr>
              <a:t>Takeout Hybrid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Exact comments &amp; watch history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from comments.csv / watch-history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197096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🧬  </a:t>
            </a:r>
            <a:r>
              <a:rPr sz="1600" b="1">
                <a:solidFill>
                  <a:srgbClr val="FF3B3B"/>
                </a:solidFill>
                <a:latin typeface="Segoe UI"/>
              </a:rPr>
              <a:t>Viewing-Taste Persona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Solar LLM turns your channel mix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into one taste report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9392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07992" y="4197096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🧹  </a:t>
            </a:r>
            <a:r>
              <a:rPr sz="1600" b="1">
                <a:solidFill>
                  <a:srgbClr val="FF3B3B"/>
                </a:solidFill>
                <a:latin typeface="Segoe UI"/>
              </a:rPr>
              <a:t>Cleanup Coach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LLM suggests drop/keep for dormant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&amp; low-interest channels, with reasons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4464" y="4197096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✨  </a:t>
            </a:r>
            <a:r>
              <a:rPr sz="1600" b="1">
                <a:solidFill>
                  <a:srgbClr val="FF3B3B"/>
                </a:solidFill>
                <a:latin typeface="Segoe UI"/>
              </a:rPr>
              <a:t>New Channel Recommend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Reverse-trace interest videos to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surface 10 real, existing channels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361188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11880" cy="566928"/>
          </a:xfrm>
          <a:prstGeom prst="roundRect">
            <a:avLst/>
          </a:prstGeom>
          <a:solidFill>
            <a:srgbClr val="2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3611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F2F2"/>
                </a:solidFill>
                <a:latin typeface="Segoe UI"/>
              </a:rPr>
              <a:t>Browser (Vanilla JS)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377440"/>
            <a:ext cx="3154680" cy="2377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GIS token client (OAuth)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Direct YouTube Data API calls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Takeout file parsing (JS)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Render · filter ·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2" y="2926080"/>
            <a:ext cx="201168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600200"/>
            <a:ext cx="361188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79392" y="1600200"/>
            <a:ext cx="3611880" cy="566928"/>
          </a:xfrm>
          <a:prstGeom prst="roundRect">
            <a:avLst/>
          </a:prstGeom>
          <a:solidFill>
            <a:srgbClr val="2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9392" y="1600200"/>
            <a:ext cx="3611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Segoe UI"/>
              </a:rPr>
              <a:t>Flask Server (app.py)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377440"/>
            <a:ext cx="3154680" cy="2377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/api/analyze — score·sort·group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LRU cache (input-dependent key)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Heap Sort · Binary Search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7 LLM proxy endpoints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2984" y="2926080"/>
            <a:ext cx="201168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61188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55864" y="1600200"/>
            <a:ext cx="3611880" cy="566928"/>
          </a:xfrm>
          <a:prstGeom prst="roundRect">
            <a:avLst/>
          </a:prstGeom>
          <a:solidFill>
            <a:srgbClr val="2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55864" y="1600200"/>
            <a:ext cx="3611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Segoe UI"/>
              </a:rPr>
              <a:t>External 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2377440"/>
            <a:ext cx="3154680" cy="2377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YouTube Data API v3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subscriptions · videos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search · commentThreads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Upstage Solar (solar-pro2)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120640"/>
            <a:ext cx="11183112" cy="114300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5230368"/>
            <a:ext cx="107899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Data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596128"/>
            <a:ext cx="1088136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OAuth login → collect subs·likes·comments → (optional) Takeout boost → </a:t>
            </a:r>
            <a:r>
              <a:rPr sz="1300" b="1">
                <a:solidFill>
                  <a:srgbClr val="F2F2F2"/>
                </a:solidFill>
                <a:latin typeface="Consolas"/>
              </a:rPr>
              <a:t>/api/analyze</a:t>
            </a:r>
            <a:r>
              <a:rPr sz="1300" b="0">
                <a:solidFill>
                  <a:srgbClr val="9A9AA2"/>
                </a:solidFill>
                <a:latin typeface="Segoe UI"/>
              </a:rPr>
              <a:t> scoring pipeline → group &amp; sort → render → </a:t>
            </a:r>
            <a:r>
              <a:rPr sz="1300" b="1">
                <a:solidFill>
                  <a:srgbClr val="2ECC71"/>
                </a:solidFill>
                <a:latin typeface="Segoe UI"/>
              </a:rPr>
              <a:t>AI Tools (LLM)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04 · USER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User Flow — 4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Consolas"/>
              </a:rPr>
              <a:t>Setup  →  Google Login  →  Data Collection  →  Analysis Done</a:t>
            </a:r>
          </a:p>
        </p:txBody>
      </p:sp>
      <p:pic>
        <p:nvPicPr>
          <p:cNvPr id="8" name="Picture 7" descr="기본화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31505"/>
            <a:ext cx="5486400" cy="2909389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pic>
        <p:nvPicPr>
          <p:cNvPr id="9" name="Picture 8" descr="로그인 후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418730"/>
            <a:ext cx="5486400" cy="2934940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02920" y="6035040"/>
            <a:ext cx="5486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① Set client ID, then log in with Google (youtube.readonly)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6035040"/>
            <a:ext cx="5486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② (Optional) Upload Takeout → exact comments &amp; watch history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05 ·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Scoring — 5-Stage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280160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Weighted Activity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comments×5 + watch×3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+ likes×2 + sub bonus(+12)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Zero activity →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15768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493008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8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Recency Decay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2928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score × e^(−0.005·d)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d = days since last watch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98648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98648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Decay stale channels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28616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705856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05856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Min-Max Normalize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5776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(s−min)/(max−min)×100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→ 0–100 relative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11496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11496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Within-user compare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31736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41464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7918704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918704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41464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Binary Search Group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8624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boundaries [20·50·80]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→ 4 groups O(log k)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24344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24344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🔥 😊 👋 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44584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54312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0131552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31552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54312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Heap Sort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1472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custom max-heap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descending O(n log 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37192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37192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Ranked output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257800"/>
            <a:ext cx="11183112" cy="96012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5349240"/>
            <a:ext cx="1078992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ECC71"/>
                </a:solidFill>
                <a:latin typeface="Segoe UI"/>
              </a:rPr>
              <a:t>+ LRU Cache</a:t>
            </a:r>
            <a:r>
              <a:rPr sz="1200" b="0">
                <a:solidFill>
                  <a:srgbClr val="9A9AA2"/>
                </a:solidFill>
                <a:latin typeface="Consolas"/>
              </a:rPr>
              <a:t>  (OrderedDict, input-dependent key)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Cache key = (id, comments, likes, watchCount, subMonths, lastWatchDays) → auto-invalidates on input change; repeat calls hit instantly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05 ·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Why "Zero Activity → 0 Points"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120640" cy="2377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Signal Weights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4173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Comments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19456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194560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Writing = most active engagement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06040"/>
            <a:ext cx="14173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Watch 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60604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606040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Real watching = strong preference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17520"/>
            <a:ext cx="14173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Likes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01752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017520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One click, medium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29000"/>
            <a:ext cx="14173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Long sub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42900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+0.5/mo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29000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Only if active, 2yr cap (+12)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69080"/>
            <a:ext cx="5120640" cy="21945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45720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Recency Decay  </a:t>
            </a:r>
            <a:r>
              <a:rPr sz="1300" b="0">
                <a:solidFill>
                  <a:srgbClr val="9A9AA2"/>
                </a:solidFill>
                <a:latin typeface="Consolas"/>
              </a:rPr>
              <a:t>e^(−0.005·d)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0.97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64792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64792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30d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64792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0.86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52344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52344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90d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52344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0.64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39896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739896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1yr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39896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27448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727448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3yr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7448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≈0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52160" y="1554480"/>
            <a:ext cx="5833872" cy="47091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080760" y="1691640"/>
            <a:ext cx="53949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Segoe UI"/>
              </a:rPr>
              <a:t>Verified Results — same input, accurate demotion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2194560"/>
            <a:ext cx="5532120" cy="502920"/>
          </a:xfrm>
          <a:prstGeom prst="rect">
            <a:avLst/>
          </a:prstGeom>
          <a:solidFill>
            <a:srgbClr val="24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80760" y="2194560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2F2F2"/>
                </a:solidFill>
                <a:latin typeface="Segoe UI"/>
              </a:rPr>
              <a:t>Channel case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9456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Cmt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219456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Likes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78440" y="219456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Watch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9960" y="2194560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2F2F2"/>
                </a:solidFill>
                <a:latin typeface="Consolas"/>
              </a:rPr>
              <a:t>Score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ECC71"/>
                </a:solidFill>
                <a:latin typeface="Segoe UI"/>
              </a:rPr>
              <a:t>Watched 150× · 3 days ago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2761488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0" y="2761488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78440" y="2761488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150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09960" y="2761488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Consolas"/>
              </a:rPr>
              <a:t>100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3328416"/>
            <a:ext cx="5532120" cy="50292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80760" y="3328416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2F2"/>
                </a:solidFill>
                <a:latin typeface="Segoe UI"/>
              </a:rPr>
              <a:t>5yr active (cmt·likes)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3328416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328416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78440" y="3328416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09960" y="3328416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F2F2"/>
                </a:solidFill>
                <a:latin typeface="Consolas"/>
              </a:rPr>
              <a:t>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80760" y="3895344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Segoe UI"/>
              </a:rPr>
              <a:t>6mo active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3895344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895344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78440" y="3895344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09960" y="3895344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9AA2"/>
                </a:solidFill>
                <a:latin typeface="Consolas"/>
              </a:rPr>
              <a:t>15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89320" y="4462272"/>
            <a:ext cx="5532120" cy="50292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080760" y="4462272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F3B3B"/>
                </a:solidFill>
                <a:latin typeface="Segoe UI"/>
              </a:rPr>
              <a:t>Dormant 10 years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69680" y="4462272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0" y="4462272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78440" y="4462272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09960" y="4462272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Consolas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5029200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F3B3B"/>
                </a:solidFill>
                <a:latin typeface="Segoe UI"/>
              </a:rPr>
              <a:t>Watched 50× · 1000 days ago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502920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502920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78440" y="502920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9960" y="5029200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Consolas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5715000"/>
            <a:ext cx="539496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→ Fixes the old trap (</a:t>
            </a:r>
            <a:r>
              <a:rPr sz="1200" b="1">
                <a:solidFill>
                  <a:srgbClr val="FF3B3B"/>
                </a:solidFill>
                <a:latin typeface="Segoe UI"/>
              </a:rPr>
              <a:t>10yr-dormant &gt; 6mo-active</a:t>
            </a:r>
            <a:r>
              <a:rPr sz="1200" b="0">
                <a:solidFill>
                  <a:srgbClr val="9A9AA2"/>
                </a:solidFill>
                <a:latin typeface="Segoe UI"/>
              </a:rPr>
              <a:t>) via "zero activity → 0"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06 · COURSE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Algorithms Actually Used in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Heap 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recursive heapify, max-heap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700784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700784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 log 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121408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descending score sort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554480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664208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Binary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057400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boundary-array 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77272" y="1700784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177272" y="1700784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O(log 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2121408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score → 4 groups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715768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2825496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LRU Cache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18688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OrderedDict input 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2862072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80560" y="2862072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282696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score cache · auto-invalidate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2715768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28232" y="2825496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Hash 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218688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likeMap·commentMap, etc.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77272" y="2862072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77272" y="2862072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 avg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88552" y="3282696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multi-channel aggregation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877056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986784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Min-Max Normalize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379976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linear scaling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4023360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80560" y="4023360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4443984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0–100 scoring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3877056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28232" y="3986784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Recency Decay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8232" y="4379976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exponential exp(−λ·d)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77272" y="4023360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77272" y="4023360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552" y="4443984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watch-recency weighting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038344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31520" y="5148072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Cursor Pagination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541264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nextPageToken loop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60" y="5184648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80560" y="5184648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605272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collect all subs·likes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99632" y="5038344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28232" y="5148072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Parallel Batch + Backoff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28232" y="5541264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Promise.all 10 · 429 retry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77272" y="5184648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177272" y="5184648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O(n/p)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88552" y="5605272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concurrent API fetch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07 ·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Result — Interest Ranking + AI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우하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2889"/>
            <a:ext cx="7406640" cy="3958061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Screen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Per-channel </a:t>
            </a:r>
            <a:r>
              <a:rPr sz="1300" b="1">
                <a:solidFill>
                  <a:srgbClr val="F2F2F2"/>
                </a:solidFill>
                <a:latin typeface="Segoe UI"/>
              </a:rPr>
              <a:t>Interest Score·rank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Segoe UI"/>
              </a:rPr>
              <a:t>  (#rank · cmt · likes · subs)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1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Zero-score channels sorted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to the bottom as dormant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Bottom </a:t>
            </a:r>
            <a:r>
              <a:rPr sz="1300" b="1">
                <a:solidFill>
                  <a:srgbClr val="2ECC71"/>
                </a:solidFill>
                <a:latin typeface="Segoe UI"/>
              </a:rPr>
              <a:t>🤖 AI Analysis Tools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— 3 selectable modes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- Viewing-Taste Persona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- Subscription Cleanup Coach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- New Channel Recommendation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Floating button re-opens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the tools anytime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08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Viewing-Taste Persona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페르소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5048"/>
            <a:ext cx="7406640" cy="3953743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Segoe UI"/>
              </a:rPr>
              <a:t>Solar LLM Interpretation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Takes channel scores &amp;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category distribution, then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writes one taste report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Segoe UI"/>
              </a:rPr>
              <a:t>Example result: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"Solo-cooking + Game/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 History buff"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1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Solo-Cooking Master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Game Strategist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History + Slang buff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Healthy-Food Experimenter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A6A72"/>
                </a:solidFill>
                <a:latin typeface="Segoe UI"/>
              </a:rPr>
              <a:t>→ tags·subtitles·summary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A6A72"/>
                </a:solidFill>
                <a:latin typeface="Segoe UI"/>
              </a:rPr>
              <a:t>   as structured 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09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Subscription Cleanup Coach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구독 정리 코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4949"/>
            <a:ext cx="7406640" cy="3953942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Cleanup Logic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LLM judges dormant &amp;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low-interest channels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(score &lt; 20)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🔴 </a:t>
            </a:r>
            <a:r>
              <a:rPr sz="1300" b="1">
                <a:solidFill>
                  <a:srgbClr val="FF3B3B"/>
                </a:solidFill>
                <a:latin typeface="Segoe UI"/>
              </a:rPr>
              <a:t>Drop Recommended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long inactivity (2yr+)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🟡 </a:t>
            </a:r>
            <a:r>
              <a:rPr sz="1300" b="1">
                <a:solidFill>
                  <a:srgbClr val="F4A844"/>
                </a:solidFill>
                <a:latin typeface="Segoe UI"/>
              </a:rPr>
              <a:t>Keep for Now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inactive within 1 year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Each with a stated reason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("active ~1530 days ago,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inactive 51 months")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10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51296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Channel </a:t>
            </a:r>
            <a:r>
              <a:rPr sz="3000" b="1" dirty="0">
                <a:solidFill>
                  <a:srgbClr val="F2F2F2"/>
                </a:solidFill>
                <a:latin typeface="Segoe UI"/>
              </a:rPr>
              <a:t>Recommendation — Video-First Discovery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03323" y="1460585"/>
            <a:ext cx="4493309" cy="2409430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086600" y="1463040"/>
            <a:ext cx="459943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0" y="1645920"/>
            <a:ext cx="42062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3B3B"/>
                </a:solidFill>
                <a:latin typeface="Segoe UI"/>
              </a:rPr>
              <a:t>Anti-hallucination: don't invent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3B3B"/>
                </a:solidFill>
                <a:latin typeface="Segoe UI"/>
              </a:rPr>
              <a:t>names — reverse-trace real videos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68880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Extract interest keywords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770632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top channels + recent titles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18688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218688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Search videos per keyword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520440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search.list → collect channelId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968496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968496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Aggregate channelId frequency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270248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2+ keywords = real topic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718304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18304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Profile candidates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020056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real desc·titles (1 unit)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468112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5468112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LLM curation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769864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rank · reason · fit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A6A72"/>
                </a:solidFill>
                <a:latin typeface="Segoe UI"/>
              </a:rPr>
              <a:t>Costly search(100u) only at ②, deep profiling at 1u → quota saved</a:t>
            </a:r>
          </a:p>
        </p:txBody>
      </p:sp>
      <p:pic>
        <p:nvPicPr>
          <p:cNvPr id="26" name="Picture 6">
            <a:extLst>
              <a:ext uri="{FF2B5EF4-FFF2-40B4-BE49-F238E27FC236}">
                <a16:creationId xmlns:a16="http://schemas.microsoft.com/office/drawing/2014/main" id="{30383C1C-7B24-148C-3724-379698AD63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72398" y="4225600"/>
            <a:ext cx="4524234" cy="1954671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DEV · CATEGORY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F2F2F2"/>
                </a:solidFill>
                <a:latin typeface="Segoe UI"/>
              </a:rPr>
              <a:t>Category Classification System — Deterministic + Cosine Similarity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Added during development — auto-classifies channels into categories, a shared base for </a:t>
            </a:r>
            <a:r>
              <a:rPr sz="1400" b="1">
                <a:solidFill>
                  <a:srgbClr val="F2F2F2"/>
                </a:solidFill>
                <a:latin typeface="Segoe UI"/>
              </a:rPr>
              <a:t>recommendation · similar channels · persona. </a:t>
            </a:r>
            <a:r>
              <a:rPr sz="1400" b="1">
                <a:solidFill>
                  <a:srgbClr val="2ECC71"/>
                </a:solidFill>
                <a:latin typeface="Segoe UI"/>
              </a:rPr>
              <a:t>Zero extra API/LLM calls.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3611880" cy="31546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📚  </a:t>
            </a:r>
            <a:r>
              <a:rPr sz="1500" b="1">
                <a:solidFill>
                  <a:srgbClr val="F4A844"/>
                </a:solidFill>
                <a:latin typeface="Segoe UI"/>
              </a:rPr>
              <a:t>Keyword Lexicon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87168"/>
            <a:ext cx="32004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category_list.yaml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14 top categories + sub-details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core / general two-tier weights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Korean = substring match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English = word-boundary regex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e.g. "ai" won't match "email"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920240"/>
            <a:ext cx="3611880" cy="31546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7992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🏷️  </a:t>
            </a:r>
            <a:r>
              <a:rPr sz="1500" b="1">
                <a:solidFill>
                  <a:srgbClr val="2ECC71"/>
                </a:solidFill>
                <a:latin typeface="Segoe UI"/>
              </a:rPr>
              <a:t>Deterministic Classify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487168"/>
            <a:ext cx="32004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classify_channel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834640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Match keywords in name + desc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+ recent video titles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categoryScores vector (top-N,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normalized to sum = 1)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LRU cache (versioned key), cost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1920240"/>
            <a:ext cx="3611880" cy="31546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84464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🧭  </a:t>
            </a:r>
            <a:r>
              <a:rPr sz="1500" b="1">
                <a:solidFill>
                  <a:srgbClr val="FF3B3B"/>
                </a:solidFill>
                <a:latin typeface="Segoe UI"/>
              </a:rPr>
              <a:t>Cosine Similarity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487168"/>
            <a:ext cx="32004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attach_similarity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834640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Reuse categoryScores vectors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Representativeness vs taste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centroid (score-weighted)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Top-K similar channels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vector math only — 0 extra API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57800"/>
            <a:ext cx="11183112" cy="100584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5358384"/>
            <a:ext cx="107899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3B3B"/>
                </a:solidFill>
                <a:latin typeface="Consolas"/>
              </a:rPr>
              <a:t>Algorithms introduced</a:t>
            </a:r>
            <a:r>
              <a:rPr sz="1200" b="0">
                <a:solidFill>
                  <a:srgbClr val="9A9AA2"/>
                </a:solidFill>
                <a:latin typeface="Segoe UI"/>
              </a:rPr>
              <a:t>   Cosine Similarity · Weighted Keyword Matching · Vector Normalization · LRU Cache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42432"/>
            <a:ext cx="108813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→ This classification directly enables the next step's </a:t>
            </a:r>
            <a:r>
              <a:rPr sz="1300" b="1">
                <a:solidFill>
                  <a:srgbClr val="F4A844"/>
                </a:solidFill>
                <a:latin typeface="Segoe UI"/>
              </a:rPr>
              <a:t>category diversity</a:t>
            </a:r>
            <a:r>
              <a:rPr sz="1300" b="0">
                <a:solidFill>
                  <a:srgbClr val="9A9AA2"/>
                </a:solidFill>
                <a:latin typeface="Segoe UI"/>
              </a:rPr>
              <a:t> in recommendations (≥1 each for cooking·economy·gaming).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DEV · SMART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F2F2F2"/>
                </a:solidFill>
                <a:latin typeface="Segoe UI"/>
              </a:rPr>
              <a:t>Recommendation Upgrade — Watch History · Category Diversity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Beyond subscriptions: reflect </a:t>
            </a:r>
            <a:r>
              <a:rPr sz="1400" b="1">
                <a:solidFill>
                  <a:srgbClr val="F2F2F2"/>
                </a:solidFill>
                <a:latin typeface="Segoe UI"/>
              </a:rPr>
              <a:t>recent watch history</a:t>
            </a:r>
            <a:r>
              <a:rPr sz="1400" b="0">
                <a:solidFill>
                  <a:srgbClr val="9A9AA2"/>
                </a:solidFill>
                <a:latin typeface="Segoe UI"/>
              </a:rPr>
              <a:t>, and recommend </a:t>
            </a:r>
            <a:r>
              <a:rPr sz="1400" b="1">
                <a:solidFill>
                  <a:srgbClr val="F2F2F2"/>
                </a:solidFill>
                <a:latin typeface="Segoe UI"/>
              </a:rPr>
              <a:t>evenly across interests</a:t>
            </a:r>
            <a:r>
              <a:rPr sz="1400" b="0">
                <a:solidFill>
                  <a:srgbClr val="9A9AA2"/>
                </a:solidFill>
                <a:latin typeface="Segoe UI"/>
              </a:rPr>
              <a:t> instead of one dominant category.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3611880" cy="320040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📺  </a:t>
            </a:r>
            <a:r>
              <a:rPr sz="1500" b="1">
                <a:solidFill>
                  <a:srgbClr val="2ECC71"/>
                </a:solidFill>
                <a:latin typeface="Segoe UI"/>
              </a:rPr>
              <a:t>Reflect Watched-but-Unsub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78608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"Recently watched but not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subscribed" channels as a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separate recommendation section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Noise cut: 2+ times within 90 days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Rank by frequency × recency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→ always an 'addition', not 'replace'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1920240"/>
            <a:ext cx="3611880" cy="320040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🌱  </a:t>
            </a:r>
            <a:r>
              <a:rPr sz="1500" b="1">
                <a:solidFill>
                  <a:srgbClr val="F4A844"/>
                </a:solidFill>
                <a:latin typeface="Segoe UI"/>
              </a:rPr>
              <a:t>Taste Seed Expansion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2578608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Feed video titles of watched-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unsubscribed channels into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discovery keywords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Based on what you actually watch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Titles embedded → zero API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→ broader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920240"/>
            <a:ext cx="3611880" cy="320040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84464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🎯  </a:t>
            </a:r>
            <a:r>
              <a:rPr sz="1500" b="1">
                <a:solidFill>
                  <a:srgbClr val="FF3B3B"/>
                </a:solidFill>
                <a:latin typeface="Segoe UI"/>
              </a:rPr>
              <a:t>Category Diversity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578608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Derive interest categories from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subscription classification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Balanced keyword extraction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(round-robin)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Guarantee ≥1 per category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→ fixes "cooking-only" skew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9240"/>
            <a:ext cx="11183112" cy="91440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5449824"/>
            <a:ext cx="107899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3B3B"/>
                </a:solidFill>
                <a:latin typeface="Consolas"/>
              </a:rPr>
              <a:t>Result screen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97296"/>
            <a:ext cx="1088136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ECC71"/>
                </a:solidFill>
                <a:latin typeface="Segoe UI"/>
              </a:rPr>
              <a:t>📺 Recently watched, not subscribed</a:t>
            </a:r>
            <a:r>
              <a:rPr sz="1300" b="0">
                <a:solidFill>
                  <a:srgbClr val="6A6A72"/>
                </a:solidFill>
                <a:latin typeface="Segoe UI"/>
              </a:rPr>
              <a:t>  +  </a:t>
            </a:r>
            <a:r>
              <a:rPr sz="1300" b="1">
                <a:solidFill>
                  <a:srgbClr val="FF3B3B"/>
                </a:solidFill>
                <a:latin typeface="Segoe UI"/>
              </a:rPr>
              <a:t>✨ Taste-based new channels</a:t>
            </a:r>
            <a:r>
              <a:rPr sz="1200" b="0">
                <a:solidFill>
                  <a:srgbClr val="9A9AA2"/>
                </a:solidFill>
                <a:latin typeface="Segoe UI"/>
              </a:rPr>
              <a:t>   shown together (LLM-name fallback if discovery fails / not logged in)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11 · DATA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Takeout Hybrid — Cost vs Accuracy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YouTube API can't fetch your full comment/watch history → </a:t>
            </a:r>
            <a:r>
              <a:rPr sz="1400" b="1">
                <a:solidFill>
                  <a:srgbClr val="F2F2F2"/>
                </a:solidFill>
                <a:latin typeface="Segoe UI"/>
              </a:rPr>
              <a:t>take Google Takeout files as auxiliary input to boost accuracy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11183112" cy="502920"/>
          </a:xfrm>
          <a:prstGeom prst="rect">
            <a:avLst/>
          </a:prstGeom>
          <a:solidFill>
            <a:srgbClr val="24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288036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1031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User Effort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011680"/>
            <a:ext cx="3017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API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011680"/>
            <a:ext cx="31546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Accuracy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11183112" cy="658368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542032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Neither uploaded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42032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none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542032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commentThreads × #channels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542032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approx comments · no watch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255264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Segoe UI"/>
              </a:rPr>
              <a:t>comments.csv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255264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1 upload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255264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videos.list × #videos/50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255264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exact comments · no watch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68496"/>
            <a:ext cx="11183112" cy="658368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968496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Segoe UI"/>
              </a:rPr>
              <a:t>watch-history.json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968496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1 upload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968496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0 units (channelId in subtitles)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968496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exact watch · approx comments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681728"/>
            <a:ext cx="11183112" cy="658368"/>
          </a:xfrm>
          <a:prstGeom prst="rect">
            <a:avLst/>
          </a:prstGeom>
          <a:solidFill>
            <a:srgbClr val="142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681728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ECC71"/>
                </a:solidFill>
                <a:latin typeface="Segoe UI"/>
              </a:rPr>
              <a:t>Both 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81728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2 uploads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4681728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comment video-resolve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681728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ECC71"/>
                </a:solidFill>
                <a:latin typeface="Segoe UI"/>
              </a:rPr>
              <a:t>all exact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669280"/>
            <a:ext cx="1115568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Segoe UI"/>
              </a:rPr>
              <a:t>Auto file detection: </a:t>
            </a:r>
            <a:r>
              <a:rPr sz="1300" b="0">
                <a:solidFill>
                  <a:srgbClr val="9A9AA2"/>
                </a:solidFill>
                <a:latin typeface="Segoe UI"/>
              </a:rPr>
              <a:t>filename (watch/comment) + first 4KB content (titleUrl·subtitles patterns) auto-routes the type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watch-history.json embeds channelId in subtitles[0].url → </a:t>
            </a:r>
            <a:r>
              <a:rPr sz="1200" b="1">
                <a:solidFill>
                  <a:srgbClr val="2ECC71"/>
                </a:solidFill>
                <a:latin typeface="Segoe UI"/>
              </a:rPr>
              <a:t>0 API calls</a:t>
            </a:r>
            <a:r>
              <a:rPr sz="1200" b="0">
                <a:solidFill>
                  <a:srgbClr val="9A9AA2"/>
                </a:solidFill>
                <a:latin typeface="Segoe UI"/>
              </a:rPr>
              <a:t> to extract watch count &amp; last-watch 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12 · LIMITS &amp;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Limitations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86400" cy="4663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3B3B"/>
                </a:solidFill>
                <a:latin typeface="Segoe UI"/>
              </a:rPr>
              <a:t>Current 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YouTube API daily quota </a:t>
            </a:r>
            <a:r>
              <a:rPr sz="1400" b="1">
                <a:solidFill>
                  <a:srgbClr val="F4A844"/>
                </a:solidFill>
                <a:latin typeface="Segoe UI"/>
              </a:rPr>
              <a:t>10,000 units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single GCP project shared by all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OAuth access_token </a:t>
            </a:r>
            <a:r>
              <a:rPr sz="1400" b="1">
                <a:solidFill>
                  <a:srgbClr val="F4A844"/>
                </a:solidFill>
                <a:latin typeface="Segoe UI"/>
              </a:rPr>
              <a:t>expires in 1h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no refresh logic (one-shot token)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Comment API approx: scans only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last 100 per channel → use Takeout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Score is </a:t>
            </a:r>
            <a:r>
              <a:rPr sz="1400" b="1">
                <a:solidFill>
                  <a:srgbClr val="F4A844"/>
                </a:solidFill>
                <a:latin typeface="Segoe UI"/>
              </a:rPr>
              <a:t>relative</a:t>
            </a:r>
            <a:r>
              <a:rPr sz="1400" b="0">
                <a:solidFill>
                  <a:srgbClr val="9A9AA2"/>
                </a:solidFill>
                <a:latin typeface="Segoe UI"/>
              </a:rPr>
              <a:t> — not cross-user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554480"/>
            <a:ext cx="5486400" cy="4663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3952" y="1737360"/>
            <a:ext cx="4937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CC71"/>
                </a:solidFill>
                <a:latin typeface="Segoe UI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28600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Refresh Token → long-running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Save results · compare trends over time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One-click subscribe to recommendations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Category clustering visualization (charts)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Publish OAuth consent screen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→ lift 100 test-user limit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1734</Words>
  <Application>Microsoft Office PowerPoint</Application>
  <PresentationFormat>와이드스크린</PresentationFormat>
  <Paragraphs>377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Segoe UI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명준 송</cp:lastModifiedBy>
  <cp:revision>1</cp:revision>
  <dcterms:created xsi:type="dcterms:W3CDTF">2013-01-27T09:14:16Z</dcterms:created>
  <dcterms:modified xsi:type="dcterms:W3CDTF">2026-06-02T04:18:36Z</dcterms:modified>
  <cp:category/>
</cp:coreProperties>
</file>