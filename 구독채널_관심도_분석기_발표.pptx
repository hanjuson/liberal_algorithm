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73" r:id="rId6"/>
    <p:sldId id="260" r:id="rId7"/>
    <p:sldId id="261" r:id="rId8"/>
    <p:sldId id="262" r:id="rId9"/>
    <p:sldId id="263" r:id="rId10"/>
    <p:sldId id="272" r:id="rId11"/>
    <p:sldId id="264" r:id="rId12"/>
    <p:sldId id="265" r:id="rId13"/>
    <p:sldId id="266" r:id="rId14"/>
    <p:sldId id="267" r:id="rId15"/>
    <p:sldId id="274" r:id="rId16"/>
    <p:sldId id="268" r:id="rId17"/>
    <p:sldId id="269" r:id="rId18"/>
    <p:sldId id="270" r:id="rId19"/>
    <p:sldId id="271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2F971D4-CDB2-4822-BC53-288A61021AA8}" v="13" dt="2026-06-02T06:43:31.39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2" d="100"/>
          <a:sy n="102" d="100"/>
        </p:scale>
        <p:origin x="364" y="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명준 송" userId="7e48128a0c33bc37" providerId="LiveId" clId="{A62D5C53-2774-4FE3-8307-3525D25D70A4}"/>
    <pc:docChg chg="undo custSel addSld delSld modSld sldOrd">
      <pc:chgData name="명준 송" userId="7e48128a0c33bc37" providerId="LiveId" clId="{A62D5C53-2774-4FE3-8307-3525D25D70A4}" dt="2026-06-02T06:45:31.280" v="199" actId="14100"/>
      <pc:docMkLst>
        <pc:docMk/>
      </pc:docMkLst>
      <pc:sldChg chg="addSp delSp modSp mod">
        <pc:chgData name="명준 송" userId="7e48128a0c33bc37" providerId="LiveId" clId="{A62D5C53-2774-4FE3-8307-3525D25D70A4}" dt="2026-06-02T06:42:50.779" v="140" actId="1076"/>
        <pc:sldMkLst>
          <pc:docMk/>
          <pc:sldMk cId="0" sldId="260"/>
        </pc:sldMkLst>
        <pc:spChg chg="ord">
          <ac:chgData name="명준 송" userId="7e48128a0c33bc37" providerId="LiveId" clId="{A62D5C53-2774-4FE3-8307-3525D25D70A4}" dt="2026-06-02T06:42:42.547" v="139" actId="167"/>
          <ac:spMkLst>
            <pc:docMk/>
            <pc:sldMk cId="0" sldId="260"/>
            <ac:spMk id="2" creationId="{00000000-0000-0000-0000-000000000000}"/>
          </ac:spMkLst>
        </pc:spChg>
        <pc:spChg chg="mod">
          <ac:chgData name="명준 송" userId="7e48128a0c33bc37" providerId="LiveId" clId="{A62D5C53-2774-4FE3-8307-3525D25D70A4}" dt="2026-06-02T04:52:59.349" v="99" actId="20577"/>
          <ac:spMkLst>
            <pc:docMk/>
            <pc:sldMk cId="0" sldId="260"/>
            <ac:spMk id="7" creationId="{00000000-0000-0000-0000-000000000000}"/>
          </ac:spMkLst>
        </pc:spChg>
        <pc:spChg chg="del mod">
          <ac:chgData name="명준 송" userId="7e48128a0c33bc37" providerId="LiveId" clId="{A62D5C53-2774-4FE3-8307-3525D25D70A4}" dt="2026-06-02T06:42:12.677" v="129" actId="478"/>
          <ac:spMkLst>
            <pc:docMk/>
            <pc:sldMk cId="0" sldId="260"/>
            <ac:spMk id="10" creationId="{00000000-0000-0000-0000-000000000000}"/>
          </ac:spMkLst>
        </pc:spChg>
        <pc:spChg chg="mod">
          <ac:chgData name="명준 송" userId="7e48128a0c33bc37" providerId="LiveId" clId="{A62D5C53-2774-4FE3-8307-3525D25D70A4}" dt="2026-06-02T06:42:50.779" v="140" actId="1076"/>
          <ac:spMkLst>
            <pc:docMk/>
            <pc:sldMk cId="0" sldId="260"/>
            <ac:spMk id="11" creationId="{00000000-0000-0000-0000-000000000000}"/>
          </ac:spMkLst>
        </pc:spChg>
        <pc:picChg chg="del">
          <ac:chgData name="명준 송" userId="7e48128a0c33bc37" providerId="LiveId" clId="{A62D5C53-2774-4FE3-8307-3525D25D70A4}" dt="2026-06-02T06:42:09.602" v="128" actId="478"/>
          <ac:picMkLst>
            <pc:docMk/>
            <pc:sldMk cId="0" sldId="260"/>
            <ac:picMk id="8" creationId="{00000000-0000-0000-0000-000000000000}"/>
          </ac:picMkLst>
        </pc:picChg>
        <pc:picChg chg="mod ord">
          <ac:chgData name="명준 송" userId="7e48128a0c33bc37" providerId="LiveId" clId="{A62D5C53-2774-4FE3-8307-3525D25D70A4}" dt="2026-06-02T06:42:36.974" v="137" actId="167"/>
          <ac:picMkLst>
            <pc:docMk/>
            <pc:sldMk cId="0" sldId="260"/>
            <ac:picMk id="9" creationId="{00000000-0000-0000-0000-000000000000}"/>
          </ac:picMkLst>
        </pc:picChg>
        <pc:picChg chg="add del mod ord">
          <ac:chgData name="명준 송" userId="7e48128a0c33bc37" providerId="LiveId" clId="{A62D5C53-2774-4FE3-8307-3525D25D70A4}" dt="2026-06-02T06:42:39.864" v="138" actId="478"/>
          <ac:picMkLst>
            <pc:docMk/>
            <pc:sldMk cId="0" sldId="260"/>
            <ac:picMk id="12" creationId="{DFC7A975-07E4-59CB-5AD9-6929EEB58CC7}"/>
          </ac:picMkLst>
        </pc:picChg>
      </pc:sldChg>
      <pc:sldChg chg="modSp mod">
        <pc:chgData name="명준 송" userId="7e48128a0c33bc37" providerId="LiveId" clId="{A62D5C53-2774-4FE3-8307-3525D25D70A4}" dt="2026-06-02T04:50:59.725" v="66" actId="20577"/>
        <pc:sldMkLst>
          <pc:docMk/>
          <pc:sldMk cId="0" sldId="264"/>
        </pc:sldMkLst>
        <pc:spChg chg="mod">
          <ac:chgData name="명준 송" userId="7e48128a0c33bc37" providerId="LiveId" clId="{A62D5C53-2774-4FE3-8307-3525D25D70A4}" dt="2026-06-02T04:50:59.725" v="66" actId="20577"/>
          <ac:spMkLst>
            <pc:docMk/>
            <pc:sldMk cId="0" sldId="264"/>
            <ac:spMk id="4" creationId="{00000000-0000-0000-0000-000000000000}"/>
          </ac:spMkLst>
        </pc:spChg>
        <pc:picChg chg="mod">
          <ac:chgData name="명준 송" userId="7e48128a0c33bc37" providerId="LiveId" clId="{A62D5C53-2774-4FE3-8307-3525D25D70A4}" dt="2026-06-02T04:46:40.931" v="12" actId="14826"/>
          <ac:picMkLst>
            <pc:docMk/>
            <pc:sldMk cId="0" sldId="264"/>
            <ac:picMk id="7" creationId="{00000000-0000-0000-0000-000000000000}"/>
          </ac:picMkLst>
        </pc:picChg>
      </pc:sldChg>
      <pc:sldChg chg="modSp mod">
        <pc:chgData name="명준 송" userId="7e48128a0c33bc37" providerId="LiveId" clId="{A62D5C53-2774-4FE3-8307-3525D25D70A4}" dt="2026-06-02T04:50:17.366" v="34" actId="20577"/>
        <pc:sldMkLst>
          <pc:docMk/>
          <pc:sldMk cId="0" sldId="265"/>
        </pc:sldMkLst>
        <pc:spChg chg="mod">
          <ac:chgData name="명준 송" userId="7e48128a0c33bc37" providerId="LiveId" clId="{A62D5C53-2774-4FE3-8307-3525D25D70A4}" dt="2026-06-02T04:50:17.366" v="34" actId="20577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명준 송" userId="7e48128a0c33bc37" providerId="LiveId" clId="{A62D5C53-2774-4FE3-8307-3525D25D70A4}" dt="2026-06-02T04:50:22.620" v="38" actId="20577"/>
        <pc:sldMkLst>
          <pc:docMk/>
          <pc:sldMk cId="0" sldId="266"/>
        </pc:sldMkLst>
        <pc:spChg chg="mod">
          <ac:chgData name="명준 송" userId="7e48128a0c33bc37" providerId="LiveId" clId="{A62D5C53-2774-4FE3-8307-3525D25D70A4}" dt="2026-06-02T04:50:22.620" v="38" actId="20577"/>
          <ac:spMkLst>
            <pc:docMk/>
            <pc:sldMk cId="0" sldId="266"/>
            <ac:spMk id="4" creationId="{00000000-0000-0000-0000-000000000000}"/>
          </ac:spMkLst>
        </pc:spChg>
      </pc:sldChg>
      <pc:sldChg chg="addSp delSp modSp mod">
        <pc:chgData name="명준 송" userId="7e48128a0c33bc37" providerId="LiveId" clId="{A62D5C53-2774-4FE3-8307-3525D25D70A4}" dt="2026-06-02T06:45:31.280" v="199" actId="14100"/>
        <pc:sldMkLst>
          <pc:docMk/>
          <pc:sldMk cId="0" sldId="267"/>
        </pc:sldMkLst>
        <pc:spChg chg="mod">
          <ac:chgData name="명준 송" userId="7e48128a0c33bc37" providerId="LiveId" clId="{A62D5C53-2774-4FE3-8307-3525D25D70A4}" dt="2026-06-02T04:50:26.471" v="40" actId="20577"/>
          <ac:spMkLst>
            <pc:docMk/>
            <pc:sldMk cId="0" sldId="267"/>
            <ac:spMk id="4" creationId="{00000000-0000-0000-0000-000000000000}"/>
          </ac:spMkLst>
        </pc:spChg>
        <pc:spChg chg="mod">
          <ac:chgData name="명준 송" userId="7e48128a0c33bc37" providerId="LiveId" clId="{A62D5C53-2774-4FE3-8307-3525D25D70A4}" dt="2026-06-02T04:18:34.892" v="11" actId="20577"/>
          <ac:spMkLst>
            <pc:docMk/>
            <pc:sldMk cId="0" sldId="267"/>
            <ac:spMk id="5" creationId="{00000000-0000-0000-0000-000000000000}"/>
          </ac:spMkLst>
        </pc:spChg>
        <pc:picChg chg="mod">
          <ac:chgData name="명준 송" userId="7e48128a0c33bc37" providerId="LiveId" clId="{A62D5C53-2774-4FE3-8307-3525D25D70A4}" dt="2026-06-02T06:45:31.280" v="199" actId="14100"/>
          <ac:picMkLst>
            <pc:docMk/>
            <pc:sldMk cId="0" sldId="267"/>
            <ac:picMk id="7" creationId="{00000000-0000-0000-0000-000000000000}"/>
          </ac:picMkLst>
        </pc:picChg>
        <pc:picChg chg="add del mod">
          <ac:chgData name="명준 송" userId="7e48128a0c33bc37" providerId="LiveId" clId="{A62D5C53-2774-4FE3-8307-3525D25D70A4}" dt="2026-06-02T06:43:10.681" v="142" actId="478"/>
          <ac:picMkLst>
            <pc:docMk/>
            <pc:sldMk cId="0" sldId="267"/>
            <ac:picMk id="26" creationId="{30383C1C-7B24-148C-3724-379698AD630C}"/>
          </ac:picMkLst>
        </pc:picChg>
      </pc:sldChg>
      <pc:sldChg chg="modSp mod">
        <pc:chgData name="명준 송" userId="7e48128a0c33bc37" providerId="LiveId" clId="{A62D5C53-2774-4FE3-8307-3525D25D70A4}" dt="2026-06-02T04:50:31.168" v="42" actId="20577"/>
        <pc:sldMkLst>
          <pc:docMk/>
          <pc:sldMk cId="0" sldId="270"/>
        </pc:sldMkLst>
        <pc:spChg chg="mod">
          <ac:chgData name="명준 송" userId="7e48128a0c33bc37" providerId="LiveId" clId="{A62D5C53-2774-4FE3-8307-3525D25D70A4}" dt="2026-06-02T04:50:31.168" v="42" actId="20577"/>
          <ac:spMkLst>
            <pc:docMk/>
            <pc:sldMk cId="0" sldId="270"/>
            <ac:spMk id="4" creationId="{00000000-0000-0000-0000-000000000000}"/>
          </ac:spMkLst>
        </pc:spChg>
      </pc:sldChg>
      <pc:sldChg chg="modSp mod">
        <pc:chgData name="명준 송" userId="7e48128a0c33bc37" providerId="LiveId" clId="{A62D5C53-2774-4FE3-8307-3525D25D70A4}" dt="2026-06-02T04:50:35.734" v="44" actId="20577"/>
        <pc:sldMkLst>
          <pc:docMk/>
          <pc:sldMk cId="0" sldId="271"/>
        </pc:sldMkLst>
        <pc:spChg chg="mod">
          <ac:chgData name="명준 송" userId="7e48128a0c33bc37" providerId="LiveId" clId="{A62D5C53-2774-4FE3-8307-3525D25D70A4}" dt="2026-06-02T04:50:35.734" v="44" actId="20577"/>
          <ac:spMkLst>
            <pc:docMk/>
            <pc:sldMk cId="0" sldId="271"/>
            <ac:spMk id="4" creationId="{00000000-0000-0000-0000-000000000000}"/>
          </ac:spMkLst>
        </pc:spChg>
      </pc:sldChg>
      <pc:sldChg chg="add del">
        <pc:chgData name="명준 송" userId="7e48128a0c33bc37" providerId="LiveId" clId="{A62D5C53-2774-4FE3-8307-3525D25D70A4}" dt="2026-06-02T04:49:44.333" v="24" actId="2696"/>
        <pc:sldMkLst>
          <pc:docMk/>
          <pc:sldMk cId="0" sldId="272"/>
        </pc:sldMkLst>
      </pc:sldChg>
      <pc:sldChg chg="modSp add mod">
        <pc:chgData name="명준 송" userId="7e48128a0c33bc37" providerId="LiveId" clId="{A62D5C53-2774-4FE3-8307-3525D25D70A4}" dt="2026-06-02T04:51:27.273" v="93" actId="1038"/>
        <pc:sldMkLst>
          <pc:docMk/>
          <pc:sldMk cId="259452641" sldId="272"/>
        </pc:sldMkLst>
        <pc:spChg chg="mod">
          <ac:chgData name="명준 송" userId="7e48128a0c33bc37" providerId="LiveId" clId="{A62D5C53-2774-4FE3-8307-3525D25D70A4}" dt="2026-06-02T04:51:27.273" v="93" actId="1038"/>
          <ac:spMkLst>
            <pc:docMk/>
            <pc:sldMk cId="259452641" sldId="272"/>
            <ac:spMk id="4" creationId="{00000000-0000-0000-0000-000000000000}"/>
          </ac:spMkLst>
        </pc:spChg>
      </pc:sldChg>
      <pc:sldChg chg="modSp add del">
        <pc:chgData name="명준 송" userId="7e48128a0c33bc37" providerId="LiveId" clId="{A62D5C53-2774-4FE3-8307-3525D25D70A4}" dt="2026-06-02T04:49:33.764" v="22"/>
        <pc:sldMkLst>
          <pc:docMk/>
          <pc:sldMk cId="2224600294" sldId="272"/>
        </pc:sldMkLst>
        <pc:spChg chg="mod">
          <ac:chgData name="명준 송" userId="7e48128a0c33bc37" providerId="LiveId" clId="{A62D5C53-2774-4FE3-8307-3525D25D70A4}" dt="2026-06-02T04:49:33.314" v="21"/>
          <ac:spMkLst>
            <pc:docMk/>
            <pc:sldMk cId="2224600294" sldId="272"/>
            <ac:spMk id="4" creationId="{00000000-0000-0000-0000-000000000000}"/>
          </ac:spMkLst>
        </pc:spChg>
      </pc:sldChg>
      <pc:sldChg chg="addSp delSp modSp add mod ord">
        <pc:chgData name="명준 송" userId="7e48128a0c33bc37" providerId="LiveId" clId="{A62D5C53-2774-4FE3-8307-3525D25D70A4}" dt="2026-06-02T06:42:01.326" v="127"/>
        <pc:sldMkLst>
          <pc:docMk/>
          <pc:sldMk cId="2915698829" sldId="273"/>
        </pc:sldMkLst>
        <pc:spChg chg="add del">
          <ac:chgData name="명준 송" userId="7e48128a0c33bc37" providerId="LiveId" clId="{A62D5C53-2774-4FE3-8307-3525D25D70A4}" dt="2026-06-02T06:40:55.799" v="116" actId="478"/>
          <ac:spMkLst>
            <pc:docMk/>
            <pc:sldMk cId="2915698829" sldId="273"/>
            <ac:spMk id="2" creationId="{BF397EA5-1872-B370-DB25-32B50A8D8FE1}"/>
          </ac:spMkLst>
        </pc:spChg>
        <pc:spChg chg="mod">
          <ac:chgData name="명준 송" userId="7e48128a0c33bc37" providerId="LiveId" clId="{A62D5C53-2774-4FE3-8307-3525D25D70A4}" dt="2026-06-02T06:41:53.500" v="125" actId="1076"/>
          <ac:spMkLst>
            <pc:docMk/>
            <pc:sldMk cId="2915698829" sldId="273"/>
            <ac:spMk id="10" creationId="{0454D848-26E8-4BB4-1567-8881515AF807}"/>
          </ac:spMkLst>
        </pc:spChg>
        <pc:spChg chg="del">
          <ac:chgData name="명준 송" userId="7e48128a0c33bc37" providerId="LiveId" clId="{A62D5C53-2774-4FE3-8307-3525D25D70A4}" dt="2026-06-02T06:40:58.777" v="117" actId="478"/>
          <ac:spMkLst>
            <pc:docMk/>
            <pc:sldMk cId="2915698829" sldId="273"/>
            <ac:spMk id="11" creationId="{ACE50294-DB77-8301-279B-8D28FF049471}"/>
          </ac:spMkLst>
        </pc:spChg>
        <pc:picChg chg="mod">
          <ac:chgData name="명준 송" userId="7e48128a0c33bc37" providerId="LiveId" clId="{A62D5C53-2774-4FE3-8307-3525D25D70A4}" dt="2026-06-02T06:41:49.313" v="124" actId="1076"/>
          <ac:picMkLst>
            <pc:docMk/>
            <pc:sldMk cId="2915698829" sldId="273"/>
            <ac:picMk id="8" creationId="{90D1D4DA-DC08-BA23-F418-AF8672584E8F}"/>
          </ac:picMkLst>
        </pc:picChg>
        <pc:picChg chg="del">
          <ac:chgData name="명준 송" userId="7e48128a0c33bc37" providerId="LiveId" clId="{A62D5C53-2774-4FE3-8307-3525D25D70A4}" dt="2026-06-02T06:40:52.706" v="114" actId="478"/>
          <ac:picMkLst>
            <pc:docMk/>
            <pc:sldMk cId="2915698829" sldId="273"/>
            <ac:picMk id="9" creationId="{B513AD06-BCD0-AC2F-2F42-F5D0600E1879}"/>
          </ac:picMkLst>
        </pc:picChg>
      </pc:sldChg>
      <pc:sldChg chg="addSp delSp modSp add mod">
        <pc:chgData name="명준 송" userId="7e48128a0c33bc37" providerId="LiveId" clId="{A62D5C53-2774-4FE3-8307-3525D25D70A4}" dt="2026-06-02T06:45:14.349" v="197" actId="14100"/>
        <pc:sldMkLst>
          <pc:docMk/>
          <pc:sldMk cId="3664251528" sldId="274"/>
        </pc:sldMkLst>
        <pc:spChg chg="ord">
          <ac:chgData name="명준 송" userId="7e48128a0c33bc37" providerId="LiveId" clId="{A62D5C53-2774-4FE3-8307-3525D25D70A4}" dt="2026-06-02T06:43:54.238" v="155" actId="167"/>
          <ac:spMkLst>
            <pc:docMk/>
            <pc:sldMk cId="3664251528" sldId="274"/>
            <ac:spMk id="2" creationId="{1A874857-639F-A25B-B9A3-F7313AAADCB3}"/>
          </ac:spMkLst>
        </pc:spChg>
        <pc:picChg chg="del">
          <ac:chgData name="명준 송" userId="7e48128a0c33bc37" providerId="LiveId" clId="{A62D5C53-2774-4FE3-8307-3525D25D70A4}" dt="2026-06-02T06:43:11.810" v="143" actId="478"/>
          <ac:picMkLst>
            <pc:docMk/>
            <pc:sldMk cId="3664251528" sldId="274"/>
            <ac:picMk id="7" creationId="{EDD6A5AA-008B-DFDE-37F0-599C23140361}"/>
          </ac:picMkLst>
        </pc:picChg>
        <pc:picChg chg="mod ord modCrop">
          <ac:chgData name="명준 송" userId="7e48128a0c33bc37" providerId="LiveId" clId="{A62D5C53-2774-4FE3-8307-3525D25D70A4}" dt="2026-06-02T06:45:14.349" v="197" actId="14100"/>
          <ac:picMkLst>
            <pc:docMk/>
            <pc:sldMk cId="3664251528" sldId="274"/>
            <ac:picMk id="26" creationId="{759BF991-44F8-A0D7-4B29-4FACD970058E}"/>
          </ac:picMkLst>
        </pc:picChg>
        <pc:picChg chg="add del mod ord">
          <ac:chgData name="명준 송" userId="7e48128a0c33bc37" providerId="LiveId" clId="{A62D5C53-2774-4FE3-8307-3525D25D70A4}" dt="2026-06-02T06:43:50.886" v="154" actId="478"/>
          <ac:picMkLst>
            <pc:docMk/>
            <pc:sldMk cId="3664251528" sldId="274"/>
            <ac:picMk id="27" creationId="{113D4D48-F01A-628B-1154-7821AB61BED5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3B3B"/>
                </a:solidFill>
                <a:latin typeface="Consolas"/>
              </a:rPr>
              <a:t>// YOUTUBE CHANNEL ANALYZER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1069848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000" b="1">
                <a:solidFill>
                  <a:srgbClr val="F2F2F2"/>
                </a:solidFill>
                <a:latin typeface="Segoe UI"/>
              </a:rPr>
              <a:t>Subscription </a:t>
            </a:r>
            <a:r>
              <a:rPr sz="5000" b="1">
                <a:solidFill>
                  <a:srgbClr val="FF3B3B"/>
                </a:solidFill>
                <a:latin typeface="Segoe UI"/>
              </a:rPr>
              <a:t>Interest Analyzer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29000"/>
            <a:ext cx="1024128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9A9AA2"/>
                </a:solidFill>
                <a:latin typeface="Segoe UI"/>
              </a:rPr>
              <a:t>Connect your Google account via OAuth and turn subscribed channels into an </a:t>
            </a:r>
            <a:r>
              <a:rPr sz="1700" b="1">
                <a:solidFill>
                  <a:srgbClr val="F2F2F2"/>
                </a:solidFill>
                <a:latin typeface="Segoe UI"/>
              </a:rPr>
              <a:t>Interest Score (0–100)</a:t>
            </a:r>
            <a:r>
              <a:rPr sz="1700" b="0">
                <a:solidFill>
                  <a:srgbClr val="9A9AA2"/>
                </a:solidFill>
                <a:latin typeface="Segoe UI"/>
              </a:rPr>
              <a:t>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9A9AA2"/>
                </a:solidFill>
                <a:latin typeface="Segoe UI"/>
              </a:rPr>
              <a:t>then let </a:t>
            </a:r>
            <a:r>
              <a:rPr sz="1700" b="1">
                <a:solidFill>
                  <a:srgbClr val="F2F2F2"/>
                </a:solidFill>
                <a:latin typeface="Segoe UI"/>
              </a:rPr>
              <a:t>Solar LLM</a:t>
            </a:r>
            <a:r>
              <a:rPr sz="1700" b="0">
                <a:solidFill>
                  <a:srgbClr val="9A9AA2"/>
                </a:solidFill>
                <a:latin typeface="Segoe UI"/>
              </a:rPr>
              <a:t> interpret your taste — persona, subscription cleanup, and new-channel recommendation.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983480"/>
            <a:ext cx="740664" cy="420624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3A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4983480"/>
            <a:ext cx="740664" cy="42062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2F2F2"/>
                </a:solidFill>
                <a:latin typeface="Consolas"/>
              </a:rPr>
              <a:t>Flask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28216" y="4983480"/>
            <a:ext cx="1161288" cy="420624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3A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728216" y="4983480"/>
            <a:ext cx="1161288" cy="42062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2F2F2"/>
                </a:solidFill>
                <a:latin typeface="Consolas"/>
              </a:rPr>
              <a:t>Vanilla JS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54096" y="4983480"/>
            <a:ext cx="1834286" cy="420624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3A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054096" y="4983480"/>
            <a:ext cx="1834286" cy="42062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2F2F2"/>
                </a:solidFill>
                <a:latin typeface="Consolas"/>
              </a:rPr>
              <a:t>Google OAuth (GIS)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52974" y="4983480"/>
            <a:ext cx="1918411" cy="420624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3A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52974" y="4983480"/>
            <a:ext cx="1918411" cy="42062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2F2F2"/>
                </a:solidFill>
                <a:latin typeface="Consolas"/>
              </a:rPr>
              <a:t>YouTube Data API v3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5977" y="4983480"/>
            <a:ext cx="1750161" cy="420624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3A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135977" y="4983480"/>
            <a:ext cx="1750161" cy="42062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2F2F2"/>
                </a:solidFill>
                <a:latin typeface="Consolas"/>
              </a:rPr>
              <a:t>Upstage Solar LLM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6A6A72"/>
                </a:solidFill>
                <a:latin typeface="Consolas"/>
              </a:rPr>
              <a:t>Algorithm Course — Team Project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01 ·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Segoe UI"/>
              </a:rPr>
              <a:t>Where this project started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02920" y="1463040"/>
            <a:ext cx="5486400" cy="484632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691640"/>
            <a:ext cx="50292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3B3B"/>
                </a:solidFill>
                <a:latin typeface="Segoe UI"/>
              </a:rPr>
              <a:t>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40280"/>
            <a:ext cx="4983480" cy="3840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2F2F2"/>
                </a:solidFill>
                <a:latin typeface="Segoe UI"/>
              </a:rPr>
              <a:t>• Subscriptions pile up to dozens or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9A9AA2"/>
                </a:solidFill>
                <a:latin typeface="Segoe UI"/>
              </a:rPr>
              <a:t>  hundreds, yet it's hard to tell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9A9AA2"/>
                </a:solidFill>
                <a:latin typeface="Segoe UI"/>
              </a:rPr>
              <a:t>  which channels you actually watch.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endParaRPr sz="1500" b="0">
              <a:solidFill>
                <a:srgbClr val="9A9AA2"/>
              </a:solidFill>
              <a:latin typeface="Segoe UI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2F2F2"/>
                </a:solidFill>
                <a:latin typeface="Segoe UI"/>
              </a:rPr>
              <a:t>• "Subscribed for years but never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9A9AA2"/>
                </a:solidFill>
                <a:latin typeface="Segoe UI"/>
              </a:rPr>
              <a:t>  watch" — dormant channels clutter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9A9AA2"/>
                </a:solidFill>
                <a:latin typeface="Segoe UI"/>
              </a:rPr>
              <a:t>  the whole list.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endParaRPr sz="1500" b="0">
              <a:solidFill>
                <a:srgbClr val="9A9AA2"/>
              </a:solidFill>
              <a:latin typeface="Segoe UI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2F2F2"/>
                </a:solidFill>
                <a:latin typeface="Segoe UI"/>
              </a:rPr>
              <a:t>• YouTube offers no API for your full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9A9AA2"/>
                </a:solidFill>
                <a:latin typeface="Segoe UI"/>
              </a:rPr>
              <a:t>  comment / watch history </a:t>
            </a:r>
            <a:r>
              <a:rPr sz="1300" b="0">
                <a:solidFill>
                  <a:srgbClr val="6A6A72"/>
                </a:solidFill>
                <a:latin typeface="Segoe UI"/>
              </a:rPr>
              <a:t>(removed 2016).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463040"/>
            <a:ext cx="5486400" cy="484632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3952" y="1691640"/>
            <a:ext cx="50292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ECC71"/>
                </a:solidFill>
                <a:latin typeface="Segoe UI"/>
              </a:rPr>
              <a:t>Our Solution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2240280"/>
            <a:ext cx="4983480" cy="3840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2F2F2"/>
                </a:solidFill>
                <a:latin typeface="Segoe UI"/>
              </a:rPr>
              <a:t>✓ Weight &amp; sum comments, likes, watch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9A9AA2"/>
                </a:solidFill>
                <a:latin typeface="Segoe UI"/>
              </a:rPr>
              <a:t>   count, sub age → </a:t>
            </a:r>
            <a:r>
              <a:rPr sz="1500" b="1">
                <a:solidFill>
                  <a:srgbClr val="F2F2F2"/>
                </a:solidFill>
                <a:latin typeface="Segoe UI"/>
              </a:rPr>
              <a:t>Interest Score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endParaRPr sz="1500" b="1">
              <a:solidFill>
                <a:srgbClr val="F2F2F2"/>
              </a:solidFill>
              <a:latin typeface="Segoe UI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2F2F2"/>
                </a:solidFill>
                <a:latin typeface="Segoe UI"/>
              </a:rPr>
              <a:t>✓ </a:t>
            </a:r>
            <a:r>
              <a:rPr sz="1500" b="1">
                <a:solidFill>
                  <a:srgbClr val="FF3B3B"/>
                </a:solidFill>
                <a:latin typeface="Segoe UI"/>
              </a:rPr>
              <a:t>Zero activity → instant 0 points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endParaRPr sz="1500" b="1">
              <a:solidFill>
                <a:srgbClr val="FF3B3B"/>
              </a:solidFill>
              <a:latin typeface="Segoe UI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2F2F2"/>
                </a:solidFill>
                <a:latin typeface="Segoe UI"/>
              </a:rPr>
              <a:t>✓ Auto-classify into 4 groups 🔥 😊 👋 🌱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endParaRPr sz="1500" b="0">
              <a:solidFill>
                <a:srgbClr val="F2F2F2"/>
              </a:solidFill>
              <a:latin typeface="Segoe UI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2F2F2"/>
                </a:solidFill>
                <a:latin typeface="Segoe UI"/>
              </a:rPr>
              <a:t>✓ Boost accuracy with real </a:t>
            </a:r>
            <a:r>
              <a:rPr sz="1500" b="1">
                <a:solidFill>
                  <a:srgbClr val="F2F2F2"/>
                </a:solidFill>
                <a:latin typeface="Segoe UI"/>
              </a:rPr>
              <a:t>watch history</a:t>
            </a:r>
            <a:r>
              <a:rPr sz="1500" b="0">
                <a:solidFill>
                  <a:srgbClr val="9A9AA2"/>
                </a:solidFill>
                <a:latin typeface="Segoe UI"/>
              </a:rPr>
              <a:t> (Takeout)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endParaRPr sz="1500" b="0">
              <a:solidFill>
                <a:srgbClr val="9A9AA2"/>
              </a:solidFill>
              <a:latin typeface="Segoe UI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2F2F2"/>
                </a:solidFill>
                <a:latin typeface="Segoe UI"/>
              </a:rPr>
              <a:t>✓ Solar LLM interprets taste &amp; recommends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02 ·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Segoe UI"/>
              </a:rPr>
              <a:t>Core features at a glance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02920" y="1554480"/>
            <a:ext cx="3611880" cy="224028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755648"/>
            <a:ext cx="32004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F2F2F2"/>
                </a:solidFill>
                <a:latin typeface="Segoe UI"/>
              </a:rPr>
              <a:t>📊  </a:t>
            </a:r>
            <a:r>
              <a:rPr sz="1600" b="1">
                <a:solidFill>
                  <a:srgbClr val="FF3B3B"/>
                </a:solidFill>
                <a:latin typeface="Segoe UI"/>
              </a:rPr>
              <a:t>Interest Scoring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68880"/>
            <a:ext cx="320040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Weight &amp; sum comments, likes,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watch &amp; sub age into 0–100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9392" y="1554480"/>
            <a:ext cx="3611880" cy="224028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07992" y="1755648"/>
            <a:ext cx="32004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F2F2F2"/>
                </a:solidFill>
                <a:latin typeface="Segoe UI"/>
              </a:rPr>
              <a:t>🗂️  </a:t>
            </a:r>
            <a:r>
              <a:rPr sz="1600" b="1">
                <a:solidFill>
                  <a:srgbClr val="FF3B3B"/>
                </a:solidFill>
                <a:latin typeface="Segoe UI"/>
              </a:rPr>
              <a:t>4-Group Classification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7992" y="2468880"/>
            <a:ext cx="320040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🔥 Top / 😊 Often / 👋 Sometimes /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🌱 Subscribed-only via binary search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5864" y="1554480"/>
            <a:ext cx="3611880" cy="224028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84464" y="1755648"/>
            <a:ext cx="32004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F2F2F2"/>
                </a:solidFill>
                <a:latin typeface="Segoe UI"/>
              </a:rPr>
              <a:t>📥  </a:t>
            </a:r>
            <a:r>
              <a:rPr sz="1600" b="1">
                <a:solidFill>
                  <a:srgbClr val="FF3B3B"/>
                </a:solidFill>
                <a:latin typeface="Segoe UI"/>
              </a:rPr>
              <a:t>Takeout Hybrid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4464" y="2468880"/>
            <a:ext cx="320040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Exact comments &amp; watch history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from comments.csv / watch-history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995928"/>
            <a:ext cx="3611880" cy="224028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520" y="4197096"/>
            <a:ext cx="32004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F2F2F2"/>
                </a:solidFill>
                <a:latin typeface="Segoe UI"/>
              </a:rPr>
              <a:t>🧬  </a:t>
            </a:r>
            <a:r>
              <a:rPr sz="1600" b="1">
                <a:solidFill>
                  <a:srgbClr val="FF3B3B"/>
                </a:solidFill>
                <a:latin typeface="Segoe UI"/>
              </a:rPr>
              <a:t>Viewing-Taste Persona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910328"/>
            <a:ext cx="320040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Solar LLM turns your channel mix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into one taste report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79392" y="3995928"/>
            <a:ext cx="3611880" cy="224028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07992" y="4197096"/>
            <a:ext cx="32004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F2F2F2"/>
                </a:solidFill>
                <a:latin typeface="Segoe UI"/>
              </a:rPr>
              <a:t>🧹  </a:t>
            </a:r>
            <a:r>
              <a:rPr sz="1600" b="1">
                <a:solidFill>
                  <a:srgbClr val="FF3B3B"/>
                </a:solidFill>
                <a:latin typeface="Segoe UI"/>
              </a:rPr>
              <a:t>Cleanup Coach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7992" y="4910328"/>
            <a:ext cx="320040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LLM suggests drop/keep for dormant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&amp; low-interest channels, with reasons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55864" y="3995928"/>
            <a:ext cx="3611880" cy="224028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84464" y="4197096"/>
            <a:ext cx="32004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F2F2F2"/>
                </a:solidFill>
                <a:latin typeface="Segoe UI"/>
              </a:rPr>
              <a:t>✨  </a:t>
            </a:r>
            <a:r>
              <a:rPr sz="1600" b="1">
                <a:solidFill>
                  <a:srgbClr val="FF3B3B"/>
                </a:solidFill>
                <a:latin typeface="Segoe UI"/>
              </a:rPr>
              <a:t>New Channel Recommend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4464" y="4910328"/>
            <a:ext cx="320040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Reverse-trace interest videos to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surface 10 real, existing channels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03 ·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Segoe UI"/>
              </a:rPr>
              <a:t>System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3611880" cy="329184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3611880" cy="566928"/>
          </a:xfrm>
          <a:prstGeom prst="roundRect">
            <a:avLst/>
          </a:prstGeom>
          <a:solidFill>
            <a:srgbClr val="20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600200"/>
            <a:ext cx="361188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2F2F2"/>
                </a:solidFill>
                <a:latin typeface="Segoe UI"/>
              </a:rPr>
              <a:t>Browser (Vanilla JS)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377440"/>
            <a:ext cx="3154680" cy="23774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• GIS token client (OAuth)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• Direct YouTube Data API calls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• Takeout file parsing (JS)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• Render · filter · summary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96512" y="2926080"/>
            <a:ext cx="201168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F3B3B"/>
                </a:solidFill>
                <a:latin typeface="Segoe U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79392" y="1600200"/>
            <a:ext cx="3611880" cy="329184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279392" y="1600200"/>
            <a:ext cx="3611880" cy="566928"/>
          </a:xfrm>
          <a:prstGeom prst="roundRect">
            <a:avLst/>
          </a:prstGeom>
          <a:solidFill>
            <a:srgbClr val="20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79392" y="1600200"/>
            <a:ext cx="361188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3B3B"/>
                </a:solidFill>
                <a:latin typeface="Segoe UI"/>
              </a:rPr>
              <a:t>Flask Server (app.py)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2377440"/>
            <a:ext cx="3154680" cy="23774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• /api/analyze — score·sort·group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• LRU cache (input-dependent key)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• Heap Sort · Binary Search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• 7 LLM proxy endpoints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72984" y="2926080"/>
            <a:ext cx="201168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F3B3B"/>
                </a:solidFill>
                <a:latin typeface="Segoe U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5864" y="1600200"/>
            <a:ext cx="3611880" cy="329184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055864" y="1600200"/>
            <a:ext cx="3611880" cy="566928"/>
          </a:xfrm>
          <a:prstGeom prst="roundRect">
            <a:avLst/>
          </a:prstGeom>
          <a:solidFill>
            <a:srgbClr val="20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55864" y="1600200"/>
            <a:ext cx="361188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ECC71"/>
                </a:solidFill>
                <a:latin typeface="Segoe UI"/>
              </a:rPr>
              <a:t>External Services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11896" y="2377440"/>
            <a:ext cx="3154680" cy="23774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• YouTube Data API v3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  subscriptions · videos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  search · commentThreads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• Upstage Solar (solar-pro2)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120640"/>
            <a:ext cx="11183112" cy="1143000"/>
          </a:xfrm>
          <a:prstGeom prst="roundRect">
            <a:avLst/>
          </a:prstGeom>
          <a:solidFill>
            <a:srgbClr val="1212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1520" y="5230368"/>
            <a:ext cx="107899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Data Flow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596128"/>
            <a:ext cx="1088136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OAuth login → collect subs·likes·comments → (optional) Takeout boost → </a:t>
            </a:r>
            <a:r>
              <a:rPr sz="1300" b="1">
                <a:solidFill>
                  <a:srgbClr val="F2F2F2"/>
                </a:solidFill>
                <a:latin typeface="Consolas"/>
              </a:rPr>
              <a:t>/api/analyze</a:t>
            </a:r>
            <a:r>
              <a:rPr sz="1300" b="0">
                <a:solidFill>
                  <a:srgbClr val="9A9AA2"/>
                </a:solidFill>
                <a:latin typeface="Segoe UI"/>
              </a:rPr>
              <a:t> scoring pipeline → group &amp; sort → render → </a:t>
            </a:r>
            <a:r>
              <a:rPr sz="1300" b="1">
                <a:solidFill>
                  <a:srgbClr val="2ECC71"/>
                </a:solidFill>
                <a:latin typeface="Segoe UI"/>
              </a:rPr>
              <a:t>AI Tools (LLM)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F4950-EDA6-0DBB-3892-1B0EB32C2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F397EA5-1872-B370-DB25-32B50A8D8FE1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6076F47-2E25-6110-F6D8-1737E8813701}"/>
              </a:ext>
            </a:extLst>
          </p:cNvPr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58CF80-C3A9-8966-D924-CFC22C0347FD}"/>
              </a:ext>
            </a:extLst>
          </p:cNvPr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04 · USER FLOW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EDFE66-A4C7-7C9D-EB57-CB715ADB8B20}"/>
              </a:ext>
            </a:extLst>
          </p:cNvPr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Segoe UI"/>
              </a:rPr>
              <a:t>User Flow — 4 Steps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117E5D1-C557-FB2E-EA74-0F0E4D7F00A1}"/>
              </a:ext>
            </a:extLst>
          </p:cNvPr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8CB4FC-7BA8-7843-AEB2-A9AE5025C3DA}"/>
              </a:ext>
            </a:extLst>
          </p:cNvPr>
          <p:cNvSpPr txBox="1"/>
          <p:nvPr/>
        </p:nvSpPr>
        <p:spPr>
          <a:xfrm>
            <a:off x="502920" y="1371600"/>
            <a:ext cx="11155680" cy="282129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dirty="0">
                <a:solidFill>
                  <a:srgbClr val="2ECC71"/>
                </a:solidFill>
                <a:latin typeface="Consolas"/>
              </a:rPr>
              <a:t>Google Login  →  Data Collection  →  Analysis Done</a:t>
            </a:r>
          </a:p>
        </p:txBody>
      </p:sp>
      <p:pic>
        <p:nvPicPr>
          <p:cNvPr id="8" name="Picture 7" descr="기본화면.png">
            <a:extLst>
              <a:ext uri="{FF2B5EF4-FFF2-40B4-BE49-F238E27FC236}">
                <a16:creationId xmlns:a16="http://schemas.microsoft.com/office/drawing/2014/main" id="{90D1D4DA-DC08-BA23-F418-AF8672584E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2681" y="1759966"/>
            <a:ext cx="7806637" cy="4139790"/>
          </a:xfrm>
          <a:prstGeom prst="rect">
            <a:avLst/>
          </a:prstGeom>
          <a:ln w="12700">
            <a:solidFill>
              <a:srgbClr val="33333A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454D848-26E8-4BB4-1567-8881515AF807}"/>
              </a:ext>
            </a:extLst>
          </p:cNvPr>
          <p:cNvSpPr txBox="1"/>
          <p:nvPr/>
        </p:nvSpPr>
        <p:spPr>
          <a:xfrm>
            <a:off x="3337560" y="6161840"/>
            <a:ext cx="5486400" cy="23596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dirty="0">
                <a:solidFill>
                  <a:srgbClr val="9A9AA2"/>
                </a:solidFill>
                <a:latin typeface="Segoe UI"/>
              </a:rPr>
              <a:t>① </a:t>
            </a:r>
            <a:r>
              <a:rPr lang="en-US" sz="1200" dirty="0">
                <a:solidFill>
                  <a:srgbClr val="9A9AA2"/>
                </a:solidFill>
                <a:latin typeface="Segoe UI"/>
              </a:rPr>
              <a:t>L</a:t>
            </a:r>
            <a:r>
              <a:rPr sz="1200" b="0" dirty="0">
                <a:solidFill>
                  <a:srgbClr val="9A9AA2"/>
                </a:solidFill>
                <a:latin typeface="Segoe UI"/>
              </a:rPr>
              <a:t>og in with Google (</a:t>
            </a:r>
            <a:r>
              <a:rPr sz="1200" b="0" dirty="0" err="1">
                <a:solidFill>
                  <a:srgbClr val="9A9AA2"/>
                </a:solidFill>
                <a:latin typeface="Segoe UI"/>
              </a:rPr>
              <a:t>youtube.readonly</a:t>
            </a:r>
            <a:r>
              <a:rPr sz="1200" b="0" dirty="0">
                <a:solidFill>
                  <a:srgbClr val="9A9AA2"/>
                </a:solidFill>
                <a:latin typeface="Segoe UI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156988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로그인 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7425" y="1759965"/>
            <a:ext cx="7736844" cy="4138811"/>
          </a:xfrm>
          <a:prstGeom prst="rect">
            <a:avLst/>
          </a:prstGeom>
          <a:ln w="12700">
            <a:solidFill>
              <a:srgbClr val="33333A"/>
            </a:solidFill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04 · USER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Segoe UI"/>
              </a:rPr>
              <a:t>User Flow — 4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282129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dirty="0">
                <a:solidFill>
                  <a:srgbClr val="2ECC71"/>
                </a:solidFill>
                <a:latin typeface="Consolas"/>
              </a:rPr>
              <a:t>Google Login  →  Data Collection  →  Analysis Done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6044182"/>
            <a:ext cx="5486400" cy="42062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dirty="0">
                <a:solidFill>
                  <a:srgbClr val="9A9AA2"/>
                </a:solidFill>
                <a:latin typeface="Segoe UI"/>
              </a:rPr>
              <a:t>② (Optional</a:t>
            </a:r>
            <a:r>
              <a:rPr lang="en-US" sz="1200" b="0" dirty="0">
                <a:solidFill>
                  <a:srgbClr val="9A9AA2"/>
                </a:solidFill>
                <a:latin typeface="Segoe UI"/>
              </a:rPr>
              <a:t>, Recommended</a:t>
            </a:r>
            <a:r>
              <a:rPr sz="1200" b="0" dirty="0">
                <a:solidFill>
                  <a:srgbClr val="9A9AA2"/>
                </a:solidFill>
                <a:latin typeface="Segoe UI"/>
              </a:rPr>
              <a:t>) Upload Takeout → exact comments &amp; watch history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05 · ALGORITHM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Segoe UI"/>
              </a:rPr>
              <a:t>Scoring — 5-Stage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2148840" cy="329184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280160" y="1965960"/>
            <a:ext cx="566928" cy="566928"/>
          </a:xfrm>
          <a:prstGeom prst="round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80160" y="1965960"/>
            <a:ext cx="566928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2F2F2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97480"/>
            <a:ext cx="214884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Weighted Activity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246120"/>
            <a:ext cx="187452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A9AA2"/>
                </a:solidFill>
                <a:latin typeface="Consolas"/>
              </a:rPr>
              <a:t>comments×5 + watch×3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A9AA2"/>
                </a:solidFill>
                <a:latin typeface="Consolas"/>
              </a:rPr>
              <a:t>+ likes×2 + sub bonus(+12)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434840"/>
            <a:ext cx="1783080" cy="411480"/>
          </a:xfrm>
          <a:prstGeom prst="roundRect">
            <a:avLst/>
          </a:prstGeom>
          <a:solidFill>
            <a:srgbClr val="2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4434840"/>
            <a:ext cx="1783080" cy="4114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F4A844"/>
                </a:solidFill>
                <a:latin typeface="Segoe UI"/>
              </a:rPr>
              <a:t>Zero activity → 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3108960"/>
            <a:ext cx="1828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15768" y="1783080"/>
            <a:ext cx="2148840" cy="329184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493008" y="1965960"/>
            <a:ext cx="566928" cy="566928"/>
          </a:xfrm>
          <a:prstGeom prst="round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93008" y="1965960"/>
            <a:ext cx="566928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2F2F2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15768" y="2697480"/>
            <a:ext cx="214884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Recency Decay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52928" y="3246120"/>
            <a:ext cx="187452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A9AA2"/>
                </a:solidFill>
                <a:latin typeface="Consolas"/>
              </a:rPr>
              <a:t>score × e^(−0.005·d)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A9AA2"/>
                </a:solidFill>
                <a:latin typeface="Consolas"/>
              </a:rPr>
              <a:t>d = days since last watch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98648" y="4434840"/>
            <a:ext cx="1783080" cy="411480"/>
          </a:xfrm>
          <a:prstGeom prst="roundRect">
            <a:avLst/>
          </a:prstGeom>
          <a:solidFill>
            <a:srgbClr val="2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898648" y="4434840"/>
            <a:ext cx="1783080" cy="4114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F4A844"/>
                </a:solidFill>
                <a:latin typeface="Segoe UI"/>
              </a:rPr>
              <a:t>Decay stale channels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18888" y="3108960"/>
            <a:ext cx="1828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28616" y="1783080"/>
            <a:ext cx="2148840" cy="329184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5705856" y="1965960"/>
            <a:ext cx="566928" cy="566928"/>
          </a:xfrm>
          <a:prstGeom prst="round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705856" y="1965960"/>
            <a:ext cx="566928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2F2F2"/>
                </a:solidFill>
                <a:latin typeface="Segoe U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28616" y="2697480"/>
            <a:ext cx="214884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Min-Max Normalize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65776" y="3246120"/>
            <a:ext cx="187452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A9AA2"/>
                </a:solidFill>
                <a:latin typeface="Consolas"/>
              </a:rPr>
              <a:t>(s−min)/(max−min)×100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A9AA2"/>
                </a:solidFill>
                <a:latin typeface="Consolas"/>
              </a:rPr>
              <a:t>→ 0–100 relative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11496" y="4434840"/>
            <a:ext cx="1783080" cy="411480"/>
          </a:xfrm>
          <a:prstGeom prst="roundRect">
            <a:avLst/>
          </a:prstGeom>
          <a:solidFill>
            <a:srgbClr val="2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111496" y="4434840"/>
            <a:ext cx="1783080" cy="4114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F4A844"/>
                </a:solidFill>
                <a:latin typeface="Segoe UI"/>
              </a:rPr>
              <a:t>Within-user compare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31736" y="3108960"/>
            <a:ext cx="1828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41464" y="1783080"/>
            <a:ext cx="2148840" cy="329184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7918704" y="1965960"/>
            <a:ext cx="566928" cy="566928"/>
          </a:xfrm>
          <a:prstGeom prst="round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918704" y="1965960"/>
            <a:ext cx="566928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2F2F2"/>
                </a:solidFill>
                <a:latin typeface="Segoe UI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41464" y="2697480"/>
            <a:ext cx="214884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Binary Search Group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78624" y="3246120"/>
            <a:ext cx="187452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A9AA2"/>
                </a:solidFill>
                <a:latin typeface="Consolas"/>
              </a:rPr>
              <a:t>boundaries [20·50·80]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A9AA2"/>
                </a:solidFill>
                <a:latin typeface="Consolas"/>
              </a:rPr>
              <a:t>→ 4 groups O(log k)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24344" y="4434840"/>
            <a:ext cx="1783080" cy="411480"/>
          </a:xfrm>
          <a:prstGeom prst="roundRect">
            <a:avLst/>
          </a:prstGeom>
          <a:solidFill>
            <a:srgbClr val="2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324344" y="4434840"/>
            <a:ext cx="1783080" cy="4114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F4A844"/>
                </a:solidFill>
                <a:latin typeface="Segoe UI"/>
              </a:rPr>
              <a:t>🔥 😊 👋 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44584" y="3108960"/>
            <a:ext cx="1828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354312" y="1783080"/>
            <a:ext cx="2148840" cy="329184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10131552" y="1965960"/>
            <a:ext cx="566928" cy="566928"/>
          </a:xfrm>
          <a:prstGeom prst="round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131552" y="1965960"/>
            <a:ext cx="566928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2F2F2"/>
                </a:solidFill>
                <a:latin typeface="Segoe UI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54312" y="2697480"/>
            <a:ext cx="214884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Heap Sort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91472" y="3246120"/>
            <a:ext cx="187452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A9AA2"/>
                </a:solidFill>
                <a:latin typeface="Consolas"/>
              </a:rPr>
              <a:t>custom max-heap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A9AA2"/>
                </a:solidFill>
                <a:latin typeface="Consolas"/>
              </a:rPr>
              <a:t>descending O(n log n)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537192" y="4434840"/>
            <a:ext cx="1783080" cy="411480"/>
          </a:xfrm>
          <a:prstGeom prst="roundRect">
            <a:avLst/>
          </a:prstGeom>
          <a:solidFill>
            <a:srgbClr val="2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537192" y="4434840"/>
            <a:ext cx="1783080" cy="4114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F4A844"/>
                </a:solidFill>
                <a:latin typeface="Segoe UI"/>
              </a:rPr>
              <a:t>Ranked output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02920" y="5257800"/>
            <a:ext cx="11183112" cy="960120"/>
          </a:xfrm>
          <a:prstGeom prst="roundRect">
            <a:avLst/>
          </a:prstGeom>
          <a:solidFill>
            <a:srgbClr val="1212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31520" y="5349240"/>
            <a:ext cx="10789920" cy="8229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ECC71"/>
                </a:solidFill>
                <a:latin typeface="Segoe UI"/>
              </a:rPr>
              <a:t>+ LRU Cache</a:t>
            </a:r>
            <a:r>
              <a:rPr sz="1200" b="0">
                <a:solidFill>
                  <a:srgbClr val="9A9AA2"/>
                </a:solidFill>
                <a:latin typeface="Consolas"/>
              </a:rPr>
              <a:t>  (OrderedDict, input-dependent key)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Cache key = (id, comments, likes, watchCount, subMonths, lastWatchDays) → auto-invalidates on input change; repeat calls hit instantly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05 · ALGORITHM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Segoe UI"/>
              </a:rPr>
              <a:t>Why "Zero Activity → 0 Points"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02920" y="1554480"/>
            <a:ext cx="5120640" cy="237744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91640"/>
            <a:ext cx="457200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Signal Weights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4173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Comments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2194560"/>
            <a:ext cx="91440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A844"/>
                </a:solidFill>
                <a:latin typeface="Consolas"/>
              </a:rPr>
              <a:t>×5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2194560"/>
            <a:ext cx="24688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A9AA2"/>
                </a:solidFill>
                <a:latin typeface="Segoe UI"/>
              </a:rPr>
              <a:t>Writing = most active engagement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606040"/>
            <a:ext cx="14173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Watch count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2606040"/>
            <a:ext cx="91440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A844"/>
                </a:solidFill>
                <a:latin typeface="Consolas"/>
              </a:rPr>
              <a:t>×3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2606040"/>
            <a:ext cx="24688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A9AA2"/>
                </a:solidFill>
                <a:latin typeface="Segoe UI"/>
              </a:rPr>
              <a:t>Real watching = strong preference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017520"/>
            <a:ext cx="14173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Likes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3017520"/>
            <a:ext cx="91440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A844"/>
                </a:solidFill>
                <a:latin typeface="Consolas"/>
              </a:rPr>
              <a:t>×2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240" y="3017520"/>
            <a:ext cx="24688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A9AA2"/>
                </a:solidFill>
                <a:latin typeface="Segoe UI"/>
              </a:rPr>
              <a:t>One click, medium signal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429000"/>
            <a:ext cx="14173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Long sub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3429000"/>
            <a:ext cx="91440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A844"/>
                </a:solidFill>
                <a:latin typeface="Consolas"/>
              </a:rPr>
              <a:t>+0.5/mo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3429000"/>
            <a:ext cx="24688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A9AA2"/>
                </a:solidFill>
                <a:latin typeface="Segoe UI"/>
              </a:rPr>
              <a:t>Only if active, 2yr cap (+12)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069080"/>
            <a:ext cx="5120640" cy="219456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1520" y="4206240"/>
            <a:ext cx="457200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Recency Decay  </a:t>
            </a:r>
            <a:r>
              <a:rPr sz="1300" b="0">
                <a:solidFill>
                  <a:srgbClr val="9A9AA2"/>
                </a:solidFill>
                <a:latin typeface="Consolas"/>
              </a:rPr>
              <a:t>e^(−0.005·d)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4709160"/>
            <a:ext cx="914400" cy="128016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77240" y="4846320"/>
            <a:ext cx="914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7d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57800"/>
            <a:ext cx="9144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2F2F2"/>
                </a:solidFill>
                <a:latin typeface="Consolas"/>
              </a:rPr>
              <a:t>0.97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764792" y="4709160"/>
            <a:ext cx="914400" cy="128016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764792" y="4846320"/>
            <a:ext cx="914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30d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64792" y="5257800"/>
            <a:ext cx="9144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2F2F2"/>
                </a:solidFill>
                <a:latin typeface="Consolas"/>
              </a:rPr>
              <a:t>0.86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752344" y="4709160"/>
            <a:ext cx="914400" cy="128016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752344" y="4846320"/>
            <a:ext cx="914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90d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52344" y="5257800"/>
            <a:ext cx="9144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2F2F2"/>
                </a:solidFill>
                <a:latin typeface="Consolas"/>
              </a:rPr>
              <a:t>0.64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739896" y="4709160"/>
            <a:ext cx="914400" cy="128016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739896" y="4846320"/>
            <a:ext cx="914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1yr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39896" y="5257800"/>
            <a:ext cx="9144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2F2F2"/>
                </a:solidFill>
                <a:latin typeface="Consolas"/>
              </a:rPr>
              <a:t>0.16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27448" y="4709160"/>
            <a:ext cx="914400" cy="128016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727448" y="4846320"/>
            <a:ext cx="914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3yr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27448" y="5257800"/>
            <a:ext cx="9144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2F2F2"/>
                </a:solidFill>
                <a:latin typeface="Consolas"/>
              </a:rPr>
              <a:t>≈0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852160" y="1554480"/>
            <a:ext cx="5833872" cy="470916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080760" y="1691640"/>
            <a:ext cx="53949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ECC71"/>
                </a:solidFill>
                <a:latin typeface="Segoe UI"/>
              </a:rPr>
              <a:t>Verified Results — same input, accurate demotion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89320" y="2194560"/>
            <a:ext cx="5532120" cy="502920"/>
          </a:xfrm>
          <a:prstGeom prst="rect">
            <a:avLst/>
          </a:prstGeom>
          <a:solidFill>
            <a:srgbClr val="24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080760" y="2194560"/>
            <a:ext cx="274320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2F2F2"/>
                </a:solidFill>
                <a:latin typeface="Segoe UI"/>
              </a:rPr>
              <a:t>Channel case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69680" y="2194560"/>
            <a:ext cx="7315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Cmt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0" y="2194560"/>
            <a:ext cx="7315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Likes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78440" y="2194560"/>
            <a:ext cx="7315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Watch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09960" y="2194560"/>
            <a:ext cx="5486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2F2F2"/>
                </a:solidFill>
                <a:latin typeface="Consolas"/>
              </a:rPr>
              <a:t>Score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80760" y="2761488"/>
            <a:ext cx="274320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2ECC71"/>
                </a:solidFill>
                <a:latin typeface="Segoe UI"/>
              </a:rPr>
              <a:t>Watched 150× · 3 days ago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69680" y="2761488"/>
            <a:ext cx="7315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01200" y="2761488"/>
            <a:ext cx="7315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78440" y="2761488"/>
            <a:ext cx="7315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150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109960" y="2761488"/>
            <a:ext cx="5486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ECC71"/>
                </a:solidFill>
                <a:latin typeface="Consolas"/>
              </a:rPr>
              <a:t>100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989320" y="3328416"/>
            <a:ext cx="5532120" cy="502920"/>
          </a:xfrm>
          <a:prstGeom prst="rect">
            <a:avLst/>
          </a:prstGeom>
          <a:solidFill>
            <a:srgbClr val="18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080760" y="3328416"/>
            <a:ext cx="274320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F2F2F2"/>
                </a:solidFill>
                <a:latin typeface="Segoe UI"/>
              </a:rPr>
              <a:t>5yr active (cmt·likes)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69680" y="3328416"/>
            <a:ext cx="7315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20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328416"/>
            <a:ext cx="7315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80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78440" y="3328416"/>
            <a:ext cx="7315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109960" y="3328416"/>
            <a:ext cx="5486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2F2F2"/>
                </a:solidFill>
                <a:latin typeface="Consolas"/>
              </a:rPr>
              <a:t>60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080760" y="3895344"/>
            <a:ext cx="274320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Segoe UI"/>
              </a:rPr>
              <a:t>6mo active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869680" y="3895344"/>
            <a:ext cx="7315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01200" y="3895344"/>
            <a:ext cx="7315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78440" y="3895344"/>
            <a:ext cx="7315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109960" y="3895344"/>
            <a:ext cx="5486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9A9AA2"/>
                </a:solidFill>
                <a:latin typeface="Consolas"/>
              </a:rPr>
              <a:t>15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989320" y="4462272"/>
            <a:ext cx="5532120" cy="502920"/>
          </a:xfrm>
          <a:prstGeom prst="rect">
            <a:avLst/>
          </a:prstGeom>
          <a:solidFill>
            <a:srgbClr val="18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080760" y="4462272"/>
            <a:ext cx="274320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FF3B3B"/>
                </a:solidFill>
                <a:latin typeface="Segoe UI"/>
              </a:rPr>
              <a:t>Dormant 10 years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869680" y="4462272"/>
            <a:ext cx="7315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601200" y="4462272"/>
            <a:ext cx="7315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378440" y="4462272"/>
            <a:ext cx="7315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109960" y="4462272"/>
            <a:ext cx="5486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3B3B"/>
                </a:solidFill>
                <a:latin typeface="Consolas"/>
              </a:rPr>
              <a:t>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80760" y="5029200"/>
            <a:ext cx="274320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FF3B3B"/>
                </a:solidFill>
                <a:latin typeface="Segoe UI"/>
              </a:rPr>
              <a:t>Watched 50× · 1000 days ago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869680" y="5029200"/>
            <a:ext cx="7315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01200" y="5029200"/>
            <a:ext cx="7315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378440" y="5029200"/>
            <a:ext cx="7315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50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109960" y="5029200"/>
            <a:ext cx="5486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3B3B"/>
                </a:solidFill>
                <a:latin typeface="Consolas"/>
              </a:rP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080760" y="5715000"/>
            <a:ext cx="5394960" cy="5029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→ Fixes the old trap (</a:t>
            </a:r>
            <a:r>
              <a:rPr sz="1200" b="1">
                <a:solidFill>
                  <a:srgbClr val="FF3B3B"/>
                </a:solidFill>
                <a:latin typeface="Segoe UI"/>
              </a:rPr>
              <a:t>10yr-dormant &gt; 6mo-active</a:t>
            </a:r>
            <a:r>
              <a:rPr sz="1200" b="0">
                <a:solidFill>
                  <a:srgbClr val="9A9AA2"/>
                </a:solidFill>
                <a:latin typeface="Segoe UI"/>
              </a:rPr>
              <a:t>) via "zero activity → 0"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06 · COURSE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Segoe UI"/>
              </a:rPr>
              <a:t>Algorithms Actually Used in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02920" y="1554480"/>
            <a:ext cx="5486400" cy="105156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64208"/>
            <a:ext cx="34747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Heap Sort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057400"/>
            <a:ext cx="3840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recursive heapify, max-heap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700784"/>
            <a:ext cx="1325880" cy="365760"/>
          </a:xfrm>
          <a:prstGeom prst="round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80560" y="1700784"/>
            <a:ext cx="132588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CC71"/>
                </a:solidFill>
                <a:latin typeface="Consolas"/>
              </a:rPr>
              <a:t>O(n log 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121408"/>
            <a:ext cx="24688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Segoe UI"/>
              </a:rPr>
              <a:t>descending score sort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554480"/>
            <a:ext cx="5486400" cy="105156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28232" y="1664208"/>
            <a:ext cx="34747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Binary 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2057400"/>
            <a:ext cx="3840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boundary-array search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77272" y="1700784"/>
            <a:ext cx="1325880" cy="365760"/>
          </a:xfrm>
          <a:prstGeom prst="round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177272" y="1700784"/>
            <a:ext cx="132588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CC71"/>
                </a:solidFill>
                <a:latin typeface="Consolas"/>
              </a:rPr>
              <a:t>O(log k)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88552" y="2121408"/>
            <a:ext cx="24688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Segoe UI"/>
              </a:rPr>
              <a:t>score → 4 groups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715768"/>
            <a:ext cx="5486400" cy="105156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31520" y="2825496"/>
            <a:ext cx="34747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LRU Cache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218688"/>
            <a:ext cx="3840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OrderedDict input key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80560" y="2862072"/>
            <a:ext cx="1325880" cy="365760"/>
          </a:xfrm>
          <a:prstGeom prst="round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480560" y="2862072"/>
            <a:ext cx="132588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CC71"/>
                </a:solidFill>
                <a:latin typeface="Consolas"/>
              </a:rPr>
              <a:t>O(1)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3282696"/>
            <a:ext cx="24688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Segoe UI"/>
              </a:rPr>
              <a:t>score cache · auto-invalidate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9632" y="2715768"/>
            <a:ext cx="5486400" cy="105156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28232" y="2825496"/>
            <a:ext cx="34747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Hash Map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8232" y="3218688"/>
            <a:ext cx="3840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likeMap·commentMap, etc.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77272" y="2862072"/>
            <a:ext cx="1325880" cy="365760"/>
          </a:xfrm>
          <a:prstGeom prst="round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177272" y="2862072"/>
            <a:ext cx="132588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CC71"/>
                </a:solidFill>
                <a:latin typeface="Consolas"/>
              </a:rPr>
              <a:t>O(1) avg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88552" y="3282696"/>
            <a:ext cx="24688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Segoe UI"/>
              </a:rPr>
              <a:t>multi-channel aggregation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3877056"/>
            <a:ext cx="5486400" cy="105156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31520" y="3986784"/>
            <a:ext cx="34747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Min-Max Normalize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379976"/>
            <a:ext cx="3840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linear scaling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80560" y="4023360"/>
            <a:ext cx="1325880" cy="365760"/>
          </a:xfrm>
          <a:prstGeom prst="round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480560" y="4023360"/>
            <a:ext cx="132588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CC71"/>
                </a:solidFill>
                <a:latin typeface="Consolas"/>
              </a:rPr>
              <a:t>O(n)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91840" y="4443984"/>
            <a:ext cx="24688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Segoe UI"/>
              </a:rPr>
              <a:t>0–100 scoring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99632" y="3877056"/>
            <a:ext cx="5486400" cy="105156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428232" y="3986784"/>
            <a:ext cx="34747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Recency Decay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8232" y="4379976"/>
            <a:ext cx="3840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exponential exp(−λ·d)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177272" y="4023360"/>
            <a:ext cx="1325880" cy="365760"/>
          </a:xfrm>
          <a:prstGeom prst="round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177272" y="4023360"/>
            <a:ext cx="132588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CC71"/>
                </a:solidFill>
                <a:latin typeface="Consolas"/>
              </a:rPr>
              <a:t>O(1)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88552" y="4443984"/>
            <a:ext cx="24688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Segoe UI"/>
              </a:rPr>
              <a:t>watch-recency weighting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2920" y="5038344"/>
            <a:ext cx="5486400" cy="105156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31520" y="5148072"/>
            <a:ext cx="34747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Cursor Pagination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5541264"/>
            <a:ext cx="3840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nextPageToken loop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480560" y="5184648"/>
            <a:ext cx="1325880" cy="365760"/>
          </a:xfrm>
          <a:prstGeom prst="round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480560" y="5184648"/>
            <a:ext cx="132588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CC71"/>
                </a:solidFill>
                <a:latin typeface="Consolas"/>
              </a:rPr>
              <a:t>O(n)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5605272"/>
            <a:ext cx="24688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Segoe UI"/>
              </a:rPr>
              <a:t>collect all subs·likes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99632" y="5038344"/>
            <a:ext cx="5486400" cy="105156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28232" y="5148072"/>
            <a:ext cx="34747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Parallel Batch + Backoff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28232" y="5541264"/>
            <a:ext cx="3840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Promise.all 10 · 429 retry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177272" y="5184648"/>
            <a:ext cx="1325880" cy="365760"/>
          </a:xfrm>
          <a:prstGeom prst="round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0177272" y="5184648"/>
            <a:ext cx="132588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CC71"/>
                </a:solidFill>
                <a:latin typeface="Consolas"/>
              </a:rPr>
              <a:t>O(n/p)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988552" y="5605272"/>
            <a:ext cx="24688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Segoe UI"/>
              </a:rPr>
              <a:t>concurrent API fetch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251351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300" b="1" dirty="0">
                <a:solidFill>
                  <a:srgbClr val="FF3B3B"/>
                </a:solidFill>
                <a:latin typeface="Consolas"/>
              </a:rPr>
              <a:t>07</a:t>
            </a:r>
            <a:r>
              <a:rPr sz="1300" b="1" dirty="0">
                <a:solidFill>
                  <a:srgbClr val="FF3B3B"/>
                </a:solidFill>
                <a:latin typeface="Consolas"/>
              </a:rPr>
              <a:t> · </a:t>
            </a:r>
            <a:r>
              <a:rPr lang="en-US" sz="1300" b="1" dirty="0">
                <a:solidFill>
                  <a:srgbClr val="FF3B3B"/>
                </a:solidFill>
                <a:latin typeface="Consolas"/>
              </a:rPr>
              <a:t>RESULT - </a:t>
            </a:r>
            <a:r>
              <a:rPr sz="1300" b="1" dirty="0">
                <a:solidFill>
                  <a:srgbClr val="FF3B3B"/>
                </a:solidFill>
                <a:latin typeface="Consolas"/>
              </a:rPr>
              <a:t>T</a:t>
            </a:r>
            <a:r>
              <a:rPr lang="en-US" sz="1300" b="1" dirty="0">
                <a:solidFill>
                  <a:srgbClr val="FF3B3B"/>
                </a:solidFill>
                <a:latin typeface="Consolas"/>
              </a:rPr>
              <a:t>aste</a:t>
            </a:r>
            <a:r>
              <a:rPr sz="1300" b="1" dirty="0">
                <a:solidFill>
                  <a:srgbClr val="FF3B3B"/>
                </a:solidFill>
                <a:latin typeface="Consolas"/>
              </a:rPr>
              <a:t> G</a:t>
            </a:r>
            <a:r>
              <a:rPr lang="en-US" sz="1300" b="1" dirty="0">
                <a:solidFill>
                  <a:srgbClr val="FF3B3B"/>
                </a:solidFill>
                <a:latin typeface="Consolas"/>
              </a:rPr>
              <a:t>raph</a:t>
            </a:r>
            <a:endParaRPr sz="1300" b="1" dirty="0">
              <a:solidFill>
                <a:srgbClr val="FF3B3B"/>
              </a:solidFill>
              <a:latin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>
                <a:solidFill>
                  <a:srgbClr val="F2F2F2"/>
                </a:solidFill>
                <a:latin typeface="Segoe UI"/>
              </a:rPr>
              <a:t>Taste Communities &amp; Map — Union-Find + MST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411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9A9AA2"/>
                </a:solidFill>
                <a:latin typeface="Segoe UI"/>
              </a:rPr>
              <a:t>Build a weighted graph from channels — </a:t>
            </a:r>
            <a:r>
              <a:rPr sz="1350" b="1">
                <a:solidFill>
                  <a:srgbClr val="F2F2F2"/>
                </a:solidFill>
                <a:latin typeface="Segoe UI"/>
              </a:rPr>
              <a:t>an edge connects two channels when category cosine similarity ≥ threshold.</a:t>
            </a:r>
          </a:p>
        </p:txBody>
      </p:sp>
      <p:pic>
        <p:nvPicPr>
          <p:cNvPr id="8" name="Picture 7" descr="그래프 추가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44003"/>
            <a:ext cx="6720840" cy="3587312"/>
          </a:xfrm>
          <a:prstGeom prst="rect">
            <a:avLst/>
          </a:prstGeom>
          <a:ln w="12700">
            <a:solidFill>
              <a:srgbClr val="33333A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7452360" y="1874519"/>
            <a:ext cx="4233672" cy="452628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08392" y="2084831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2ECC71"/>
                </a:solidFill>
                <a:latin typeface="Segoe UI"/>
              </a:rPr>
              <a:t>🔗  Taste Communities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08392" y="2432304"/>
            <a:ext cx="3749039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Consolas"/>
              </a:rPr>
              <a:t>Union-Find · connected components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08392" y="2743200"/>
            <a:ext cx="3749039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2"/>
                </a:solidFill>
                <a:latin typeface="Segoe UI"/>
              </a:rPr>
              <a:t>• Group channels into taste clusters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2"/>
                </a:solidFill>
                <a:latin typeface="Segoe UI"/>
              </a:rPr>
              <a:t>• Each community labeled by its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  dominant category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08392" y="3794760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A97BE8"/>
                </a:solidFill>
                <a:latin typeface="Segoe UI"/>
              </a:rPr>
              <a:t>🗺️  Taste Map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08392" y="4142232"/>
            <a:ext cx="3749039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Consolas"/>
              </a:rPr>
              <a:t>Kruskal · maximum spanning forest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8392" y="4453128"/>
            <a:ext cx="3749039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2"/>
                </a:solidFill>
                <a:latin typeface="Segoe UI"/>
              </a:rPr>
              <a:t>• Minimal backbone linking your taste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2"/>
                </a:solidFill>
                <a:latin typeface="Segoe UI"/>
              </a:rPr>
              <a:t>• Rendered as a force-directed SVG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  (node size = interest score)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08392" y="5532120"/>
            <a:ext cx="3703320" cy="713232"/>
          </a:xfrm>
          <a:prstGeom prst="roundRect">
            <a:avLst/>
          </a:prstGeom>
          <a:solidFill>
            <a:srgbClr val="1212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845552" y="5614416"/>
            <a:ext cx="347472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FF3B3B"/>
                </a:solidFill>
                <a:latin typeface="Consolas"/>
              </a:rPr>
              <a:t>Algorithms</a:t>
            </a:r>
            <a:r>
              <a:rPr sz="1100" b="0">
                <a:solidFill>
                  <a:srgbClr val="9A9AA2"/>
                </a:solidFill>
                <a:latin typeface="Segoe UI"/>
              </a:rPr>
              <a:t>  Union-Find · Kruskal MST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Segoe UI"/>
              </a:rPr>
              <a:t>Reuses categoryScores vectors → </a:t>
            </a:r>
            <a:r>
              <a:rPr sz="1100" b="1">
                <a:solidFill>
                  <a:srgbClr val="2ECC71"/>
                </a:solidFill>
                <a:latin typeface="Segoe UI"/>
              </a:rPr>
              <a:t>0 extra API</a:t>
            </a:r>
          </a:p>
        </p:txBody>
      </p:sp>
    </p:spTree>
    <p:extLst>
      <p:ext uri="{BB962C8B-B14F-4D97-AF65-F5344CB8AC3E}">
        <p14:creationId xmlns:p14="http://schemas.microsoft.com/office/powerpoint/2010/main" val="2594526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251351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dirty="0">
                <a:solidFill>
                  <a:srgbClr val="FF3B3B"/>
                </a:solidFill>
                <a:latin typeface="Consolas"/>
              </a:rPr>
              <a:t>0</a:t>
            </a:r>
            <a:r>
              <a:rPr lang="en-US" sz="1300" b="1" dirty="0">
                <a:solidFill>
                  <a:srgbClr val="FF3B3B"/>
                </a:solidFill>
                <a:latin typeface="Consolas"/>
              </a:rPr>
              <a:t>8</a:t>
            </a:r>
            <a:r>
              <a:rPr sz="1300" b="1" dirty="0">
                <a:solidFill>
                  <a:srgbClr val="FF3B3B"/>
                </a:solidFill>
                <a:latin typeface="Consolas"/>
              </a:rPr>
              <a:t> · RESULT</a:t>
            </a:r>
            <a:r>
              <a:rPr lang="en-US" sz="1300" b="1" dirty="0">
                <a:solidFill>
                  <a:srgbClr val="FF3B3B"/>
                </a:solidFill>
                <a:latin typeface="Consolas"/>
              </a:rPr>
              <a:t> – Interest Ranking</a:t>
            </a:r>
            <a:endParaRPr sz="1300" b="1" dirty="0">
              <a:solidFill>
                <a:srgbClr val="FF3B3B"/>
              </a:solidFill>
              <a:latin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Segoe UI"/>
              </a:rPr>
              <a:t>Result — Interest Ranking + AI Tools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502920" y="1954948"/>
            <a:ext cx="7406640" cy="3953942"/>
          </a:xfrm>
          <a:prstGeom prst="rect">
            <a:avLst/>
          </a:prstGeom>
          <a:ln w="12700">
            <a:solidFill>
              <a:srgbClr val="33333A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8092440" y="1463040"/>
            <a:ext cx="3593592" cy="493776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21040" y="1691640"/>
            <a:ext cx="3200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Screen Layout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240280"/>
            <a:ext cx="3246120" cy="40233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• Per-channel </a:t>
            </a:r>
            <a:r>
              <a:rPr sz="1300" b="1">
                <a:solidFill>
                  <a:srgbClr val="F2F2F2"/>
                </a:solidFill>
                <a:latin typeface="Segoe UI"/>
              </a:rPr>
              <a:t>Interest Score·rank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Segoe UI"/>
              </a:rPr>
              <a:t>  (#rank · cmt · likes · subs)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100" b="0">
              <a:solidFill>
                <a:srgbClr val="9A9AA2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• Zero-score channels sorted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  to the bottom as dormant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300" b="0">
              <a:solidFill>
                <a:srgbClr val="9A9AA2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• Bottom </a:t>
            </a:r>
            <a:r>
              <a:rPr sz="1300" b="1">
                <a:solidFill>
                  <a:srgbClr val="2ECC71"/>
                </a:solidFill>
                <a:latin typeface="Segoe UI"/>
              </a:rPr>
              <a:t>🤖 AI Analysis Tools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  — 3 selectable modes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   - Viewing-Taste Persona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   - Subscription Cleanup Coach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   - New Channel Recommendation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200" b="0">
              <a:solidFill>
                <a:srgbClr val="9A9AA2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• Floating button re-opens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  the tools anytime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251351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dirty="0">
                <a:solidFill>
                  <a:srgbClr val="FF3B3B"/>
                </a:solidFill>
                <a:latin typeface="Consolas"/>
              </a:rPr>
              <a:t>0</a:t>
            </a:r>
            <a:r>
              <a:rPr lang="en-US" sz="1300" b="1" dirty="0">
                <a:solidFill>
                  <a:srgbClr val="FF3B3B"/>
                </a:solidFill>
                <a:latin typeface="Consolas"/>
              </a:rPr>
              <a:t>9</a:t>
            </a:r>
            <a:r>
              <a:rPr sz="1300" b="1" dirty="0">
                <a:solidFill>
                  <a:srgbClr val="FF3B3B"/>
                </a:solidFill>
                <a:latin typeface="Consolas"/>
              </a:rPr>
              <a:t> · AI TOOL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Segoe UI"/>
              </a:rPr>
              <a:t>Viewing-Taste Persona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페르소나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55048"/>
            <a:ext cx="7406640" cy="3953743"/>
          </a:xfrm>
          <a:prstGeom prst="rect">
            <a:avLst/>
          </a:prstGeom>
          <a:ln w="12700">
            <a:solidFill>
              <a:srgbClr val="33333A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8092440" y="1463040"/>
            <a:ext cx="3593592" cy="493776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21040" y="1691640"/>
            <a:ext cx="3200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3B3B"/>
                </a:solidFill>
                <a:latin typeface="Segoe UI"/>
              </a:rPr>
              <a:t>Solar LLM Interpretation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240280"/>
            <a:ext cx="3246120" cy="40233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Takes channel scores &amp;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category distribution, then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writes one taste report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300" b="0">
              <a:solidFill>
                <a:srgbClr val="9A9AA2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A844"/>
                </a:solidFill>
                <a:latin typeface="Segoe UI"/>
              </a:rPr>
              <a:t>Example result: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"Solo-cooking + Game/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 History buff"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300" b="1">
              <a:solidFill>
                <a:srgbClr val="F2F2F2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• Solo-Cooking Master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• Game Strategist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• History + Slang buff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• Healthy-Food Experimenter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200" b="0">
              <a:solidFill>
                <a:srgbClr val="9A9AA2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A6A72"/>
                </a:solidFill>
                <a:latin typeface="Segoe UI"/>
              </a:rPr>
              <a:t>→ tags·subtitles·summary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A6A72"/>
                </a:solidFill>
                <a:latin typeface="Segoe UI"/>
              </a:rPr>
              <a:t>   as structured JSON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251351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300" b="1" dirty="0">
                <a:solidFill>
                  <a:srgbClr val="FF3B3B"/>
                </a:solidFill>
                <a:latin typeface="Consolas"/>
              </a:rPr>
              <a:t>10</a:t>
            </a:r>
            <a:r>
              <a:rPr sz="1300" b="1" dirty="0">
                <a:solidFill>
                  <a:srgbClr val="FF3B3B"/>
                </a:solidFill>
                <a:latin typeface="Consolas"/>
              </a:rPr>
              <a:t> · AI TOOL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Segoe UI"/>
              </a:rPr>
              <a:t>Subscription Cleanup Coach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구독 정리 코치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54949"/>
            <a:ext cx="7406640" cy="3953942"/>
          </a:xfrm>
          <a:prstGeom prst="rect">
            <a:avLst/>
          </a:prstGeom>
          <a:ln w="12700">
            <a:solidFill>
              <a:srgbClr val="33333A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8092440" y="1463040"/>
            <a:ext cx="3593592" cy="493776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21040" y="1691640"/>
            <a:ext cx="3200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Cleanup Logic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240280"/>
            <a:ext cx="3246120" cy="40233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LLM judges dormant &amp;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low-interest channels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(score &lt; 20)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300" b="0">
              <a:solidFill>
                <a:srgbClr val="9A9AA2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🔴 </a:t>
            </a:r>
            <a:r>
              <a:rPr sz="1300" b="1">
                <a:solidFill>
                  <a:srgbClr val="FF3B3B"/>
                </a:solidFill>
                <a:latin typeface="Segoe UI"/>
              </a:rPr>
              <a:t>Drop Recommended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   long inactivity (2yr+)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200" b="0">
              <a:solidFill>
                <a:srgbClr val="9A9AA2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🟡 </a:t>
            </a:r>
            <a:r>
              <a:rPr sz="1300" b="1">
                <a:solidFill>
                  <a:srgbClr val="F4A844"/>
                </a:solidFill>
                <a:latin typeface="Segoe UI"/>
              </a:rPr>
              <a:t>Keep for Now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   inactive within 1 year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200" b="0">
              <a:solidFill>
                <a:srgbClr val="9A9AA2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Each with a stated reason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("active ~1530 days ago,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  inactive 51 months")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251351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dirty="0">
                <a:solidFill>
                  <a:srgbClr val="FF3B3B"/>
                </a:solidFill>
                <a:latin typeface="Consolas"/>
              </a:rPr>
              <a:t>1</a:t>
            </a:r>
            <a:r>
              <a:rPr lang="en-US" sz="1300" b="1" dirty="0">
                <a:solidFill>
                  <a:srgbClr val="FF3B3B"/>
                </a:solidFill>
                <a:latin typeface="Consolas"/>
              </a:rPr>
              <a:t>1</a:t>
            </a:r>
            <a:r>
              <a:rPr sz="1300" b="1" dirty="0">
                <a:solidFill>
                  <a:srgbClr val="FF3B3B"/>
                </a:solidFill>
                <a:latin typeface="Consolas"/>
              </a:rPr>
              <a:t> · AI TOOL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512961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Segoe UI"/>
              </a:rPr>
              <a:t>Channel </a:t>
            </a:r>
            <a:r>
              <a:rPr sz="3000" b="1" dirty="0">
                <a:solidFill>
                  <a:srgbClr val="F2F2F2"/>
                </a:solidFill>
                <a:latin typeface="Segoe UI"/>
              </a:rPr>
              <a:t>Recommendation — Video-First Discovery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347472" y="1920240"/>
            <a:ext cx="6803135" cy="3882779"/>
          </a:xfrm>
          <a:prstGeom prst="rect">
            <a:avLst/>
          </a:prstGeom>
          <a:ln w="12700">
            <a:solidFill>
              <a:srgbClr val="33333A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7086600" y="1463040"/>
            <a:ext cx="4599432" cy="493776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0" y="1645920"/>
            <a:ext cx="420624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3B3B"/>
                </a:solidFill>
                <a:latin typeface="Segoe UI"/>
              </a:rPr>
              <a:t>Anti-hallucination: don't invent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3B3B"/>
                </a:solidFill>
                <a:latin typeface="Segoe UI"/>
              </a:rPr>
              <a:t>names — reverse-trace real videos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2468880"/>
            <a:ext cx="4572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ECC71"/>
                </a:solidFill>
                <a:latin typeface="Segoe UI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468880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Extract interest keywords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770632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Consolas"/>
              </a:rPr>
              <a:t>top channels + recent titles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3218688"/>
            <a:ext cx="4572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ECC71"/>
                </a:solidFill>
                <a:latin typeface="Segoe UI"/>
              </a:rPr>
              <a:t>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3218688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Search videos per keyword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3520440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Consolas"/>
              </a:rPr>
              <a:t>search.list → collect channelId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3968496"/>
            <a:ext cx="4572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ECC71"/>
                </a:solidFill>
                <a:latin typeface="Segoe UI"/>
              </a:rPr>
              <a:t>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968496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Aggregate channelId frequency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4270248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Consolas"/>
              </a:rPr>
              <a:t>2+ keywords = real topic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4718304"/>
            <a:ext cx="4572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ECC71"/>
                </a:solidFill>
                <a:latin typeface="Segoe UI"/>
              </a:rPr>
              <a:t>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4718304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Profile candidates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5020056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Consolas"/>
              </a:rPr>
              <a:t>real desc·titles (1 unit)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5468112"/>
            <a:ext cx="4572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ECC71"/>
                </a:solidFill>
                <a:latin typeface="Segoe UI"/>
              </a:rPr>
              <a:t>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5468112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LLM curation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5769864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Consolas"/>
              </a:rPr>
              <a:t>rank · reason · fit decision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6263640"/>
            <a:ext cx="42062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A6A72"/>
                </a:solidFill>
                <a:latin typeface="Segoe UI"/>
              </a:rPr>
              <a:t>Costly search(100u) only at ②, deep profiling at 1u → quota saved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8C85A-F898-1B17-A192-3E9525EF7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A874857-639F-A25B-B9A3-F7313AAADCB3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6">
            <a:extLst>
              <a:ext uri="{FF2B5EF4-FFF2-40B4-BE49-F238E27FC236}">
                <a16:creationId xmlns:a16="http://schemas.microsoft.com/office/drawing/2014/main" id="{759BF991-44F8-A0D7-4B29-4FACD970058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244"/>
          <a:stretch>
            <a:fillRect/>
          </a:stretch>
        </p:blipFill>
        <p:spPr>
          <a:xfrm>
            <a:off x="347472" y="1916935"/>
            <a:ext cx="6739128" cy="3882779"/>
          </a:xfrm>
          <a:prstGeom prst="rect">
            <a:avLst/>
          </a:prstGeom>
          <a:ln w="12700">
            <a:solidFill>
              <a:srgbClr val="33333A"/>
            </a:solidFill>
          </a:ln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D068949-FE29-029E-C556-A1AF7D914902}"/>
              </a:ext>
            </a:extLst>
          </p:cNvPr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6CED53-B1CD-45E1-4F7B-70FFE424D183}"/>
              </a:ext>
            </a:extLst>
          </p:cNvPr>
          <p:cNvSpPr txBox="1"/>
          <p:nvPr/>
        </p:nvSpPr>
        <p:spPr>
          <a:xfrm>
            <a:off x="502920" y="320040"/>
            <a:ext cx="11155680" cy="251351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dirty="0">
                <a:solidFill>
                  <a:srgbClr val="FF3B3B"/>
                </a:solidFill>
                <a:latin typeface="Consolas"/>
              </a:rPr>
              <a:t>1</a:t>
            </a:r>
            <a:r>
              <a:rPr lang="en-US" sz="1300" b="1" dirty="0">
                <a:solidFill>
                  <a:srgbClr val="FF3B3B"/>
                </a:solidFill>
                <a:latin typeface="Consolas"/>
              </a:rPr>
              <a:t>1</a:t>
            </a:r>
            <a:r>
              <a:rPr sz="1300" b="1" dirty="0">
                <a:solidFill>
                  <a:srgbClr val="FF3B3B"/>
                </a:solidFill>
                <a:latin typeface="Consolas"/>
              </a:rPr>
              <a:t> · AI TOOL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460956-808C-1B76-FF78-4EC4D8B7A95C}"/>
              </a:ext>
            </a:extLst>
          </p:cNvPr>
          <p:cNvSpPr txBox="1"/>
          <p:nvPr/>
        </p:nvSpPr>
        <p:spPr>
          <a:xfrm>
            <a:off x="502920" y="603504"/>
            <a:ext cx="11155680" cy="512961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Segoe UI"/>
              </a:rPr>
              <a:t>Channel </a:t>
            </a:r>
            <a:r>
              <a:rPr sz="3000" b="1" dirty="0">
                <a:solidFill>
                  <a:srgbClr val="F2F2F2"/>
                </a:solidFill>
                <a:latin typeface="Segoe UI"/>
              </a:rPr>
              <a:t>Recommendation — Video-First Discovery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1D5E826-A0ED-5334-70F0-75FF30956BF8}"/>
              </a:ext>
            </a:extLst>
          </p:cNvPr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650B3DB-E628-98AD-7AF1-804ECED2F362}"/>
              </a:ext>
            </a:extLst>
          </p:cNvPr>
          <p:cNvSpPr/>
          <p:nvPr/>
        </p:nvSpPr>
        <p:spPr>
          <a:xfrm>
            <a:off x="7086600" y="1463040"/>
            <a:ext cx="4599432" cy="493776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66ED96-6058-A43B-8C28-99036EA60CBC}"/>
              </a:ext>
            </a:extLst>
          </p:cNvPr>
          <p:cNvSpPr txBox="1"/>
          <p:nvPr/>
        </p:nvSpPr>
        <p:spPr>
          <a:xfrm>
            <a:off x="7315200" y="1645920"/>
            <a:ext cx="420624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3B3B"/>
                </a:solidFill>
                <a:latin typeface="Segoe UI"/>
              </a:rPr>
              <a:t>Anti-hallucination: don't invent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3B3B"/>
                </a:solidFill>
                <a:latin typeface="Segoe UI"/>
              </a:rPr>
              <a:t>names — reverse-trace real videos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F81810-D4A7-C73C-CA9A-D9D8A2FDBA9D}"/>
              </a:ext>
            </a:extLst>
          </p:cNvPr>
          <p:cNvSpPr txBox="1"/>
          <p:nvPr/>
        </p:nvSpPr>
        <p:spPr>
          <a:xfrm>
            <a:off x="7315200" y="2468880"/>
            <a:ext cx="4572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ECC71"/>
                </a:solidFill>
                <a:latin typeface="Segoe UI"/>
              </a:rPr>
              <a:t>①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AB88E8-F234-B194-798D-DFCA910B2BDA}"/>
              </a:ext>
            </a:extLst>
          </p:cNvPr>
          <p:cNvSpPr txBox="1"/>
          <p:nvPr/>
        </p:nvSpPr>
        <p:spPr>
          <a:xfrm>
            <a:off x="7772400" y="2468880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Extract interest keywords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CC05C33-A4D8-5681-9016-A261BBCDE164}"/>
              </a:ext>
            </a:extLst>
          </p:cNvPr>
          <p:cNvSpPr txBox="1"/>
          <p:nvPr/>
        </p:nvSpPr>
        <p:spPr>
          <a:xfrm>
            <a:off x="7772400" y="2770632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Consolas"/>
              </a:rPr>
              <a:t>top channels + recent titles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BCD29D-AB7C-502A-C1EF-191F18DD0529}"/>
              </a:ext>
            </a:extLst>
          </p:cNvPr>
          <p:cNvSpPr txBox="1"/>
          <p:nvPr/>
        </p:nvSpPr>
        <p:spPr>
          <a:xfrm>
            <a:off x="7315200" y="3218688"/>
            <a:ext cx="4572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ECC71"/>
                </a:solidFill>
                <a:latin typeface="Segoe UI"/>
              </a:rPr>
              <a:t>②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6599D8-AF83-2CA8-C14D-E3C04BD53211}"/>
              </a:ext>
            </a:extLst>
          </p:cNvPr>
          <p:cNvSpPr txBox="1"/>
          <p:nvPr/>
        </p:nvSpPr>
        <p:spPr>
          <a:xfrm>
            <a:off x="7772400" y="3218688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Search videos per keyword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FB688F6-084D-71AF-A4B8-7E4E7D883F04}"/>
              </a:ext>
            </a:extLst>
          </p:cNvPr>
          <p:cNvSpPr txBox="1"/>
          <p:nvPr/>
        </p:nvSpPr>
        <p:spPr>
          <a:xfrm>
            <a:off x="7772400" y="3520440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Consolas"/>
              </a:rPr>
              <a:t>search.list → collect channelId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DA06D3D-ECC6-2846-38B8-4EF0CD71A99A}"/>
              </a:ext>
            </a:extLst>
          </p:cNvPr>
          <p:cNvSpPr txBox="1"/>
          <p:nvPr/>
        </p:nvSpPr>
        <p:spPr>
          <a:xfrm>
            <a:off x="7315200" y="3968496"/>
            <a:ext cx="4572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ECC71"/>
                </a:solidFill>
                <a:latin typeface="Segoe UI"/>
              </a:rPr>
              <a:t>③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174C3F2-2FD1-AA1E-0BB4-8463DF582CF9}"/>
              </a:ext>
            </a:extLst>
          </p:cNvPr>
          <p:cNvSpPr txBox="1"/>
          <p:nvPr/>
        </p:nvSpPr>
        <p:spPr>
          <a:xfrm>
            <a:off x="7772400" y="3968496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Aggregate channelId frequency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C3BE722-F33F-83EC-D3AC-8FAD95573362}"/>
              </a:ext>
            </a:extLst>
          </p:cNvPr>
          <p:cNvSpPr txBox="1"/>
          <p:nvPr/>
        </p:nvSpPr>
        <p:spPr>
          <a:xfrm>
            <a:off x="7772400" y="4270248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Consolas"/>
              </a:rPr>
              <a:t>2+ keywords = real topic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E454CF2-1C69-D567-F3D5-2E3733C723FB}"/>
              </a:ext>
            </a:extLst>
          </p:cNvPr>
          <p:cNvSpPr txBox="1"/>
          <p:nvPr/>
        </p:nvSpPr>
        <p:spPr>
          <a:xfrm>
            <a:off x="7315200" y="4718304"/>
            <a:ext cx="4572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ECC71"/>
                </a:solidFill>
                <a:latin typeface="Segoe UI"/>
              </a:rPr>
              <a:t>④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1DAFC09-E269-3366-B2C1-44AEBE12E237}"/>
              </a:ext>
            </a:extLst>
          </p:cNvPr>
          <p:cNvSpPr txBox="1"/>
          <p:nvPr/>
        </p:nvSpPr>
        <p:spPr>
          <a:xfrm>
            <a:off x="7772400" y="4718304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Profile candidates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918A150-1EC4-6D51-4B99-F35A22385773}"/>
              </a:ext>
            </a:extLst>
          </p:cNvPr>
          <p:cNvSpPr txBox="1"/>
          <p:nvPr/>
        </p:nvSpPr>
        <p:spPr>
          <a:xfrm>
            <a:off x="7772400" y="5020056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Consolas"/>
              </a:rPr>
              <a:t>real desc·titles (1 unit)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F89D0D-1789-1CD2-3345-2531D99384E6}"/>
              </a:ext>
            </a:extLst>
          </p:cNvPr>
          <p:cNvSpPr txBox="1"/>
          <p:nvPr/>
        </p:nvSpPr>
        <p:spPr>
          <a:xfrm>
            <a:off x="7315200" y="5468112"/>
            <a:ext cx="4572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ECC71"/>
                </a:solidFill>
                <a:latin typeface="Segoe UI"/>
              </a:rPr>
              <a:t>⑤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BCFBB91-BE75-3275-2806-D4C8EB0CA892}"/>
              </a:ext>
            </a:extLst>
          </p:cNvPr>
          <p:cNvSpPr txBox="1"/>
          <p:nvPr/>
        </p:nvSpPr>
        <p:spPr>
          <a:xfrm>
            <a:off x="7772400" y="5468112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LLM curation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265E805-5873-42F5-2DD0-FE89F6AE8C7F}"/>
              </a:ext>
            </a:extLst>
          </p:cNvPr>
          <p:cNvSpPr txBox="1"/>
          <p:nvPr/>
        </p:nvSpPr>
        <p:spPr>
          <a:xfrm>
            <a:off x="7772400" y="5769864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Consolas"/>
              </a:rPr>
              <a:t>rank · reason · fit decision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C74822E-D912-9A45-FE9B-C8349498B2C6}"/>
              </a:ext>
            </a:extLst>
          </p:cNvPr>
          <p:cNvSpPr txBox="1"/>
          <p:nvPr/>
        </p:nvSpPr>
        <p:spPr>
          <a:xfrm>
            <a:off x="7315200" y="6263640"/>
            <a:ext cx="42062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A6A72"/>
                </a:solidFill>
                <a:latin typeface="Segoe UI"/>
              </a:rPr>
              <a:t>Costly search(100u) only at ②, deep profiling at 1u → quota saved</a:t>
            </a:r>
          </a:p>
        </p:txBody>
      </p:sp>
    </p:spTree>
    <p:extLst>
      <p:ext uri="{BB962C8B-B14F-4D97-AF65-F5344CB8AC3E}">
        <p14:creationId xmlns:p14="http://schemas.microsoft.com/office/powerpoint/2010/main" val="36642515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DEV · CATEGORY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F2F2F2"/>
                </a:solidFill>
                <a:latin typeface="Segoe UI"/>
              </a:rPr>
              <a:t>Category Classification System — Deterministic + Cosine Similarity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411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9A9AA2"/>
                </a:solidFill>
                <a:latin typeface="Segoe UI"/>
              </a:rPr>
              <a:t>Added during development — auto-classifies channels into categories, a shared base for </a:t>
            </a:r>
            <a:r>
              <a:rPr sz="1400" b="1">
                <a:solidFill>
                  <a:srgbClr val="F2F2F2"/>
                </a:solidFill>
                <a:latin typeface="Segoe UI"/>
              </a:rPr>
              <a:t>recommendation · similar channels · persona. </a:t>
            </a:r>
            <a:r>
              <a:rPr sz="1400" b="1">
                <a:solidFill>
                  <a:srgbClr val="2ECC71"/>
                </a:solidFill>
                <a:latin typeface="Segoe UI"/>
              </a:rPr>
              <a:t>Rule-based core (0 LLM) + optional Solar LLM refinement.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20240"/>
            <a:ext cx="3611880" cy="315468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2103120"/>
            <a:ext cx="3200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>
                <a:solidFill>
                  <a:srgbClr val="F2F2F2"/>
                </a:solidFill>
                <a:latin typeface="Segoe UI"/>
              </a:rPr>
              <a:t>📚  </a:t>
            </a:r>
            <a:r>
              <a:rPr sz="1500" b="1">
                <a:solidFill>
                  <a:srgbClr val="F4A844"/>
                </a:solidFill>
                <a:latin typeface="Segoe UI"/>
              </a:rPr>
              <a:t>Keyword Lexicon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487168"/>
            <a:ext cx="32004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Consolas"/>
              </a:rPr>
              <a:t>category_list.yaml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834640"/>
            <a:ext cx="3200400" cy="21945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14 top categories + sub-details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core / general two-tier weights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Korean = substring match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English = word-boundary regex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6A6A72"/>
                </a:solidFill>
                <a:latin typeface="Segoe UI"/>
              </a:rPr>
              <a:t>e.g. "ai" won't match "email"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79392" y="1920240"/>
            <a:ext cx="3611880" cy="315468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07992" y="2103120"/>
            <a:ext cx="3200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>
                <a:solidFill>
                  <a:srgbClr val="F2F2F2"/>
                </a:solidFill>
                <a:latin typeface="Segoe UI"/>
              </a:rPr>
              <a:t>🏷️  </a:t>
            </a:r>
            <a:r>
              <a:rPr sz="1500" b="1">
                <a:solidFill>
                  <a:srgbClr val="2ECC71"/>
                </a:solidFill>
                <a:latin typeface="Segoe UI"/>
              </a:rPr>
              <a:t>Deterministic Classify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7992" y="2487168"/>
            <a:ext cx="32004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Consolas"/>
              </a:rPr>
              <a:t>classify_channel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834640"/>
            <a:ext cx="3200400" cy="21945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Match keywords in name + desc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9A9AA2"/>
                </a:solidFill>
                <a:latin typeface="Segoe UI"/>
              </a:rPr>
              <a:t>  + recent video titles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categoryScores vector (top-N,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9A9AA2"/>
                </a:solidFill>
                <a:latin typeface="Segoe UI"/>
              </a:rPr>
              <a:t>  normalized to sum = 1)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6A6A72"/>
                </a:solidFill>
                <a:latin typeface="Segoe UI"/>
              </a:rPr>
              <a:t>LRU cache (versioned key), cost 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5864" y="1920240"/>
            <a:ext cx="3611880" cy="315468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84464" y="2103120"/>
            <a:ext cx="3200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>
                <a:solidFill>
                  <a:srgbClr val="F2F2F2"/>
                </a:solidFill>
                <a:latin typeface="Segoe UI"/>
              </a:rPr>
              <a:t>🧭  </a:t>
            </a:r>
            <a:r>
              <a:rPr sz="1500" b="1">
                <a:solidFill>
                  <a:srgbClr val="FF3B3B"/>
                </a:solidFill>
                <a:latin typeface="Segoe UI"/>
              </a:rPr>
              <a:t>Cosine Similarity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4" y="2487168"/>
            <a:ext cx="32004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Consolas"/>
              </a:rPr>
              <a:t>attach_similarity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4464" y="2834640"/>
            <a:ext cx="3200400" cy="21945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Reuse categoryScores vectors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Representativeness vs taste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9A9AA2"/>
                </a:solidFill>
                <a:latin typeface="Segoe UI"/>
              </a:rPr>
              <a:t>  centroid (score-weighted)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Top-K similar channels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6A6A72"/>
                </a:solidFill>
                <a:latin typeface="Segoe UI"/>
              </a:rPr>
              <a:t>vector math only — 0 extra API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57800"/>
            <a:ext cx="11183112" cy="1481328"/>
          </a:xfrm>
          <a:prstGeom prst="roundRect">
            <a:avLst/>
          </a:prstGeom>
          <a:solidFill>
            <a:srgbClr val="1212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20" y="5358384"/>
            <a:ext cx="107899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3B3B"/>
                </a:solidFill>
                <a:latin typeface="Consolas"/>
              </a:rPr>
              <a:t>Algorithms introduced</a:t>
            </a:r>
            <a:r>
              <a:rPr sz="1200" b="0">
                <a:solidFill>
                  <a:srgbClr val="9A9AA2"/>
                </a:solidFill>
                <a:latin typeface="Segoe UI"/>
              </a:rPr>
              <a:t>   Cosine Similarity · Weighted Keyword Matching · Vector Normalization · LRU Cache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199632"/>
            <a:ext cx="1088136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→ This classification directly enables the next step's </a:t>
            </a:r>
            <a:r>
              <a:rPr sz="1300" b="1">
                <a:solidFill>
                  <a:srgbClr val="F4A844"/>
                </a:solidFill>
                <a:latin typeface="Segoe UI"/>
              </a:rPr>
              <a:t>category diversity</a:t>
            </a:r>
            <a:r>
              <a:rPr sz="1300" b="0">
                <a:solidFill>
                  <a:srgbClr val="9A9AA2"/>
                </a:solidFill>
                <a:latin typeface="Segoe UI"/>
              </a:rPr>
              <a:t> in recommendations (≥1 each for cooking·economy·gaming).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742432"/>
            <a:ext cx="10881360" cy="411480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l"/>
            <a:r>
              <a:rPr sz="1200" b="1">
                <a:solidFill>
                  <a:srgbClr val="FF3B3B"/>
                </a:solidFill>
                <a:latin typeface="Consolas"/>
              </a:rPr>
              <a:t>Accuracy pipeline</a:t>
            </a:r>
            <a:r>
              <a:rPr sz="1200" b="0">
                <a:solidFill>
                  <a:srgbClr val="F2F2F2"/>
                </a:solidFill>
                <a:latin typeface="Segoe UI"/>
              </a:rPr>
              <a:t>   Rule-based classify → Video-title 2-pass → Solar LLM correction</a:t>
            </a:r>
            <a:r>
              <a:rPr sz="1150" b="0">
                <a:solidFill>
                  <a:srgbClr val="9A9AA2"/>
                </a:solidFill>
                <a:latin typeface="Segoe UI"/>
              </a:rPr>
              <a:t>   (fills unclassified · fixes mis-tags)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DEV · SMART RECOMMENDATION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F2F2F2"/>
                </a:solidFill>
                <a:latin typeface="Segoe UI"/>
              </a:rPr>
              <a:t>Recommendation Upgrade — Watch History · Category Diversity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411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9A9AA2"/>
                </a:solidFill>
                <a:latin typeface="Segoe UI"/>
              </a:rPr>
              <a:t>Beyond subscriptions: reflect </a:t>
            </a:r>
            <a:r>
              <a:rPr sz="1400" b="1">
                <a:solidFill>
                  <a:srgbClr val="F2F2F2"/>
                </a:solidFill>
                <a:latin typeface="Segoe UI"/>
              </a:rPr>
              <a:t>recent watch history</a:t>
            </a:r>
            <a:r>
              <a:rPr sz="1400" b="0">
                <a:solidFill>
                  <a:srgbClr val="9A9AA2"/>
                </a:solidFill>
                <a:latin typeface="Segoe UI"/>
              </a:rPr>
              <a:t>, and recommend </a:t>
            </a:r>
            <a:r>
              <a:rPr sz="1400" b="1">
                <a:solidFill>
                  <a:srgbClr val="F2F2F2"/>
                </a:solidFill>
                <a:latin typeface="Segoe UI"/>
              </a:rPr>
              <a:t>evenly across interests</a:t>
            </a:r>
            <a:r>
              <a:rPr sz="1400" b="0">
                <a:solidFill>
                  <a:srgbClr val="9A9AA2"/>
                </a:solidFill>
                <a:latin typeface="Segoe UI"/>
              </a:rPr>
              <a:t> instead of one dominant category.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20240"/>
            <a:ext cx="3611880" cy="320040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2103120"/>
            <a:ext cx="3200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>
                <a:solidFill>
                  <a:srgbClr val="F2F2F2"/>
                </a:solidFill>
                <a:latin typeface="Segoe UI"/>
              </a:rPr>
              <a:t>📺  </a:t>
            </a:r>
            <a:r>
              <a:rPr sz="1500" b="1">
                <a:solidFill>
                  <a:srgbClr val="2ECC71"/>
                </a:solidFill>
                <a:latin typeface="Segoe UI"/>
              </a:rPr>
              <a:t>Reflect Watched-but-Unsub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578608"/>
            <a:ext cx="3200400" cy="21945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"Recently watched but not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9A9AA2"/>
                </a:solidFill>
                <a:latin typeface="Segoe UI"/>
              </a:rPr>
              <a:t>  subscribed" channels as a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9A9AA2"/>
                </a:solidFill>
                <a:latin typeface="Segoe UI"/>
              </a:rPr>
              <a:t>  separate recommendation section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Noise cut: 2+ times within 90 days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Rank by frequency × recency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6A6A72"/>
                </a:solidFill>
                <a:latin typeface="Segoe UI"/>
              </a:rPr>
              <a:t>→ always an 'addition', not 'replace'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9392" y="1920240"/>
            <a:ext cx="3611880" cy="320040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07992" y="2103120"/>
            <a:ext cx="3200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>
                <a:solidFill>
                  <a:srgbClr val="F2F2F2"/>
                </a:solidFill>
                <a:latin typeface="Segoe UI"/>
              </a:rPr>
              <a:t>🌱  </a:t>
            </a:r>
            <a:r>
              <a:rPr sz="1500" b="1">
                <a:solidFill>
                  <a:srgbClr val="F4A844"/>
                </a:solidFill>
                <a:latin typeface="Segoe UI"/>
              </a:rPr>
              <a:t>Taste Seed Expansion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2578608"/>
            <a:ext cx="3200400" cy="21945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Feed video titles of watched-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9A9AA2"/>
                </a:solidFill>
                <a:latin typeface="Segoe UI"/>
              </a:rPr>
              <a:t>  unsubscribed channels into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9A9AA2"/>
                </a:solidFill>
                <a:latin typeface="Segoe UI"/>
              </a:rPr>
              <a:t>  discovery keywords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Based on what you actually watch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Titles embedded → zero API cost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6A6A72"/>
                </a:solidFill>
                <a:latin typeface="Segoe UI"/>
              </a:rPr>
              <a:t>→ broader discovery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5864" y="1920240"/>
            <a:ext cx="3611880" cy="320040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84464" y="2103120"/>
            <a:ext cx="3200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>
                <a:solidFill>
                  <a:srgbClr val="F2F2F2"/>
                </a:solidFill>
                <a:latin typeface="Segoe UI"/>
              </a:rPr>
              <a:t>🎯  </a:t>
            </a:r>
            <a:r>
              <a:rPr sz="1500" b="1">
                <a:solidFill>
                  <a:srgbClr val="FF3B3B"/>
                </a:solidFill>
                <a:latin typeface="Segoe UI"/>
              </a:rPr>
              <a:t>Category Diversity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4464" y="2578608"/>
            <a:ext cx="3200400" cy="21945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Derive interest categories from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9A9AA2"/>
                </a:solidFill>
                <a:latin typeface="Segoe UI"/>
              </a:rPr>
              <a:t>  subscription classification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Balanced keyword extraction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9A9AA2"/>
                </a:solidFill>
                <a:latin typeface="Segoe UI"/>
              </a:rPr>
              <a:t>  (round-robin)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Guarantee ≥1 per category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6A6A72"/>
                </a:solidFill>
                <a:latin typeface="Segoe UI"/>
              </a:rPr>
              <a:t>→ fixes "cooking-only" skew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349240"/>
            <a:ext cx="11183112" cy="914400"/>
          </a:xfrm>
          <a:prstGeom prst="roundRect">
            <a:avLst/>
          </a:prstGeom>
          <a:solidFill>
            <a:srgbClr val="1212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5449824"/>
            <a:ext cx="107899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3B3B"/>
                </a:solidFill>
                <a:latin typeface="Consolas"/>
              </a:rPr>
              <a:t>Result screen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797296"/>
            <a:ext cx="10881360" cy="411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ECC71"/>
                </a:solidFill>
                <a:latin typeface="Segoe UI"/>
              </a:rPr>
              <a:t>📺 Recently watched, not subscribed</a:t>
            </a:r>
            <a:r>
              <a:rPr sz="1300" b="0">
                <a:solidFill>
                  <a:srgbClr val="6A6A72"/>
                </a:solidFill>
                <a:latin typeface="Segoe UI"/>
              </a:rPr>
              <a:t>  +  </a:t>
            </a:r>
            <a:r>
              <a:rPr sz="1300" b="1">
                <a:solidFill>
                  <a:srgbClr val="FF3B3B"/>
                </a:solidFill>
                <a:latin typeface="Segoe UI"/>
              </a:rPr>
              <a:t>✨ Taste-based new channels</a:t>
            </a:r>
            <a:r>
              <a:rPr sz="1200" b="0">
                <a:solidFill>
                  <a:srgbClr val="9A9AA2"/>
                </a:solidFill>
                <a:latin typeface="Segoe UI"/>
              </a:rPr>
              <a:t>   shown together (LLM-name fallback if discovery fails / not logged in)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251351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dirty="0">
                <a:solidFill>
                  <a:srgbClr val="FF3B3B"/>
                </a:solidFill>
                <a:latin typeface="Consolas"/>
              </a:rPr>
              <a:t>1</a:t>
            </a:r>
            <a:r>
              <a:rPr lang="en-US" sz="1300" b="1" dirty="0">
                <a:solidFill>
                  <a:srgbClr val="FF3B3B"/>
                </a:solidFill>
                <a:latin typeface="Consolas"/>
              </a:rPr>
              <a:t>2</a:t>
            </a:r>
            <a:r>
              <a:rPr sz="1300" b="1" dirty="0">
                <a:solidFill>
                  <a:srgbClr val="FF3B3B"/>
                </a:solidFill>
                <a:latin typeface="Consolas"/>
              </a:rPr>
              <a:t> · DATA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Segoe UI"/>
              </a:rPr>
              <a:t>Takeout Hybrid — Cost vs Accuracy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9A9AA2"/>
                </a:solidFill>
                <a:latin typeface="Segoe UI"/>
              </a:rPr>
              <a:t>YouTube API can't fetch your full comment/watch history → </a:t>
            </a:r>
            <a:r>
              <a:rPr sz="1400" b="1">
                <a:solidFill>
                  <a:srgbClr val="F2F2F2"/>
                </a:solidFill>
                <a:latin typeface="Segoe UI"/>
              </a:rPr>
              <a:t>take Google Takeout files as auxiliary input to boost accuracy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011680"/>
            <a:ext cx="11183112" cy="502920"/>
          </a:xfrm>
          <a:prstGeom prst="rect">
            <a:avLst/>
          </a:prstGeom>
          <a:solidFill>
            <a:srgbClr val="24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2011680"/>
            <a:ext cx="288036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Segoe UI"/>
              </a:rPr>
              <a:t>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011680"/>
            <a:ext cx="21031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Segoe UI"/>
              </a:rPr>
              <a:t>User Effort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011680"/>
            <a:ext cx="30175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Segoe UI"/>
              </a:rPr>
              <a:t>API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011680"/>
            <a:ext cx="315468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Segoe UI"/>
              </a:rPr>
              <a:t>Accuracy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542032"/>
            <a:ext cx="11183112" cy="658368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" y="2542032"/>
            <a:ext cx="288036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9A9AA2"/>
                </a:solidFill>
                <a:latin typeface="Segoe UI"/>
              </a:rPr>
              <a:t>Neither uploaded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2542032"/>
            <a:ext cx="210312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none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2542032"/>
            <a:ext cx="301752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A9AA2"/>
                </a:solidFill>
                <a:latin typeface="Consolas"/>
              </a:rPr>
              <a:t>commentThreads × #channels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2542032"/>
            <a:ext cx="315468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approx comments · no watch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255264"/>
            <a:ext cx="288036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2F2F2"/>
                </a:solidFill>
                <a:latin typeface="Segoe UI"/>
              </a:rPr>
              <a:t>comments.csv only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3255264"/>
            <a:ext cx="210312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1 upload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3255264"/>
            <a:ext cx="301752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A9AA2"/>
                </a:solidFill>
                <a:latin typeface="Consolas"/>
              </a:rPr>
              <a:t>videos.list × #videos/50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3255264"/>
            <a:ext cx="315468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2"/>
                </a:solidFill>
                <a:latin typeface="Segoe UI"/>
              </a:rPr>
              <a:t>exact comments · no watch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968496"/>
            <a:ext cx="11183112" cy="658368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2920" y="3968496"/>
            <a:ext cx="288036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2F2F2"/>
                </a:solidFill>
                <a:latin typeface="Segoe UI"/>
              </a:rPr>
              <a:t>watch-history.json only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3968496"/>
            <a:ext cx="210312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1 upload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3968496"/>
            <a:ext cx="301752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A9AA2"/>
                </a:solidFill>
                <a:latin typeface="Consolas"/>
              </a:rPr>
              <a:t>0 units (channelId in subtitles)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3968496"/>
            <a:ext cx="315468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2"/>
                </a:solidFill>
                <a:latin typeface="Segoe UI"/>
              </a:rPr>
              <a:t>exact watch · approx comments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681728"/>
            <a:ext cx="11183112" cy="658368"/>
          </a:xfrm>
          <a:prstGeom prst="rect">
            <a:avLst/>
          </a:prstGeom>
          <a:solidFill>
            <a:srgbClr val="142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2920" y="4681728"/>
            <a:ext cx="288036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ECC71"/>
                </a:solidFill>
                <a:latin typeface="Segoe UI"/>
              </a:rPr>
              <a:t>Both 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3280" y="4681728"/>
            <a:ext cx="210312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2 uploads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4681728"/>
            <a:ext cx="301752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A9AA2"/>
                </a:solidFill>
                <a:latin typeface="Consolas"/>
              </a:rPr>
              <a:t>comment video-resolve only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4681728"/>
            <a:ext cx="315468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2ECC71"/>
                </a:solidFill>
                <a:latin typeface="Segoe UI"/>
              </a:rPr>
              <a:t>all exact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5669280"/>
            <a:ext cx="11155680" cy="8229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A844"/>
                </a:solidFill>
                <a:latin typeface="Segoe UI"/>
              </a:rPr>
              <a:t>Auto file detection: </a:t>
            </a:r>
            <a:r>
              <a:rPr sz="1300" b="0">
                <a:solidFill>
                  <a:srgbClr val="9A9AA2"/>
                </a:solidFill>
                <a:latin typeface="Segoe UI"/>
              </a:rPr>
              <a:t>filename (watch/comment) + first 4KB content (titleUrl·subtitles patterns) auto-routes the type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watch-history.json embeds channelId in subtitles[0].url → </a:t>
            </a:r>
            <a:r>
              <a:rPr sz="1200" b="1">
                <a:solidFill>
                  <a:srgbClr val="2ECC71"/>
                </a:solidFill>
                <a:latin typeface="Segoe UI"/>
              </a:rPr>
              <a:t>0 API calls</a:t>
            </a:r>
            <a:r>
              <a:rPr sz="1200" b="0">
                <a:solidFill>
                  <a:srgbClr val="9A9AA2"/>
                </a:solidFill>
                <a:latin typeface="Segoe UI"/>
              </a:rPr>
              <a:t> to extract watch count &amp; last-watch date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251351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dirty="0">
                <a:solidFill>
                  <a:srgbClr val="FF3B3B"/>
                </a:solidFill>
                <a:latin typeface="Consolas"/>
              </a:rPr>
              <a:t>1</a:t>
            </a:r>
            <a:r>
              <a:rPr lang="en-US" sz="1300" b="1" dirty="0">
                <a:solidFill>
                  <a:srgbClr val="FF3B3B"/>
                </a:solidFill>
                <a:latin typeface="Consolas"/>
              </a:rPr>
              <a:t>3</a:t>
            </a:r>
            <a:r>
              <a:rPr sz="1300" b="1" dirty="0">
                <a:solidFill>
                  <a:srgbClr val="FF3B3B"/>
                </a:solidFill>
                <a:latin typeface="Consolas"/>
              </a:rPr>
              <a:t> · LIMITS &amp;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Segoe UI"/>
              </a:rPr>
              <a:t>Limitations &amp; Future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02920" y="1554480"/>
            <a:ext cx="5486400" cy="466344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49377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F3B3B"/>
                </a:solidFill>
                <a:latin typeface="Segoe UI"/>
              </a:rPr>
              <a:t>Current Limits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4983480" cy="3840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2F2F2"/>
                </a:solidFill>
                <a:latin typeface="Segoe UI"/>
              </a:rPr>
              <a:t>• YouTube API daily quota </a:t>
            </a:r>
            <a:r>
              <a:rPr sz="1400" b="1">
                <a:solidFill>
                  <a:srgbClr val="F4A844"/>
                </a:solidFill>
                <a:latin typeface="Segoe UI"/>
              </a:rPr>
              <a:t>10,000 units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  single GCP project shared by all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200" b="0">
              <a:solidFill>
                <a:srgbClr val="9A9AA2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2F2F2"/>
                </a:solidFill>
                <a:latin typeface="Segoe UI"/>
              </a:rPr>
              <a:t>• OAuth access_token </a:t>
            </a:r>
            <a:r>
              <a:rPr sz="1400" b="1">
                <a:solidFill>
                  <a:srgbClr val="F4A844"/>
                </a:solidFill>
                <a:latin typeface="Segoe UI"/>
              </a:rPr>
              <a:t>expires in 1h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  no refresh logic (one-shot token)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200" b="0">
              <a:solidFill>
                <a:srgbClr val="9A9AA2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2F2F2"/>
                </a:solidFill>
                <a:latin typeface="Segoe UI"/>
              </a:rPr>
              <a:t>• Comment API approx: scans only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  last 100 per channel → use Takeout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200" b="0">
              <a:solidFill>
                <a:srgbClr val="9A9AA2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2F2F2"/>
                </a:solidFill>
                <a:latin typeface="Segoe UI"/>
              </a:rPr>
              <a:t>• Score is </a:t>
            </a:r>
            <a:r>
              <a:rPr sz="1400" b="1">
                <a:solidFill>
                  <a:srgbClr val="F4A844"/>
                </a:solidFill>
                <a:latin typeface="Segoe UI"/>
              </a:rPr>
              <a:t>relative</a:t>
            </a:r>
            <a:r>
              <a:rPr sz="1400" b="0">
                <a:solidFill>
                  <a:srgbClr val="9A9AA2"/>
                </a:solidFill>
                <a:latin typeface="Segoe UI"/>
              </a:rPr>
              <a:t> — not cross-user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554480"/>
            <a:ext cx="5486400" cy="466344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3952" y="1737360"/>
            <a:ext cx="49377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ECC71"/>
                </a:solidFill>
                <a:latin typeface="Segoe UI"/>
              </a:rPr>
              <a:t>Future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2286000"/>
            <a:ext cx="4983480" cy="3840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2F2F2"/>
                </a:solidFill>
                <a:latin typeface="Segoe UI"/>
              </a:rPr>
              <a:t>✓ Refresh Token → long-running analysis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400" b="0">
              <a:solidFill>
                <a:srgbClr val="F2F2F2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2F2F2"/>
                </a:solidFill>
                <a:latin typeface="Segoe UI"/>
              </a:rPr>
              <a:t>✓ Save results · compare trends over time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400" b="0">
              <a:solidFill>
                <a:srgbClr val="F2F2F2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2F2F2"/>
                </a:solidFill>
                <a:latin typeface="Segoe UI"/>
              </a:rPr>
              <a:t>✓ One-click subscribe to recommendations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400" b="0">
              <a:solidFill>
                <a:srgbClr val="F2F2F2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2F2F2"/>
                </a:solidFill>
                <a:latin typeface="Segoe UI"/>
              </a:rPr>
              <a:t>✓ Category clustering visualization (charts)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400" b="0">
              <a:solidFill>
                <a:srgbClr val="F2F2F2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2F2F2"/>
                </a:solidFill>
                <a:latin typeface="Segoe UI"/>
              </a:rPr>
              <a:t>✓ Publish OAuth consent screen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  → lift 100 test-user limit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1960</Words>
  <Application>Microsoft Office PowerPoint</Application>
  <PresentationFormat>와이드스크린</PresentationFormat>
  <Paragraphs>416</Paragraphs>
  <Slides>19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4" baseType="lpstr">
      <vt:lpstr>Arial</vt:lpstr>
      <vt:lpstr>Calibri</vt:lpstr>
      <vt:lpstr>Consolas</vt:lpstr>
      <vt:lpstr>Segoe UI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명준 송</cp:lastModifiedBy>
  <cp:revision>1</cp:revision>
  <dcterms:created xsi:type="dcterms:W3CDTF">2013-01-27T09:14:16Z</dcterms:created>
  <dcterms:modified xsi:type="dcterms:W3CDTF">2026-06-02T06:45:35Z</dcterms:modified>
  <cp:category/>
</cp:coreProperties>
</file>