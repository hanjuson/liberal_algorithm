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F971D4-CDB2-4822-BC53-288A61021AA8}" v="9" dt="2026-06-02T04:49:50.1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6/11/relationships/changesInfo" Target="changesInfos/changesInfo1.xml"/><Relationship Id="rId2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명준 송" userId="7e48128a0c33bc37" providerId="LiveId" clId="{A62D5C53-2774-4FE3-8307-3525D25D70A4}"/>
    <pc:docChg chg="undo custSel addSld delSld modSld">
      <pc:chgData name="명준 송" userId="7e48128a0c33bc37" providerId="LiveId" clId="{A62D5C53-2774-4FE3-8307-3525D25D70A4}" dt="2026-06-02T04:53:16.015" v="112" actId="20577"/>
      <pc:docMkLst>
        <pc:docMk/>
      </pc:docMkLst>
      <pc:sldChg chg="modSp mod">
        <pc:chgData name="명준 송" userId="7e48128a0c33bc37" providerId="LiveId" clId="{A62D5C53-2774-4FE3-8307-3525D25D70A4}" dt="2026-06-02T04:53:16.015" v="112" actId="20577"/>
        <pc:sldMkLst>
          <pc:docMk/>
          <pc:sldMk cId="0" sldId="260"/>
        </pc:sldMkLst>
        <pc:spChg chg="mod">
          <ac:chgData name="명준 송" userId="7e48128a0c33bc37" providerId="LiveId" clId="{A62D5C53-2774-4FE3-8307-3525D25D70A4}" dt="2026-06-02T04:52:59.349" v="99" actId="20577"/>
          <ac:spMkLst>
            <pc:docMk/>
            <pc:sldMk cId="0" sldId="260"/>
            <ac:spMk id="7" creationId="{00000000-0000-0000-0000-000000000000}"/>
          </ac:spMkLst>
        </pc:spChg>
        <pc:spChg chg="mod">
          <ac:chgData name="명준 송" userId="7e48128a0c33bc37" providerId="LiveId" clId="{A62D5C53-2774-4FE3-8307-3525D25D70A4}" dt="2026-06-02T04:52:55.759" v="98" actId="20577"/>
          <ac:spMkLst>
            <pc:docMk/>
            <pc:sldMk cId="0" sldId="260"/>
            <ac:spMk id="10" creationId="{00000000-0000-0000-0000-000000000000}"/>
          </ac:spMkLst>
        </pc:spChg>
        <pc:spChg chg="mod">
          <ac:chgData name="명준 송" userId="7e48128a0c33bc37" providerId="LiveId" clId="{A62D5C53-2774-4FE3-8307-3525D25D70A4}" dt="2026-06-02T04:53:16.015" v="112" actId="20577"/>
          <ac:spMkLst>
            <pc:docMk/>
            <pc:sldMk cId="0" sldId="260"/>
            <ac:spMk id="11" creationId="{00000000-0000-0000-0000-000000000000}"/>
          </ac:spMkLst>
        </pc:spChg>
      </pc:sldChg>
      <pc:sldChg chg="modSp mod">
        <pc:chgData name="명준 송" userId="7e48128a0c33bc37" providerId="LiveId" clId="{A62D5C53-2774-4FE3-8307-3525D25D70A4}" dt="2026-06-02T04:50:59.725" v="66" actId="20577"/>
        <pc:sldMkLst>
          <pc:docMk/>
          <pc:sldMk cId="0" sldId="264"/>
        </pc:sldMkLst>
        <pc:spChg chg="mod">
          <ac:chgData name="명준 송" userId="7e48128a0c33bc37" providerId="LiveId" clId="{A62D5C53-2774-4FE3-8307-3525D25D70A4}" dt="2026-06-02T04:50:59.725" v="66" actId="20577"/>
          <ac:spMkLst>
            <pc:docMk/>
            <pc:sldMk cId="0" sldId="264"/>
            <ac:spMk id="4" creationId="{00000000-0000-0000-0000-000000000000}"/>
          </ac:spMkLst>
        </pc:spChg>
        <pc:picChg chg="mod">
          <ac:chgData name="명준 송" userId="7e48128a0c33bc37" providerId="LiveId" clId="{A62D5C53-2774-4FE3-8307-3525D25D70A4}" dt="2026-06-02T04:46:40.931" v="12" actId="14826"/>
          <ac:picMkLst>
            <pc:docMk/>
            <pc:sldMk cId="0" sldId="264"/>
            <ac:picMk id="7" creationId="{00000000-0000-0000-0000-000000000000}"/>
          </ac:picMkLst>
        </pc:picChg>
      </pc:sldChg>
      <pc:sldChg chg="modSp mod">
        <pc:chgData name="명준 송" userId="7e48128a0c33bc37" providerId="LiveId" clId="{A62D5C53-2774-4FE3-8307-3525D25D70A4}" dt="2026-06-02T04:50:17.366" v="34" actId="20577"/>
        <pc:sldMkLst>
          <pc:docMk/>
          <pc:sldMk cId="0" sldId="265"/>
        </pc:sldMkLst>
        <pc:spChg chg="mod">
          <ac:chgData name="명준 송" userId="7e48128a0c33bc37" providerId="LiveId" clId="{A62D5C53-2774-4FE3-8307-3525D25D70A4}" dt="2026-06-02T04:50:17.366" v="34" actId="20577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명준 송" userId="7e48128a0c33bc37" providerId="LiveId" clId="{A62D5C53-2774-4FE3-8307-3525D25D70A4}" dt="2026-06-02T04:50:22.620" v="38" actId="20577"/>
        <pc:sldMkLst>
          <pc:docMk/>
          <pc:sldMk cId="0" sldId="266"/>
        </pc:sldMkLst>
        <pc:spChg chg="mod">
          <ac:chgData name="명준 송" userId="7e48128a0c33bc37" providerId="LiveId" clId="{A62D5C53-2774-4FE3-8307-3525D25D70A4}" dt="2026-06-02T04:50:22.620" v="38" actId="20577"/>
          <ac:spMkLst>
            <pc:docMk/>
            <pc:sldMk cId="0" sldId="266"/>
            <ac:spMk id="4" creationId="{00000000-0000-0000-0000-000000000000}"/>
          </ac:spMkLst>
        </pc:spChg>
      </pc:sldChg>
      <pc:sldChg chg="addSp modSp mod">
        <pc:chgData name="명준 송" userId="7e48128a0c33bc37" providerId="LiveId" clId="{A62D5C53-2774-4FE3-8307-3525D25D70A4}" dt="2026-06-02T04:50:26.471" v="40" actId="20577"/>
        <pc:sldMkLst>
          <pc:docMk/>
          <pc:sldMk cId="0" sldId="267"/>
        </pc:sldMkLst>
        <pc:spChg chg="mod">
          <ac:chgData name="명준 송" userId="7e48128a0c33bc37" providerId="LiveId" clId="{A62D5C53-2774-4FE3-8307-3525D25D70A4}" dt="2026-06-02T04:50:26.471" v="40" actId="20577"/>
          <ac:spMkLst>
            <pc:docMk/>
            <pc:sldMk cId="0" sldId="267"/>
            <ac:spMk id="4" creationId="{00000000-0000-0000-0000-000000000000}"/>
          </ac:spMkLst>
        </pc:spChg>
        <pc:spChg chg="mod">
          <ac:chgData name="명준 송" userId="7e48128a0c33bc37" providerId="LiveId" clId="{A62D5C53-2774-4FE3-8307-3525D25D70A4}" dt="2026-06-02T04:18:34.892" v="11" actId="20577"/>
          <ac:spMkLst>
            <pc:docMk/>
            <pc:sldMk cId="0" sldId="267"/>
            <ac:spMk id="5" creationId="{00000000-0000-0000-0000-000000000000}"/>
          </ac:spMkLst>
        </pc:spChg>
        <pc:picChg chg="mod">
          <ac:chgData name="명준 송" userId="7e48128a0c33bc37" providerId="LiveId" clId="{A62D5C53-2774-4FE3-8307-3525D25D70A4}" dt="2026-06-02T04:48:06.820" v="15" actId="14100"/>
          <ac:picMkLst>
            <pc:docMk/>
            <pc:sldMk cId="0" sldId="267"/>
            <ac:picMk id="7" creationId="{00000000-0000-0000-0000-000000000000}"/>
          </ac:picMkLst>
        </pc:picChg>
        <pc:picChg chg="add mod">
          <ac:chgData name="명준 송" userId="7e48128a0c33bc37" providerId="LiveId" clId="{A62D5C53-2774-4FE3-8307-3525D25D70A4}" dt="2026-06-02T04:48:12.608" v="17" actId="14100"/>
          <ac:picMkLst>
            <pc:docMk/>
            <pc:sldMk cId="0" sldId="267"/>
            <ac:picMk id="26" creationId="{30383C1C-7B24-148C-3724-379698AD630C}"/>
          </ac:picMkLst>
        </pc:picChg>
      </pc:sldChg>
      <pc:sldChg chg="modSp mod">
        <pc:chgData name="명준 송" userId="7e48128a0c33bc37" providerId="LiveId" clId="{A62D5C53-2774-4FE3-8307-3525D25D70A4}" dt="2026-06-02T04:50:31.168" v="42" actId="20577"/>
        <pc:sldMkLst>
          <pc:docMk/>
          <pc:sldMk cId="0" sldId="270"/>
        </pc:sldMkLst>
        <pc:spChg chg="mod">
          <ac:chgData name="명준 송" userId="7e48128a0c33bc37" providerId="LiveId" clId="{A62D5C53-2774-4FE3-8307-3525D25D70A4}" dt="2026-06-02T04:50:31.168" v="42" actId="20577"/>
          <ac:spMkLst>
            <pc:docMk/>
            <pc:sldMk cId="0" sldId="270"/>
            <ac:spMk id="4" creationId="{00000000-0000-0000-0000-000000000000}"/>
          </ac:spMkLst>
        </pc:spChg>
      </pc:sldChg>
      <pc:sldChg chg="modSp mod">
        <pc:chgData name="명준 송" userId="7e48128a0c33bc37" providerId="LiveId" clId="{A62D5C53-2774-4FE3-8307-3525D25D70A4}" dt="2026-06-02T04:50:35.734" v="44" actId="20577"/>
        <pc:sldMkLst>
          <pc:docMk/>
          <pc:sldMk cId="0" sldId="271"/>
        </pc:sldMkLst>
        <pc:spChg chg="mod">
          <ac:chgData name="명준 송" userId="7e48128a0c33bc37" providerId="LiveId" clId="{A62D5C53-2774-4FE3-8307-3525D25D70A4}" dt="2026-06-02T04:50:35.734" v="44" actId="20577"/>
          <ac:spMkLst>
            <pc:docMk/>
            <pc:sldMk cId="0" sldId="271"/>
            <ac:spMk id="4" creationId="{00000000-0000-0000-0000-000000000000}"/>
          </ac:spMkLst>
        </pc:spChg>
      </pc:sldChg>
      <pc:sldChg chg="add del">
        <pc:chgData name="명준 송" userId="7e48128a0c33bc37" providerId="LiveId" clId="{A62D5C53-2774-4FE3-8307-3525D25D70A4}" dt="2026-06-02T04:49:44.333" v="24" actId="2696"/>
        <pc:sldMkLst>
          <pc:docMk/>
          <pc:sldMk cId="0" sldId="272"/>
        </pc:sldMkLst>
      </pc:sldChg>
      <pc:sldChg chg="modSp add mod">
        <pc:chgData name="명준 송" userId="7e48128a0c33bc37" providerId="LiveId" clId="{A62D5C53-2774-4FE3-8307-3525D25D70A4}" dt="2026-06-02T04:51:27.273" v="93" actId="1038"/>
        <pc:sldMkLst>
          <pc:docMk/>
          <pc:sldMk cId="259452641" sldId="272"/>
        </pc:sldMkLst>
        <pc:spChg chg="mod">
          <ac:chgData name="명준 송" userId="7e48128a0c33bc37" providerId="LiveId" clId="{A62D5C53-2774-4FE3-8307-3525D25D70A4}" dt="2026-06-02T04:51:27.273" v="93" actId="1038"/>
          <ac:spMkLst>
            <pc:docMk/>
            <pc:sldMk cId="259452641" sldId="272"/>
            <ac:spMk id="4" creationId="{00000000-0000-0000-0000-000000000000}"/>
          </ac:spMkLst>
        </pc:spChg>
      </pc:sldChg>
      <pc:sldChg chg="modSp add del">
        <pc:chgData name="명준 송" userId="7e48128a0c33bc37" providerId="LiveId" clId="{A62D5C53-2774-4FE3-8307-3525D25D70A4}" dt="2026-06-02T04:49:33.764" v="22"/>
        <pc:sldMkLst>
          <pc:docMk/>
          <pc:sldMk cId="2224600294" sldId="272"/>
        </pc:sldMkLst>
        <pc:spChg chg="mod">
          <ac:chgData name="명준 송" userId="7e48128a0c33bc37" providerId="LiveId" clId="{A62D5C53-2774-4FE3-8307-3525D25D70A4}" dt="2026-06-02T04:49:33.314" v="21"/>
          <ac:spMkLst>
            <pc:docMk/>
            <pc:sldMk cId="2224600294" sldId="272"/>
            <ac:spMk id="4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3B3B"/>
                </a:solidFill>
                <a:latin typeface="Consolas"/>
              </a:rPr>
              <a:t>// YOUTUBE CHANNEL ANALYZER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9848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000" b="1">
                <a:solidFill>
                  <a:srgbClr val="F2F2F2"/>
                </a:solidFill>
                <a:latin typeface="Segoe UI"/>
              </a:rPr>
              <a:t>Subscription </a:t>
            </a:r>
            <a:r>
              <a:rPr sz="5000" b="1">
                <a:solidFill>
                  <a:srgbClr val="FF3B3B"/>
                </a:solidFill>
                <a:latin typeface="Segoe UI"/>
              </a:rPr>
              <a:t>Interest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1024128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A9AA2"/>
                </a:solidFill>
                <a:latin typeface="Segoe UI"/>
              </a:rPr>
              <a:t>Connect your Google account via OAuth and turn subscribed channels into an </a:t>
            </a:r>
            <a:r>
              <a:rPr sz="1700" b="1">
                <a:solidFill>
                  <a:srgbClr val="F2F2F2"/>
                </a:solidFill>
                <a:latin typeface="Segoe UI"/>
              </a:rPr>
              <a:t>Interest Score (0–100)</a:t>
            </a:r>
            <a:r>
              <a:rPr sz="1700" b="0">
                <a:solidFill>
                  <a:srgbClr val="9A9AA2"/>
                </a:solidFill>
                <a:latin typeface="Segoe UI"/>
              </a:rPr>
              <a:t>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A9AA2"/>
                </a:solidFill>
                <a:latin typeface="Segoe UI"/>
              </a:rPr>
              <a:t>then let </a:t>
            </a:r>
            <a:r>
              <a:rPr sz="1700" b="1">
                <a:solidFill>
                  <a:srgbClr val="F2F2F2"/>
                </a:solidFill>
                <a:latin typeface="Segoe UI"/>
              </a:rPr>
              <a:t>Solar LLM</a:t>
            </a:r>
            <a:r>
              <a:rPr sz="1700" b="0">
                <a:solidFill>
                  <a:srgbClr val="9A9AA2"/>
                </a:solidFill>
                <a:latin typeface="Segoe UI"/>
              </a:rPr>
              <a:t> interpret your taste — persona, subscription cleanup, and new-channel recommendation.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83480"/>
            <a:ext cx="740664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740664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Flask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28216" y="4983480"/>
            <a:ext cx="1161288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28216" y="4983480"/>
            <a:ext cx="1161288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Vanilla JS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54096" y="4983480"/>
            <a:ext cx="1834286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54096" y="4983480"/>
            <a:ext cx="1834286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Google OAuth (GIS)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2974" y="4983480"/>
            <a:ext cx="1918411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52974" y="4983480"/>
            <a:ext cx="1918411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YouTube Data API v3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5977" y="4983480"/>
            <a:ext cx="1750161" cy="420624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3A3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5977" y="4983480"/>
            <a:ext cx="1750161" cy="420624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2F2F2"/>
                </a:solidFill>
                <a:latin typeface="Consolas"/>
              </a:rPr>
              <a:t>Upstage Solar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A6A72"/>
                </a:solidFill>
                <a:latin typeface="Consolas"/>
              </a:rPr>
              <a:t>Algorithm Course — Team 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01 ·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Where this project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50292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3B3B"/>
                </a:solidFill>
                <a:latin typeface="Segoe U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Subscriptions pile up to dozens or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hundreds, yet it's hard to tell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which channels you actually watch.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"Subscribed for years but never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watch" — dormant channels clutter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the whole list.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• YouTube offers no API for your full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comment / watch history </a:t>
            </a:r>
            <a:r>
              <a:rPr sz="1300" b="0">
                <a:solidFill>
                  <a:srgbClr val="6A6A72"/>
                </a:solidFill>
                <a:latin typeface="Segoe UI"/>
              </a:rPr>
              <a:t>(removed 2016).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463040"/>
            <a:ext cx="5486400" cy="484632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1691640"/>
            <a:ext cx="50292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Our 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4028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Weight &amp; sum comments, likes, watch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A9AA2"/>
                </a:solidFill>
                <a:latin typeface="Segoe UI"/>
              </a:rPr>
              <a:t>   count, sub age → </a:t>
            </a:r>
            <a:r>
              <a:rPr sz="1500" b="1">
                <a:solidFill>
                  <a:srgbClr val="F2F2F2"/>
                </a:solidFill>
                <a:latin typeface="Segoe UI"/>
              </a:rPr>
              <a:t>Interest Score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1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</a:t>
            </a:r>
            <a:r>
              <a:rPr sz="1500" b="1">
                <a:solidFill>
                  <a:srgbClr val="FF3B3B"/>
                </a:solidFill>
                <a:latin typeface="Segoe UI"/>
              </a:rPr>
              <a:t>Zero activity → instant 0 points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1">
              <a:solidFill>
                <a:srgbClr val="FF3B3B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Auto-classify into 4 groups 🔥 😊 👋 🌱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Boost accuracy with real </a:t>
            </a:r>
            <a:r>
              <a:rPr sz="1500" b="1">
                <a:solidFill>
                  <a:srgbClr val="F2F2F2"/>
                </a:solidFill>
                <a:latin typeface="Segoe UI"/>
              </a:rPr>
              <a:t>watch history</a:t>
            </a:r>
            <a:r>
              <a:rPr sz="1500" b="0">
                <a:solidFill>
                  <a:srgbClr val="9A9AA2"/>
                </a:solidFill>
                <a:latin typeface="Segoe UI"/>
              </a:rPr>
              <a:t> (Takeout)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endParaRPr sz="15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2F2F2"/>
                </a:solidFill>
                <a:latin typeface="Segoe UI"/>
              </a:rPr>
              <a:t>✓ Solar LLM interprets taste &amp; recommends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02 ·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Core features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755648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📊  </a:t>
            </a:r>
            <a:r>
              <a:rPr sz="1600" b="1">
                <a:solidFill>
                  <a:srgbClr val="FF3B3B"/>
                </a:solidFill>
                <a:latin typeface="Segoe UI"/>
              </a:rPr>
              <a:t>Interest Scoring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Weight &amp; sum comments, likes,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watch &amp; sub age into 0–100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07992" y="1755648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🗂️  </a:t>
            </a:r>
            <a:r>
              <a:rPr sz="1600" b="1">
                <a:solidFill>
                  <a:srgbClr val="FF3B3B"/>
                </a:solidFill>
                <a:latin typeface="Segoe UI"/>
              </a:rPr>
              <a:t>4-Group Classification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🔥 Top / 😊 Often / 👋 Sometimes /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🌱 Subscribed-only via binary 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1554480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84464" y="1755648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📥  </a:t>
            </a:r>
            <a:r>
              <a:rPr sz="1600" b="1">
                <a:solidFill>
                  <a:srgbClr val="FF3B3B"/>
                </a:solidFill>
                <a:latin typeface="Segoe UI"/>
              </a:rPr>
              <a:t>Takeout Hybrid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4464" y="2468880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Exact comments &amp; watch history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from comments.csv / watch-history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197096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🧬  </a:t>
            </a:r>
            <a:r>
              <a:rPr sz="1600" b="1">
                <a:solidFill>
                  <a:srgbClr val="FF3B3B"/>
                </a:solidFill>
                <a:latin typeface="Segoe UI"/>
              </a:rPr>
              <a:t>Viewing-Taste Persona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Solar LLM turns your channel mix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into one taste report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9392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07992" y="4197096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🧹  </a:t>
            </a:r>
            <a:r>
              <a:rPr sz="1600" b="1">
                <a:solidFill>
                  <a:srgbClr val="FF3B3B"/>
                </a:solidFill>
                <a:latin typeface="Segoe UI"/>
              </a:rPr>
              <a:t>Cleanup Coach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7992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LLM suggests drop/keep for dormant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&amp; low-interest channels, with reasons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3995928"/>
            <a:ext cx="3611880" cy="2240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4464" y="4197096"/>
            <a:ext cx="3200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F2F2F2"/>
                </a:solidFill>
                <a:latin typeface="Segoe UI"/>
              </a:rPr>
              <a:t>✨  </a:t>
            </a:r>
            <a:r>
              <a:rPr sz="1600" b="1">
                <a:solidFill>
                  <a:srgbClr val="FF3B3B"/>
                </a:solidFill>
                <a:latin typeface="Segoe UI"/>
              </a:rPr>
              <a:t>New Channel Recommend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4464" y="4910328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Reverse-trace interest videos to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surface 10 real, existing channels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03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611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2F2"/>
                </a:solidFill>
                <a:latin typeface="Segoe UI"/>
              </a:rPr>
              <a:t>Browser (Vanilla JS)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377440"/>
            <a:ext cx="31546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GIS token client (OAuth)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Direct YouTube Data API calls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Takeout file parsing (JS)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Render · filter · summary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96512" y="2926080"/>
            <a:ext cx="201168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79392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9392" y="1600200"/>
            <a:ext cx="3611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Segoe UI"/>
              </a:rPr>
              <a:t>Flask Server (app.py)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377440"/>
            <a:ext cx="31546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/api/analyze — score·sort·group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LRU cache (input-dependent key)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Heap Sort · Binary Search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7 LLM proxy endpoints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2984" y="2926080"/>
            <a:ext cx="201168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55864" y="1600200"/>
            <a:ext cx="361188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055864" y="1600200"/>
            <a:ext cx="3611880" cy="566928"/>
          </a:xfrm>
          <a:prstGeom prst="roundRect">
            <a:avLst/>
          </a:prstGeom>
          <a:solidFill>
            <a:srgbClr val="202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55864" y="1600200"/>
            <a:ext cx="3611880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Segoe UI"/>
              </a:rPr>
              <a:t>External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2377440"/>
            <a:ext cx="3154680" cy="23774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YouTube Data API v3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subscriptions · videos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search · commentThreads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Upstage Solar (solar-pro2)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120640"/>
            <a:ext cx="11183112" cy="114300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230368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Data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596128"/>
            <a:ext cx="1088136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OAuth login → collect subs·likes·comments → (optional) Takeout boost → </a:t>
            </a:r>
            <a:r>
              <a:rPr sz="1300" b="1">
                <a:solidFill>
                  <a:srgbClr val="F2F2F2"/>
                </a:solidFill>
                <a:latin typeface="Consolas"/>
              </a:rPr>
              <a:t>/api/analyze</a:t>
            </a:r>
            <a:r>
              <a:rPr sz="1300" b="0">
                <a:solidFill>
                  <a:srgbClr val="9A9AA2"/>
                </a:solidFill>
                <a:latin typeface="Segoe UI"/>
              </a:rPr>
              <a:t> scoring pipeline → group &amp; sort → render → </a:t>
            </a:r>
            <a:r>
              <a:rPr sz="1300" b="1">
                <a:solidFill>
                  <a:srgbClr val="2ECC71"/>
                </a:solidFill>
                <a:latin typeface="Segoe UI"/>
              </a:rPr>
              <a:t>AI Tools (LLM)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04 · USER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User Flow — 4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28212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dirty="0">
                <a:solidFill>
                  <a:srgbClr val="2ECC71"/>
                </a:solidFill>
                <a:latin typeface="Consolas"/>
              </a:rPr>
              <a:t>Google Login  →  Data Collection  →  Analysis Done</a:t>
            </a:r>
          </a:p>
        </p:txBody>
      </p:sp>
      <p:pic>
        <p:nvPicPr>
          <p:cNvPr id="8" name="Picture 7" descr="기본화면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31505"/>
            <a:ext cx="5486400" cy="2909389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pic>
        <p:nvPicPr>
          <p:cNvPr id="9" name="Picture 8" descr="로그인 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418730"/>
            <a:ext cx="5486400" cy="2934940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02920" y="6035040"/>
            <a:ext cx="5486400" cy="23596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Segoe UI"/>
              </a:rPr>
              <a:t>① </a:t>
            </a:r>
            <a:r>
              <a:rPr lang="en-US" sz="1200" dirty="0">
                <a:solidFill>
                  <a:srgbClr val="9A9AA2"/>
                </a:solidFill>
                <a:latin typeface="Segoe UI"/>
              </a:rPr>
              <a:t>L</a:t>
            </a:r>
            <a:r>
              <a:rPr sz="1200" b="0" dirty="0">
                <a:solidFill>
                  <a:srgbClr val="9A9AA2"/>
                </a:solidFill>
                <a:latin typeface="Segoe UI"/>
              </a:rPr>
              <a:t>og in with Google (</a:t>
            </a:r>
            <a:r>
              <a:rPr sz="1200" b="0" dirty="0" err="1">
                <a:solidFill>
                  <a:srgbClr val="9A9AA2"/>
                </a:solidFill>
                <a:latin typeface="Segoe UI"/>
              </a:rPr>
              <a:t>youtube.readonly</a:t>
            </a:r>
            <a:r>
              <a:rPr sz="1200" b="0" dirty="0">
                <a:solidFill>
                  <a:srgbClr val="9A9AA2"/>
                </a:solidFill>
                <a:latin typeface="Segoe UI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6035040"/>
            <a:ext cx="5486400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dirty="0">
                <a:solidFill>
                  <a:srgbClr val="9A9AA2"/>
                </a:solidFill>
                <a:latin typeface="Segoe UI"/>
              </a:rPr>
              <a:t>② (Optional</a:t>
            </a:r>
            <a:r>
              <a:rPr lang="en-US" sz="1200" b="0">
                <a:solidFill>
                  <a:srgbClr val="9A9AA2"/>
                </a:solidFill>
                <a:latin typeface="Segoe UI"/>
              </a:rPr>
              <a:t>, Recommended</a:t>
            </a:r>
            <a:r>
              <a:rPr sz="1200" b="0">
                <a:solidFill>
                  <a:srgbClr val="9A9AA2"/>
                </a:solidFill>
                <a:latin typeface="Segoe UI"/>
              </a:rPr>
              <a:t>) Upload Takeout → exact comments &amp; watch history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Scoring — 5-Stage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280160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280160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Weighted Activity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comments×5 + watch×3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+ likes×2 + sub bonus(+12)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Zero activity →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15768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493008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15768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Recency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2928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score × e^(−0.005·d)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d = days since last watch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8648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98648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Decay stale channels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18888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28616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705856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705856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Min-Max Normalize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65776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(s−min)/(max−min)×100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→ 0–100 relative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11496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11496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Within-user compare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31736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41464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918704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918704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41464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Binary Search Group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8624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boundaries [20·50·80]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→ 4 groups O(log k)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24344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24344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🔥 😊 👋 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44584" y="3108960"/>
            <a:ext cx="182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354312" y="1783080"/>
            <a:ext cx="2148840" cy="329184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0131552" y="1965960"/>
            <a:ext cx="566928" cy="566928"/>
          </a:xfrm>
          <a:prstGeom prst="round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31552" y="1965960"/>
            <a:ext cx="566928" cy="56692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2F2F2"/>
                </a:solidFill>
                <a:latin typeface="Segoe U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54312" y="2697480"/>
            <a:ext cx="21488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Heap Sort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91472" y="3246120"/>
            <a:ext cx="187452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custom max-heap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Consolas"/>
              </a:rPr>
              <a:t>descending O(n log n)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37192" y="4434840"/>
            <a:ext cx="1783080" cy="411480"/>
          </a:xfrm>
          <a:prstGeom prst="roundRect">
            <a:avLst/>
          </a:prstGeom>
          <a:solidFill>
            <a:srgbClr val="2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37192" y="4434840"/>
            <a:ext cx="1783080" cy="4114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4A844"/>
                </a:solidFill>
                <a:latin typeface="Segoe UI"/>
              </a:rPr>
              <a:t>Ranked output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5257800"/>
            <a:ext cx="11183112" cy="96012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1520" y="5349240"/>
            <a:ext cx="1078992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Segoe UI"/>
              </a:rPr>
              <a:t>+ LRU Cache</a:t>
            </a:r>
            <a:r>
              <a:rPr sz="1200" b="0">
                <a:solidFill>
                  <a:srgbClr val="9A9AA2"/>
                </a:solidFill>
                <a:latin typeface="Consolas"/>
              </a:rPr>
              <a:t>  (OrderedDict, input-dependent key)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Cache key = (id, comments, likes, watchCount, subMonths, lastWatchDays) → auto-invalidates on input change; repeat calls hit instantly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05 · ALGORITHM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Why "Zero Activity → 0 Points"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120640" cy="2377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Signal Weights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Comments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19456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19456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Writing = most active engagement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0604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Watch 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60604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60604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Real watching = strong preference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1752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Likes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01752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×2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01752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One click, medium 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14173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Long sub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429000"/>
            <a:ext cx="9144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Consolas"/>
              </a:rPr>
              <a:t>+0.5/mo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29000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>
                <a:solidFill>
                  <a:srgbClr val="9A9AA2"/>
                </a:solidFill>
                <a:latin typeface="Segoe UI"/>
              </a:rPr>
              <a:t>Only if active, 2yr cap (+12)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69080"/>
            <a:ext cx="5120640" cy="21945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Recency Decay  </a:t>
            </a:r>
            <a:r>
              <a:rPr sz="1300" b="0">
                <a:solidFill>
                  <a:srgbClr val="9A9AA2"/>
                </a:solidFill>
                <a:latin typeface="Consolas"/>
              </a:rPr>
              <a:t>e^(−0.005·d)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0.97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64792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64792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30d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64792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0.86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52344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52344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90d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52344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0.64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39896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39896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1yr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39896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0.16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27448" y="4709160"/>
            <a:ext cx="914400" cy="1280160"/>
          </a:xfrm>
          <a:prstGeom prst="roundRect">
            <a:avLst/>
          </a:prstGeom>
          <a:solidFill>
            <a:srgbClr val="1E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727448" y="4846320"/>
            <a:ext cx="914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3yr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7448" y="5257800"/>
            <a:ext cx="9144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2F2F2"/>
                </a:solidFill>
                <a:latin typeface="Consolas"/>
              </a:rPr>
              <a:t>≈0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52160" y="1554480"/>
            <a:ext cx="5833872" cy="47091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080760" y="1691640"/>
            <a:ext cx="53949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Segoe UI"/>
              </a:rPr>
              <a:t>Verified Results — same input, accurate demotion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2194560"/>
            <a:ext cx="5532120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80760" y="2194560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2F2F2"/>
                </a:solidFill>
                <a:latin typeface="Segoe UI"/>
              </a:rPr>
              <a:t>Channel case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219456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Cmt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219456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Likes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78440" y="219456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Watch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09960" y="219456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2F2F2"/>
                </a:solidFill>
                <a:latin typeface="Consolas"/>
              </a:rPr>
              <a:t>Score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ECC71"/>
                </a:solidFill>
                <a:latin typeface="Segoe UI"/>
              </a:rPr>
              <a:t>Watched 150× · 3 days ago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2761488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2761488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78440" y="2761488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150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09960" y="2761488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CC71"/>
                </a:solidFill>
                <a:latin typeface="Consolas"/>
              </a:rPr>
              <a:t>100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89320" y="3328416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80760" y="3328416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2F2F2"/>
                </a:solidFill>
                <a:latin typeface="Segoe UI"/>
              </a:rPr>
              <a:t>5yr active (cmt·likes)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3328416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328416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80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78440" y="3328416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09960" y="3328416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F2F2"/>
                </a:solidFill>
                <a:latin typeface="Consolas"/>
              </a:rPr>
              <a:t>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80760" y="3895344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Segoe UI"/>
              </a:rPr>
              <a:t>6mo active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69680" y="3895344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01200" y="3895344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78440" y="3895344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09960" y="3895344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9A9AA2"/>
                </a:solidFill>
                <a:latin typeface="Consolas"/>
              </a:rPr>
              <a:t>15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89320" y="4462272"/>
            <a:ext cx="5532120" cy="502920"/>
          </a:xfrm>
          <a:prstGeom prst="rect">
            <a:avLst/>
          </a:prstGeom>
          <a:solidFill>
            <a:srgbClr val="18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080760" y="4462272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F3B3B"/>
                </a:solidFill>
                <a:latin typeface="Segoe UI"/>
              </a:rPr>
              <a:t>Dormant 10 years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869680" y="4462272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4462272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78440" y="4462272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09960" y="4462272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5029200"/>
            <a:ext cx="274320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FF3B3B"/>
                </a:solidFill>
                <a:latin typeface="Segoe UI"/>
              </a:rPr>
              <a:t>Watched 50× · 1000 days ago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502920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502920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78440" y="5029200"/>
            <a:ext cx="731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9AA2"/>
                </a:solidFill>
                <a:latin typeface="Consolas"/>
              </a:rPr>
              <a:t>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9960" y="502920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Consolas"/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5715000"/>
            <a:ext cx="539496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→ Fixes the old trap (</a:t>
            </a:r>
            <a:r>
              <a:rPr sz="1200" b="1">
                <a:solidFill>
                  <a:srgbClr val="FF3B3B"/>
                </a:solidFill>
                <a:latin typeface="Segoe UI"/>
              </a:rPr>
              <a:t>10yr-dormant &gt; 6mo-active</a:t>
            </a:r>
            <a:r>
              <a:rPr sz="1200" b="0">
                <a:solidFill>
                  <a:srgbClr val="9A9AA2"/>
                </a:solidFill>
                <a:latin typeface="Segoe UI"/>
              </a:rPr>
              <a:t>) via "zero activity → 0"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06 · COURSE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Algorithms Actually Used in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Heap Sort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recursive heapify, max-heap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80560" y="1700784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 log 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121408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descending score sort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Binary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057400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boundary-array 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77272" y="1700784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177272" y="1700784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O(log k)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2121408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score → 4 groups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2825496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LRU Cache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218688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OrderedDict input key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80560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80560" y="2862072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282696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score cache · auto-invalidate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2715768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28232" y="2825496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Hash 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218688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likeMap·commentMap, etc.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77272" y="2862072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77272" y="2862072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 avg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88552" y="3282696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multi-channel aggregation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3986784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Min-Max Normalize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379976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linear scaling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80560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480560" y="4023360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4443984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0–100 scoring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3877056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28232" y="3986784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Recency Decay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8232" y="4379976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exponential exp(−λ·d)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177272" y="4023360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77272" y="4023360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552" y="4443984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watch-recency weighting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31520" y="5148072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Cursor Pagination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541264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nextPageToken loop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80560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80560" y="5184648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605272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collect all subs·likes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99632" y="5038344"/>
            <a:ext cx="5486400" cy="105156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28232" y="5148072"/>
            <a:ext cx="34747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Parallel Batch + Backoff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28232" y="5541264"/>
            <a:ext cx="38404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Promise.all 10 · 429 retry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177272" y="5184648"/>
            <a:ext cx="1325880" cy="365760"/>
          </a:xfrm>
          <a:prstGeom prst="roundRect">
            <a:avLst/>
          </a:prstGeom>
          <a:solidFill>
            <a:srgbClr val="1E2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177272" y="5184648"/>
            <a:ext cx="1325880" cy="3657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2ECC71"/>
                </a:solidFill>
                <a:latin typeface="Consolas"/>
              </a:rPr>
              <a:t>O(n/p)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88552" y="5605272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concurrent API fetch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300" b="1" dirty="0">
                <a:solidFill>
                  <a:srgbClr val="FF3B3B"/>
                </a:solidFill>
                <a:latin typeface="Consolas"/>
              </a:rPr>
              <a:t>07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RESULT - 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T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aste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G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raph</a:t>
            </a:r>
            <a:endParaRPr sz="1300" b="1" dirty="0">
              <a:solidFill>
                <a:srgbClr val="FF3B3B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>
                <a:solidFill>
                  <a:srgbClr val="F2F2F2"/>
                </a:solidFill>
                <a:latin typeface="Segoe UI"/>
              </a:rPr>
              <a:t>Taste Communities &amp; Map — Union-Find + MST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A9AA2"/>
                </a:solidFill>
                <a:latin typeface="Segoe UI"/>
              </a:rPr>
              <a:t>Build a weighted graph from channels — </a:t>
            </a:r>
            <a:r>
              <a:rPr sz="1350" b="1">
                <a:solidFill>
                  <a:srgbClr val="F2F2F2"/>
                </a:solidFill>
                <a:latin typeface="Segoe UI"/>
              </a:rPr>
              <a:t>an edge connects two channels when category cosine similarity ≥ threshold.</a:t>
            </a:r>
          </a:p>
        </p:txBody>
      </p:sp>
      <p:pic>
        <p:nvPicPr>
          <p:cNvPr id="8" name="Picture 7" descr="그래프 추가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44003"/>
            <a:ext cx="6720840" cy="358731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7452360" y="1874519"/>
            <a:ext cx="4233672" cy="45262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08392" y="2084831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ECC71"/>
                </a:solidFill>
                <a:latin typeface="Segoe UI"/>
              </a:rPr>
              <a:t>🔗  Taste Communities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8392" y="2432304"/>
            <a:ext cx="3749039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Union-Find · connected components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08392" y="2743200"/>
            <a:ext cx="3749039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• Group channels into taste clusters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• Each community labeled by 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dominant category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379476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A97BE8"/>
                </a:solidFill>
                <a:latin typeface="Segoe UI"/>
              </a:rPr>
              <a:t>🗺️  Taste 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08392" y="4142232"/>
            <a:ext cx="3749039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Kruskal · maximum spanning forest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8392" y="4453128"/>
            <a:ext cx="3749039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• Minimal backbone linking your taste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• Rendered as a force-directed SVG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(node size = interest score)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8392" y="5532120"/>
            <a:ext cx="3703320" cy="713232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45552" y="5614416"/>
            <a:ext cx="347472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FF3B3B"/>
                </a:solidFill>
                <a:latin typeface="Consolas"/>
              </a:rPr>
              <a:t>Algorithms</a:t>
            </a:r>
            <a:r>
              <a:rPr sz="1100" b="0">
                <a:solidFill>
                  <a:srgbClr val="9A9AA2"/>
                </a:solidFill>
                <a:latin typeface="Segoe UI"/>
              </a:rPr>
              <a:t>  Union-Find · Kruskal MST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Segoe UI"/>
              </a:rPr>
              <a:t>Reuses categoryScores vectors → </a:t>
            </a:r>
            <a:r>
              <a:rPr sz="1100" b="1">
                <a:solidFill>
                  <a:srgbClr val="2ECC71"/>
                </a:solidFill>
                <a:latin typeface="Segoe UI"/>
              </a:rPr>
              <a:t>0 extra API</a:t>
            </a:r>
          </a:p>
        </p:txBody>
      </p:sp>
    </p:spTree>
    <p:extLst>
      <p:ext uri="{BB962C8B-B14F-4D97-AF65-F5344CB8AC3E}">
        <p14:creationId xmlns:p14="http://schemas.microsoft.com/office/powerpoint/2010/main" val="259452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FF3B3B"/>
                </a:solidFill>
                <a:latin typeface="Consolas"/>
              </a:rPr>
              <a:t>0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8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RESULT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 – Interest Ranking</a:t>
            </a:r>
            <a:endParaRPr sz="1300" b="1" dirty="0">
              <a:solidFill>
                <a:srgbClr val="FF3B3B"/>
              </a:solidFill>
              <a:latin typeface="Consola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Result — Interest Ranking + AI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02920" y="1954948"/>
            <a:ext cx="7406640" cy="395394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Screen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Per-channel </a:t>
            </a:r>
            <a:r>
              <a:rPr sz="1300" b="1">
                <a:solidFill>
                  <a:srgbClr val="F2F2F2"/>
                </a:solidFill>
                <a:latin typeface="Segoe UI"/>
              </a:rPr>
              <a:t>Interest Score·rank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Segoe UI"/>
              </a:rPr>
              <a:t>  (#rank · cmt · likes · subs)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1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Zero-score channels sorted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to the bottom as dormant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Bottom </a:t>
            </a:r>
            <a:r>
              <a:rPr sz="1300" b="1">
                <a:solidFill>
                  <a:srgbClr val="2ECC71"/>
                </a:solidFill>
                <a:latin typeface="Segoe UI"/>
              </a:rPr>
              <a:t>🤖 AI Analysis Tools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— 3 selectable modes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Viewing-Taste Persona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Subscription Cleanup Coach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- New Channel Recommendation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• Floating button re-opens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  the tools anytime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FF3B3B"/>
                </a:solidFill>
                <a:latin typeface="Consolas"/>
              </a:rPr>
              <a:t>0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9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Viewing-Taste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페르소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5048"/>
            <a:ext cx="7406640" cy="3953743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3B3B"/>
                </a:solidFill>
                <a:latin typeface="Segoe UI"/>
              </a:rPr>
              <a:t>Solar LLM Interpretation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Takes channel scores &amp;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category distribution, then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writes one taste report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Segoe UI"/>
              </a:rPr>
              <a:t>Example result: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"Solo-cooking + Game/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 History buff"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1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Solo-Cooking Master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Game Strategist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History + Slang buff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• Healthy-Food Experimenter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Segoe UI"/>
              </a:rPr>
              <a:t>→ tags·subtitles·summary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A6A72"/>
                </a:solidFill>
                <a:latin typeface="Segoe UI"/>
              </a:rPr>
              <a:t>   as structured 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300" b="1" dirty="0">
                <a:solidFill>
                  <a:srgbClr val="FF3B3B"/>
                </a:solidFill>
                <a:latin typeface="Consolas"/>
              </a:rPr>
              <a:t>10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Subscription Cleanup Coach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구독 정리 코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54949"/>
            <a:ext cx="7406640" cy="3953942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8092440" y="1463040"/>
            <a:ext cx="359359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169164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3B3B"/>
                </a:solidFill>
                <a:latin typeface="Segoe UI"/>
              </a:rPr>
              <a:t>Cleanup Logic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40280"/>
            <a:ext cx="3246120" cy="40233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LLM judges dormant &amp;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low-interest channels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A9AA2"/>
                </a:solidFill>
                <a:latin typeface="Segoe UI"/>
              </a:rPr>
              <a:t>(score &lt; 20)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3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🔴 </a:t>
            </a:r>
            <a:r>
              <a:rPr sz="1300" b="1">
                <a:solidFill>
                  <a:srgbClr val="FF3B3B"/>
                </a:solidFill>
                <a:latin typeface="Segoe UI"/>
              </a:rPr>
              <a:t>Drop Recommended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long inactivity (2yr+)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🟡 </a:t>
            </a:r>
            <a:r>
              <a:rPr sz="1300" b="1">
                <a:solidFill>
                  <a:srgbClr val="F4A844"/>
                </a:solidFill>
                <a:latin typeface="Segoe UI"/>
              </a:rPr>
              <a:t>Keep for Now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 inactive within 1 year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Each with a stated reason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("active ~1530 days ago,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inactive 51 months")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FF3B3B"/>
                </a:solidFill>
                <a:latin typeface="Consolas"/>
              </a:rPr>
              <a:t>1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1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AI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51296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Channel </a:t>
            </a:r>
            <a:r>
              <a:rPr sz="3000" b="1" dirty="0">
                <a:solidFill>
                  <a:srgbClr val="F2F2F2"/>
                </a:solidFill>
                <a:latin typeface="Segoe UI"/>
              </a:rPr>
              <a:t>Recommendation — Video-First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906287" y="1329301"/>
            <a:ext cx="5094770" cy="2731949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086600" y="1463040"/>
            <a:ext cx="4599432" cy="493776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0" y="1645920"/>
            <a:ext cx="42062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3B3B"/>
                </a:solidFill>
                <a:latin typeface="Segoe UI"/>
              </a:rPr>
              <a:t>Anti-hallucination: don't invent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3B3B"/>
                </a:solidFill>
                <a:latin typeface="Segoe UI"/>
              </a:rPr>
              <a:t>names — reverse-trace real videos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46888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Extract interest keywords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77063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top channels + recent titles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18688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21868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Search videos per keyword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520440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search.list → collect channelId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968496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96849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Aggregate channelId frequency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270248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2+ keywords = real topic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718304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71830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Profile candidates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020056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real desc·titles (1 unit)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468112"/>
            <a:ext cx="4572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CC71"/>
                </a:solidFill>
                <a:latin typeface="Segoe UI"/>
              </a:rPr>
              <a:t>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5468112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2F2F2"/>
                </a:solidFill>
                <a:latin typeface="Segoe UI"/>
              </a:rPr>
              <a:t>LLM curation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769864"/>
            <a:ext cx="3749039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A9AA2"/>
                </a:solidFill>
                <a:latin typeface="Consolas"/>
              </a:rPr>
              <a:t>rank · reason · fit decision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A6A72"/>
                </a:solidFill>
                <a:latin typeface="Segoe UI"/>
              </a:rPr>
              <a:t>Costly search(100u) only at ②, deep profiling at 1u → quota saved</a:t>
            </a:r>
          </a:p>
        </p:txBody>
      </p:sp>
      <p:pic>
        <p:nvPicPr>
          <p:cNvPr id="26" name="Picture 6">
            <a:extLst>
              <a:ext uri="{FF2B5EF4-FFF2-40B4-BE49-F238E27FC236}">
                <a16:creationId xmlns:a16="http://schemas.microsoft.com/office/drawing/2014/main" id="{30383C1C-7B24-148C-3724-379698AD63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06287" y="4144999"/>
            <a:ext cx="5094770" cy="2201168"/>
          </a:xfrm>
          <a:prstGeom prst="rect">
            <a:avLst/>
          </a:prstGeom>
          <a:ln w="12700">
            <a:solidFill>
              <a:srgbClr val="33333A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DEV · CATEGORY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F2F2F2"/>
                </a:solidFill>
                <a:latin typeface="Segoe UI"/>
              </a:rPr>
              <a:t>Category Classification System — Deterministic + Cosine Similarity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Added during development — auto-classifies channels into categories, a shared base for </a:t>
            </a:r>
            <a:r>
              <a:rPr sz="1400" b="1">
                <a:solidFill>
                  <a:srgbClr val="F2F2F2"/>
                </a:solidFill>
                <a:latin typeface="Segoe UI"/>
              </a:rPr>
              <a:t>recommendation · similar channels · persona. </a:t>
            </a:r>
            <a:r>
              <a:rPr sz="1400" b="1">
                <a:solidFill>
                  <a:srgbClr val="2ECC71"/>
                </a:solidFill>
                <a:latin typeface="Segoe UI"/>
              </a:rPr>
              <a:t>Rule-based core (0 LLM) + optional Solar LLM refinement.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📚  </a:t>
            </a:r>
            <a:r>
              <a:rPr sz="1500" b="1">
                <a:solidFill>
                  <a:srgbClr val="F4A844"/>
                </a:solidFill>
                <a:latin typeface="Segoe UI"/>
              </a:rPr>
              <a:t>Keyword Lexicon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87168"/>
            <a:ext cx="32004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category_list.yaml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14 top categories + sub-details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core / general two-tier weights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Korean = substring match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English = word-boundary regex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e.g. "ai" won't match "email"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2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🏷️  </a:t>
            </a:r>
            <a:r>
              <a:rPr sz="1500" b="1">
                <a:solidFill>
                  <a:srgbClr val="2ECC71"/>
                </a:solidFill>
                <a:latin typeface="Segoe UI"/>
              </a:rPr>
              <a:t>Deterministic Classify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487168"/>
            <a:ext cx="32004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classify_channel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834640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Match keywords in name + desc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+ recent video titles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categoryScores vector (top-N,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normalized to sum = 1)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LRU cache (versioned key), cost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1920240"/>
            <a:ext cx="3611880" cy="315468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84464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🧭  </a:t>
            </a:r>
            <a:r>
              <a:rPr sz="1500" b="1">
                <a:solidFill>
                  <a:srgbClr val="FF3B3B"/>
                </a:solidFill>
                <a:latin typeface="Segoe UI"/>
              </a:rPr>
              <a:t>Cosine Similarity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487168"/>
            <a:ext cx="3200400" cy="29260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A6A72"/>
                </a:solidFill>
                <a:latin typeface="Consolas"/>
              </a:rPr>
              <a:t>attach_similarity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2834640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Reuse categoryScores vectors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Representativeness vs taste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centroid (score-weighted)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Top-K similar channels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vector math only — 0 extra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57800"/>
            <a:ext cx="11183112" cy="1481328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5358384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3B3B"/>
                </a:solidFill>
                <a:latin typeface="Consolas"/>
              </a:rPr>
              <a:t>Algorithms introduced</a:t>
            </a:r>
            <a:r>
              <a:rPr sz="1200" b="0">
                <a:solidFill>
                  <a:srgbClr val="9A9AA2"/>
                </a:solidFill>
                <a:latin typeface="Segoe UI"/>
              </a:rPr>
              <a:t>   Cosine Similarity · Weighted Keyword Matching · Vector Normalization · LRU Cache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99632"/>
            <a:ext cx="108813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2F2F2"/>
                </a:solidFill>
                <a:latin typeface="Segoe UI"/>
              </a:rPr>
              <a:t>→ This classification directly enables the next step's </a:t>
            </a:r>
            <a:r>
              <a:rPr sz="1300" b="1">
                <a:solidFill>
                  <a:srgbClr val="F4A844"/>
                </a:solidFill>
                <a:latin typeface="Segoe UI"/>
              </a:rPr>
              <a:t>category diversity</a:t>
            </a:r>
            <a:r>
              <a:rPr sz="1300" b="0">
                <a:solidFill>
                  <a:srgbClr val="9A9AA2"/>
                </a:solidFill>
                <a:latin typeface="Segoe UI"/>
              </a:rPr>
              <a:t> in recommendations (≥1 each for cooking·economy·gaming).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42432"/>
            <a:ext cx="10881360" cy="411480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/>
            <a:r>
              <a:rPr sz="1200" b="1">
                <a:solidFill>
                  <a:srgbClr val="FF3B3B"/>
                </a:solidFill>
                <a:latin typeface="Consolas"/>
              </a:rPr>
              <a:t>Accuracy pipeline</a:t>
            </a:r>
            <a:r>
              <a:rPr sz="1200" b="0">
                <a:solidFill>
                  <a:srgbClr val="F2F2F2"/>
                </a:solidFill>
                <a:latin typeface="Segoe UI"/>
              </a:rPr>
              <a:t>   Rule-based classify → Video-title 2-pass → Solar LLM correction</a:t>
            </a:r>
            <a:r>
              <a:rPr sz="1150" b="0">
                <a:solidFill>
                  <a:srgbClr val="9A9AA2"/>
                </a:solidFill>
                <a:latin typeface="Segoe UI"/>
              </a:rPr>
              <a:t>   (fills unclassified · fixes mis-tags)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Consolas"/>
              </a:rPr>
              <a:t>DEV · SMART 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F2F2F2"/>
                </a:solidFill>
                <a:latin typeface="Segoe UI"/>
              </a:rPr>
              <a:t>Recommendation Upgrade — Watch History · Category Diversity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Beyond subscriptions: reflect </a:t>
            </a:r>
            <a:r>
              <a:rPr sz="1400" b="1">
                <a:solidFill>
                  <a:srgbClr val="F2F2F2"/>
                </a:solidFill>
                <a:latin typeface="Segoe UI"/>
              </a:rPr>
              <a:t>recent watch history</a:t>
            </a:r>
            <a:r>
              <a:rPr sz="1400" b="0">
                <a:solidFill>
                  <a:srgbClr val="9A9AA2"/>
                </a:solidFill>
                <a:latin typeface="Segoe UI"/>
              </a:rPr>
              <a:t>, and recommend </a:t>
            </a:r>
            <a:r>
              <a:rPr sz="1400" b="1">
                <a:solidFill>
                  <a:srgbClr val="F2F2F2"/>
                </a:solidFill>
                <a:latin typeface="Segoe UI"/>
              </a:rPr>
              <a:t>evenly across interests</a:t>
            </a:r>
            <a:r>
              <a:rPr sz="1400" b="0">
                <a:solidFill>
                  <a:srgbClr val="9A9AA2"/>
                </a:solidFill>
                <a:latin typeface="Segoe UI"/>
              </a:rPr>
              <a:t> instead of one dominant category.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📺  </a:t>
            </a:r>
            <a:r>
              <a:rPr sz="1500" b="1">
                <a:solidFill>
                  <a:srgbClr val="2ECC71"/>
                </a:solidFill>
                <a:latin typeface="Segoe UI"/>
              </a:rPr>
              <a:t>Reflect Watched-but-Unsub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78608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"Recently watched but not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subscribed" channels as a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separate recommendation section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Noise cut: 2+ times within 90 days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Rank by frequency × recency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always an 'addition', not 'replace'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07992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🌱  </a:t>
            </a:r>
            <a:r>
              <a:rPr sz="1500" b="1">
                <a:solidFill>
                  <a:srgbClr val="F4A844"/>
                </a:solidFill>
                <a:latin typeface="Segoe UI"/>
              </a:rPr>
              <a:t>Taste Seed Expansion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2578608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Feed video titles of watched-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unsubscribed channels into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discovery keywords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Based on what you actually watch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Titles embedded → zero API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broader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920240"/>
            <a:ext cx="3611880" cy="3200400"/>
          </a:xfrm>
          <a:prstGeom prst="roundRect">
            <a:avLst/>
          </a:prstGeom>
          <a:solidFill>
            <a:srgbClr val="161619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84464" y="2103120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2F2F2"/>
                </a:solidFill>
                <a:latin typeface="Segoe UI"/>
              </a:rPr>
              <a:t>🎯  </a:t>
            </a:r>
            <a:r>
              <a:rPr sz="1500" b="1">
                <a:solidFill>
                  <a:srgbClr val="FF3B3B"/>
                </a:solidFill>
                <a:latin typeface="Segoe UI"/>
              </a:rPr>
              <a:t>Category Diversity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578608"/>
            <a:ext cx="3200400" cy="21945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Derive interest categories from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subscription classification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Balanced keyword extraction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9AA2"/>
                </a:solidFill>
                <a:latin typeface="Segoe UI"/>
              </a:rPr>
              <a:t>  (round-robin)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F2F2F2"/>
                </a:solidFill>
                <a:latin typeface="Segoe UI"/>
              </a:rPr>
              <a:t>• Guarantee ≥1 per category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6A6A72"/>
                </a:solidFill>
                <a:latin typeface="Segoe UI"/>
              </a:rPr>
              <a:t>→ fixes "cooking-only" skew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9240"/>
            <a:ext cx="11183112" cy="914400"/>
          </a:xfrm>
          <a:prstGeom prst="roundRect">
            <a:avLst/>
          </a:prstGeom>
          <a:solidFill>
            <a:srgbClr val="1212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5449824"/>
            <a:ext cx="1078992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3B3B"/>
                </a:solidFill>
                <a:latin typeface="Consolas"/>
              </a:rPr>
              <a:t>Result screen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97296"/>
            <a:ext cx="1088136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ECC71"/>
                </a:solidFill>
                <a:latin typeface="Segoe UI"/>
              </a:rPr>
              <a:t>📺 Recently watched, not subscribed</a:t>
            </a:r>
            <a:r>
              <a:rPr sz="1300" b="0">
                <a:solidFill>
                  <a:srgbClr val="6A6A72"/>
                </a:solidFill>
                <a:latin typeface="Segoe UI"/>
              </a:rPr>
              <a:t>  +  </a:t>
            </a:r>
            <a:r>
              <a:rPr sz="1300" b="1">
                <a:solidFill>
                  <a:srgbClr val="FF3B3B"/>
                </a:solidFill>
                <a:latin typeface="Segoe UI"/>
              </a:rPr>
              <a:t>✨ Taste-based new channels</a:t>
            </a:r>
            <a:r>
              <a:rPr sz="1200" b="0">
                <a:solidFill>
                  <a:srgbClr val="9A9AA2"/>
                </a:solidFill>
                <a:latin typeface="Segoe UI"/>
              </a:rPr>
              <a:t>   shown together (LLM-name fallback if discovery fails / not logged in)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FF3B3B"/>
                </a:solidFill>
                <a:latin typeface="Consolas"/>
              </a:rPr>
              <a:t>1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2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DATA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Takeout Hybrid — Cost vs Accuracy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YouTube API can't fetch your full comment/watch history → </a:t>
            </a:r>
            <a:r>
              <a:rPr sz="1400" b="1">
                <a:solidFill>
                  <a:srgbClr val="F2F2F2"/>
                </a:solidFill>
                <a:latin typeface="Segoe UI"/>
              </a:rPr>
              <a:t>take Google Takeout files as auxiliary input to boost accuracy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11680"/>
            <a:ext cx="11183112" cy="502920"/>
          </a:xfrm>
          <a:prstGeom prst="rect">
            <a:avLst/>
          </a:prstGeom>
          <a:solidFill>
            <a:srgbClr val="242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288036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011680"/>
            <a:ext cx="21031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User Effort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011680"/>
            <a:ext cx="301752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API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011680"/>
            <a:ext cx="315468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3B3B"/>
                </a:solidFill>
                <a:latin typeface="Segoe UI"/>
              </a:rPr>
              <a:t>Accuracy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542032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A9AA2"/>
                </a:solidFill>
                <a:latin typeface="Segoe UI"/>
              </a:rPr>
              <a:t>Neither uploaded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42032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none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542032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commentThreads × #channels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542032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approx comments · no watch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255264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Segoe UI"/>
              </a:rPr>
              <a:t>comments.csv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255264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 upload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255264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videos.list × #videos/50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255264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exact comments · no watch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968496"/>
            <a:ext cx="11183112" cy="658368"/>
          </a:xfrm>
          <a:prstGeom prst="rect">
            <a:avLst/>
          </a:prstGeom>
          <a:solidFill>
            <a:srgbClr val="16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968496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2F2F2"/>
                </a:solidFill>
                <a:latin typeface="Segoe UI"/>
              </a:rPr>
              <a:t>watch-history.json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968496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1 upload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968496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0 units (channelId in subtitles)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968496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2F2F2"/>
                </a:solidFill>
                <a:latin typeface="Segoe UI"/>
              </a:rPr>
              <a:t>exact watch · approx comments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81728"/>
            <a:ext cx="11183112" cy="658368"/>
          </a:xfrm>
          <a:prstGeom prst="rect">
            <a:avLst/>
          </a:prstGeom>
          <a:solidFill>
            <a:srgbClr val="1422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4681728"/>
            <a:ext cx="288036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ECC71"/>
                </a:solidFill>
                <a:latin typeface="Segoe UI"/>
              </a:rPr>
              <a:t>Both 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81728"/>
            <a:ext cx="21031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2 uploads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0" y="4681728"/>
            <a:ext cx="301752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9A9AA2"/>
                </a:solidFill>
                <a:latin typeface="Consolas"/>
              </a:rPr>
              <a:t>comment video-resolve only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681728"/>
            <a:ext cx="3154680" cy="65836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ECC71"/>
                </a:solidFill>
                <a:latin typeface="Segoe UI"/>
              </a:rPr>
              <a:t>all exact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669280"/>
            <a:ext cx="1115568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A844"/>
                </a:solidFill>
                <a:latin typeface="Segoe UI"/>
              </a:rPr>
              <a:t>Auto file detection: </a:t>
            </a:r>
            <a:r>
              <a:rPr sz="1300" b="0">
                <a:solidFill>
                  <a:srgbClr val="9A9AA2"/>
                </a:solidFill>
                <a:latin typeface="Segoe UI"/>
              </a:rPr>
              <a:t>filename (watch/comment) + first 4KB content (titleUrl·subtitles patterns) auto-routes the type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watch-history.json embeds channelId in subtitles[0].url → </a:t>
            </a:r>
            <a:r>
              <a:rPr sz="1200" b="1">
                <a:solidFill>
                  <a:srgbClr val="2ECC71"/>
                </a:solidFill>
                <a:latin typeface="Segoe UI"/>
              </a:rPr>
              <a:t>0 API calls</a:t>
            </a:r>
            <a:r>
              <a:rPr sz="1200" b="0">
                <a:solidFill>
                  <a:srgbClr val="9A9AA2"/>
                </a:solidFill>
                <a:latin typeface="Segoe UI"/>
              </a:rPr>
              <a:t> to extract watch count &amp; last-watch date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11155680" cy="251351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dirty="0">
                <a:solidFill>
                  <a:srgbClr val="FF3B3B"/>
                </a:solidFill>
                <a:latin typeface="Consolas"/>
              </a:rPr>
              <a:t>1</a:t>
            </a:r>
            <a:r>
              <a:rPr lang="en-US" sz="1300" b="1" dirty="0">
                <a:solidFill>
                  <a:srgbClr val="FF3B3B"/>
                </a:solidFill>
                <a:latin typeface="Consolas"/>
              </a:rPr>
              <a:t>3</a:t>
            </a:r>
            <a:r>
              <a:rPr sz="1300" b="1" dirty="0">
                <a:solidFill>
                  <a:srgbClr val="FF3B3B"/>
                </a:solidFill>
                <a:latin typeface="Consolas"/>
              </a:rPr>
              <a:t> · LIMITS &amp;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155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2F2"/>
                </a:solidFill>
                <a:latin typeface="Segoe UI"/>
              </a:rPr>
              <a:t>Limitations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07008"/>
            <a:ext cx="1920240" cy="31750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920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937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F3B3B"/>
                </a:solidFill>
                <a:latin typeface="Segoe UI"/>
              </a:rPr>
              <a:t>Current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YouTube API daily quota </a:t>
            </a:r>
            <a:r>
              <a:rPr sz="1400" b="1">
                <a:solidFill>
                  <a:srgbClr val="F4A844"/>
                </a:solidFill>
                <a:latin typeface="Segoe UI"/>
              </a:rPr>
              <a:t>10,000 units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single GCP project shared by all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OAuth access_token </a:t>
            </a:r>
            <a:r>
              <a:rPr sz="1400" b="1">
                <a:solidFill>
                  <a:srgbClr val="F4A844"/>
                </a:solidFill>
                <a:latin typeface="Segoe UI"/>
              </a:rPr>
              <a:t>expires in 1h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no refresh logic (one-shot token)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Comment API approx: scans only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last 100 per channel → use Takeout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200" b="0">
              <a:solidFill>
                <a:srgbClr val="9A9AA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• Score is </a:t>
            </a:r>
            <a:r>
              <a:rPr sz="1400" b="1">
                <a:solidFill>
                  <a:srgbClr val="F4A844"/>
                </a:solidFill>
                <a:latin typeface="Segoe UI"/>
              </a:rPr>
              <a:t>relative</a:t>
            </a:r>
            <a:r>
              <a:rPr sz="1400" b="0">
                <a:solidFill>
                  <a:srgbClr val="9A9AA2"/>
                </a:solidFill>
                <a:latin typeface="Segoe UI"/>
              </a:rPr>
              <a:t> — not cross-user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554480"/>
            <a:ext cx="5486400" cy="4663440"/>
          </a:xfrm>
          <a:prstGeom prst="round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73952" y="1737360"/>
            <a:ext cx="49377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CC71"/>
                </a:solidFill>
                <a:latin typeface="Segoe UI"/>
              </a:rP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286000"/>
            <a:ext cx="4983480" cy="3840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Refresh Token → long-running analysis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Save results · compare trends over time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One-click subscribe to recommendations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Category clustering visualization (charts)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1400" b="0">
              <a:solidFill>
                <a:srgbClr val="F2F2F2"/>
              </a:solidFill>
              <a:latin typeface="Segoe UI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2F2F2"/>
                </a:solidFill>
                <a:latin typeface="Segoe UI"/>
              </a:rPr>
              <a:t>✓ Publish OAuth consent screen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A9AA2"/>
                </a:solidFill>
                <a:latin typeface="Segoe UI"/>
              </a:rPr>
              <a:t>  → lift 100 test-user limit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1835</Words>
  <Application>Microsoft Office PowerPoint</Application>
  <PresentationFormat>와이드스크린</PresentationFormat>
  <Paragraphs>392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Arial</vt:lpstr>
      <vt:lpstr>Calibri</vt:lpstr>
      <vt:lpstr>Consolas</vt:lpstr>
      <vt:lpstr>Segoe UI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명준 송</cp:lastModifiedBy>
  <cp:revision>1</cp:revision>
  <dcterms:created xsi:type="dcterms:W3CDTF">2013-01-27T09:14:16Z</dcterms:created>
  <dcterms:modified xsi:type="dcterms:W3CDTF">2026-06-02T04:53:17Z</dcterms:modified>
  <cp:category/>
</cp:coreProperties>
</file>