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F971D4-CDB2-4822-BC53-288A61021AA8}" v="10" dt="2026-06-02T01:23:04.6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명준 송" userId="7e48128a0c33bc37" providerId="LiveId" clId="{A62D5C53-2774-4FE3-8307-3525D25D70A4}"/>
    <pc:docChg chg="undo custSel delSld modSld">
      <pc:chgData name="명준 송" userId="7e48128a0c33bc37" providerId="LiveId" clId="{A62D5C53-2774-4FE3-8307-3525D25D70A4}" dt="2026-06-02T01:25:19.829" v="360" actId="1038"/>
      <pc:docMkLst>
        <pc:docMk/>
      </pc:docMkLst>
      <pc:sldChg chg="modSp mod">
        <pc:chgData name="명준 송" userId="7e48128a0c33bc37" providerId="LiveId" clId="{A62D5C53-2774-4FE3-8307-3525D25D70A4}" dt="2026-06-02T01:16:01.692" v="166" actId="20577"/>
        <pc:sldMkLst>
          <pc:docMk/>
          <pc:sldMk cId="0" sldId="257"/>
        </pc:sldMkLst>
        <pc:spChg chg="mod">
          <ac:chgData name="명준 송" userId="7e48128a0c33bc37" providerId="LiveId" clId="{A62D5C53-2774-4FE3-8307-3525D25D70A4}" dt="2026-06-02T01:15:55.130" v="156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5:14.635" v="99" actId="20577"/>
          <ac:spMkLst>
            <pc:docMk/>
            <pc:sldMk cId="0" sldId="257"/>
            <ac:spMk id="9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6:01.692" v="166" actId="20577"/>
          <ac:spMkLst>
            <pc:docMk/>
            <pc:sldMk cId="0" sldId="257"/>
            <ac:spMk id="11" creationId="{00000000-0000-0000-0000-000000000000}"/>
          </ac:spMkLst>
        </pc:spChg>
      </pc:sldChg>
      <pc:sldChg chg="addSp delSp modSp mod">
        <pc:chgData name="명준 송" userId="7e48128a0c33bc37" providerId="LiveId" clId="{A62D5C53-2774-4FE3-8307-3525D25D70A4}" dt="2026-06-02T01:14:26.088" v="79" actId="1038"/>
        <pc:sldMkLst>
          <pc:docMk/>
          <pc:sldMk cId="0" sldId="259"/>
        </pc:sldMkLst>
        <pc:spChg chg="del mod">
          <ac:chgData name="명준 송" userId="7e48128a0c33bc37" providerId="LiveId" clId="{A62D5C53-2774-4FE3-8307-3525D25D70A4}" dt="2026-06-02T01:12:22.527" v="46" actId="21"/>
          <ac:spMkLst>
            <pc:docMk/>
            <pc:sldMk cId="0" sldId="259"/>
            <ac:spMk id="2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2:15.413" v="43" actId="1076"/>
          <ac:spMkLst>
            <pc:docMk/>
            <pc:sldMk cId="0" sldId="259"/>
            <ac:spMk id="5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14.522" v="34" actId="164"/>
          <ac:spMkLst>
            <pc:docMk/>
            <pc:sldMk cId="0" sldId="259"/>
            <ac:spMk id="7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14.522" v="34" actId="164"/>
          <ac:spMkLst>
            <pc:docMk/>
            <pc:sldMk cId="0" sldId="259"/>
            <ac:spMk id="8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14.522" v="34" actId="164"/>
          <ac:spMkLst>
            <pc:docMk/>
            <pc:sldMk cId="0" sldId="259"/>
            <ac:spMk id="9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3:02.835" v="54" actId="164"/>
          <ac:spMkLst>
            <pc:docMk/>
            <pc:sldMk cId="0" sldId="259"/>
            <ac:spMk id="10" creationId="{00000000-0000-0000-0000-000000000000}"/>
          </ac:spMkLst>
        </pc:spChg>
        <pc:spChg chg="mod ord">
          <ac:chgData name="명준 송" userId="7e48128a0c33bc37" providerId="LiveId" clId="{A62D5C53-2774-4FE3-8307-3525D25D70A4}" dt="2026-06-02T01:14:19.681" v="69" actId="1038"/>
          <ac:spMkLst>
            <pc:docMk/>
            <pc:sldMk cId="0" sldId="259"/>
            <ac:spMk id="11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2:35.310" v="47" actId="164"/>
          <ac:spMkLst>
            <pc:docMk/>
            <pc:sldMk cId="0" sldId="259"/>
            <ac:spMk id="12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2:35.310" v="47" actId="164"/>
          <ac:spMkLst>
            <pc:docMk/>
            <pc:sldMk cId="0" sldId="259"/>
            <ac:spMk id="13" creationId="{00000000-0000-0000-0000-000000000000}"/>
          </ac:spMkLst>
        </pc:spChg>
        <pc:spChg chg="mod ord">
          <ac:chgData name="명준 송" userId="7e48128a0c33bc37" providerId="LiveId" clId="{A62D5C53-2774-4FE3-8307-3525D25D70A4}" dt="2026-06-02T01:12:35.310" v="47" actId="16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3:21.665" v="55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4:26.088" v="79" actId="1038"/>
          <ac:spMkLst>
            <pc:docMk/>
            <pc:sldMk cId="0" sldId="259"/>
            <ac:spMk id="16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30.265" v="35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30.265" v="35" actId="164"/>
          <ac:spMkLst>
            <pc:docMk/>
            <pc:sldMk cId="0" sldId="259"/>
            <ac:spMk id="18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30.265" v="35" actId="164"/>
          <ac:spMkLst>
            <pc:docMk/>
            <pc:sldMk cId="0" sldId="259"/>
            <ac:spMk id="19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3:39.471" v="56" actId="164"/>
          <ac:spMkLst>
            <pc:docMk/>
            <pc:sldMk cId="0" sldId="259"/>
            <ac:spMk id="20" creationId="{00000000-0000-0000-0000-000000000000}"/>
          </ac:spMkLst>
        </pc:spChg>
        <pc:spChg chg="add mod ord">
          <ac:chgData name="명준 송" userId="7e48128a0c33bc37" providerId="LiveId" clId="{A62D5C53-2774-4FE3-8307-3525D25D70A4}" dt="2026-06-02T01:12:39.127" v="49" actId="167"/>
          <ac:spMkLst>
            <pc:docMk/>
            <pc:sldMk cId="0" sldId="259"/>
            <ac:spMk id="28" creationId="{00000000-0000-0000-0000-000000000000}"/>
          </ac:spMkLst>
        </pc:spChg>
        <pc:grpChg chg="add mod">
          <ac:chgData name="명준 송" userId="7e48128a0c33bc37" providerId="LiveId" clId="{A62D5C53-2774-4FE3-8307-3525D25D70A4}" dt="2026-06-02T01:13:02.835" v="54" actId="164"/>
          <ac:grpSpMkLst>
            <pc:docMk/>
            <pc:sldMk cId="0" sldId="259"/>
            <ac:grpSpMk id="24" creationId="{28CE0282-72B1-59FD-9BBC-60B48375ABC0}"/>
          </ac:grpSpMkLst>
        </pc:grpChg>
        <pc:grpChg chg="add mod">
          <ac:chgData name="명준 송" userId="7e48128a0c33bc37" providerId="LiveId" clId="{A62D5C53-2774-4FE3-8307-3525D25D70A4}" dt="2026-06-02T01:13:39.471" v="56" actId="164"/>
          <ac:grpSpMkLst>
            <pc:docMk/>
            <pc:sldMk cId="0" sldId="259"/>
            <ac:grpSpMk id="25" creationId="{CE410F3B-4548-F9A8-A612-FFCF8DF4C65D}"/>
          </ac:grpSpMkLst>
        </pc:grpChg>
        <pc:grpChg chg="add mod">
          <ac:chgData name="명준 송" userId="7e48128a0c33bc37" providerId="LiveId" clId="{A62D5C53-2774-4FE3-8307-3525D25D70A4}" dt="2026-06-02T01:12:09.249" v="41" actId="164"/>
          <ac:grpSpMkLst>
            <pc:docMk/>
            <pc:sldMk cId="0" sldId="259"/>
            <ac:grpSpMk id="26" creationId="{1293ED85-52C1-7695-E042-DDE7FCC6DA87}"/>
          </ac:grpSpMkLst>
        </pc:grpChg>
        <pc:grpChg chg="add mod">
          <ac:chgData name="명준 송" userId="7e48128a0c33bc37" providerId="LiveId" clId="{A62D5C53-2774-4FE3-8307-3525D25D70A4}" dt="2026-06-02T01:13:21.665" v="55" actId="164"/>
          <ac:grpSpMkLst>
            <pc:docMk/>
            <pc:sldMk cId="0" sldId="259"/>
            <ac:grpSpMk id="27" creationId="{2DAAB65D-D369-6CAF-112E-4E5D7D646E73}"/>
          </ac:grpSpMkLst>
        </pc:grpChg>
        <pc:grpChg chg="add mod">
          <ac:chgData name="명준 송" userId="7e48128a0c33bc37" providerId="LiveId" clId="{A62D5C53-2774-4FE3-8307-3525D25D70A4}" dt="2026-06-02T01:14:11.674" v="58" actId="1076"/>
          <ac:grpSpMkLst>
            <pc:docMk/>
            <pc:sldMk cId="0" sldId="259"/>
            <ac:grpSpMk id="29" creationId="{4B92BF93-5CAD-CF44-7188-3A1012F2098D}"/>
          </ac:grpSpMkLst>
        </pc:grpChg>
        <pc:grpChg chg="add mod">
          <ac:chgData name="명준 송" userId="7e48128a0c33bc37" providerId="LiveId" clId="{A62D5C53-2774-4FE3-8307-3525D25D70A4}" dt="2026-06-02T01:14:11.674" v="58" actId="1076"/>
          <ac:grpSpMkLst>
            <pc:docMk/>
            <pc:sldMk cId="0" sldId="259"/>
            <ac:grpSpMk id="30" creationId="{D17177F0-6707-A934-4FD2-61C15A49E363}"/>
          </ac:grpSpMkLst>
        </pc:grpChg>
        <pc:grpChg chg="add mod">
          <ac:chgData name="명준 송" userId="7e48128a0c33bc37" providerId="LiveId" clId="{A62D5C53-2774-4FE3-8307-3525D25D70A4}" dt="2026-06-02T01:14:11.674" v="58" actId="1076"/>
          <ac:grpSpMkLst>
            <pc:docMk/>
            <pc:sldMk cId="0" sldId="259"/>
            <ac:grpSpMk id="31" creationId="{F6865427-81ED-B16E-B9C2-68E23D19002D}"/>
          </ac:grpSpMkLst>
        </pc:grpChg>
      </pc:sldChg>
      <pc:sldChg chg="modSp mod">
        <pc:chgData name="명준 송" userId="7e48128a0c33bc37" providerId="LiveId" clId="{A62D5C53-2774-4FE3-8307-3525D25D70A4}" dt="2026-06-02T01:09:04.253" v="1" actId="20577"/>
        <pc:sldMkLst>
          <pc:docMk/>
          <pc:sldMk cId="0" sldId="260"/>
        </pc:sldMkLst>
        <pc:spChg chg="mod">
          <ac:chgData name="명준 송" userId="7e48128a0c33bc37" providerId="LiveId" clId="{A62D5C53-2774-4FE3-8307-3525D25D70A4}" dt="2026-06-02T01:09:04.253" v="1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명준 송" userId="7e48128a0c33bc37" providerId="LiveId" clId="{A62D5C53-2774-4FE3-8307-3525D25D70A4}" dt="2026-06-02T01:08:58.390" v="0" actId="20577"/>
          <ac:spMkLst>
            <pc:docMk/>
            <pc:sldMk cId="0" sldId="260"/>
            <ac:spMk id="10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1:16:55.835" v="169" actId="166"/>
        <pc:sldMkLst>
          <pc:docMk/>
          <pc:sldMk cId="0" sldId="261"/>
        </pc:sldMkLst>
        <pc:spChg chg="ord">
          <ac:chgData name="명준 송" userId="7e48128a0c33bc37" providerId="LiveId" clId="{A62D5C53-2774-4FE3-8307-3525D25D70A4}" dt="2026-06-02T01:16:55.835" v="169" actId="166"/>
          <ac:spMkLst>
            <pc:docMk/>
            <pc:sldMk cId="0" sldId="261"/>
            <ac:spMk id="14" creationId="{00000000-0000-0000-0000-000000000000}"/>
          </ac:spMkLst>
        </pc:spChg>
        <pc:spChg chg="ord">
          <ac:chgData name="명준 송" userId="7e48128a0c33bc37" providerId="LiveId" clId="{A62D5C53-2774-4FE3-8307-3525D25D70A4}" dt="2026-06-02T01:16:55.835" v="169" actId="166"/>
          <ac:spMkLst>
            <pc:docMk/>
            <pc:sldMk cId="0" sldId="261"/>
            <ac:spMk id="22" creationId="{00000000-0000-0000-0000-000000000000}"/>
          </ac:spMkLst>
        </pc:spChg>
        <pc:spChg chg="ord">
          <ac:chgData name="명준 송" userId="7e48128a0c33bc37" providerId="LiveId" clId="{A62D5C53-2774-4FE3-8307-3525D25D70A4}" dt="2026-06-02T01:16:55.835" v="169" actId="166"/>
          <ac:spMkLst>
            <pc:docMk/>
            <pc:sldMk cId="0" sldId="261"/>
            <ac:spMk id="30" creationId="{00000000-0000-0000-0000-000000000000}"/>
          </ac:spMkLst>
        </pc:spChg>
        <pc:spChg chg="ord">
          <ac:chgData name="명준 송" userId="7e48128a0c33bc37" providerId="LiveId" clId="{A62D5C53-2774-4FE3-8307-3525D25D70A4}" dt="2026-06-02T01:16:55.835" v="169" actId="166"/>
          <ac:spMkLst>
            <pc:docMk/>
            <pc:sldMk cId="0" sldId="261"/>
            <ac:spMk id="38" creationId="{00000000-0000-0000-0000-000000000000}"/>
          </ac:spMkLst>
        </pc:spChg>
      </pc:sldChg>
      <pc:sldChg chg="addSp delSp modSp mod">
        <pc:chgData name="명준 송" userId="7e48128a0c33bc37" providerId="LiveId" clId="{A62D5C53-2774-4FE3-8307-3525D25D70A4}" dt="2026-06-02T01:23:04.691" v="233" actId="14826"/>
        <pc:sldMkLst>
          <pc:docMk/>
          <pc:sldMk cId="0" sldId="264"/>
        </pc:sldMkLst>
        <pc:spChg chg="ord">
          <ac:chgData name="명준 송" userId="7e48128a0c33bc37" providerId="LiveId" clId="{A62D5C53-2774-4FE3-8307-3525D25D70A4}" dt="2026-06-02T01:22:38.634" v="224" actId="167"/>
          <ac:spMkLst>
            <pc:docMk/>
            <pc:sldMk cId="0" sldId="264"/>
            <ac:spMk id="2" creationId="{00000000-0000-0000-0000-000000000000}"/>
          </ac:spMkLst>
        </pc:spChg>
        <pc:spChg chg="mod">
          <ac:chgData name="명준 송" userId="7e48128a0c33bc37" providerId="LiveId" clId="{A62D5C53-2774-4FE3-8307-3525D25D70A4}" dt="2026-06-02T01:20:08.065" v="213" actId="20577"/>
          <ac:spMkLst>
            <pc:docMk/>
            <pc:sldMk cId="0" sldId="264"/>
            <ac:spMk id="10" creationId="{00000000-0000-0000-0000-000000000000}"/>
          </ac:spMkLst>
        </pc:spChg>
        <pc:picChg chg="add del mod">
          <ac:chgData name="명준 송" userId="7e48128a0c33bc37" providerId="LiveId" clId="{A62D5C53-2774-4FE3-8307-3525D25D70A4}" dt="2026-06-02T01:23:04.691" v="233" actId="14826"/>
          <ac:picMkLst>
            <pc:docMk/>
            <pc:sldMk cId="0" sldId="264"/>
            <ac:picMk id="7" creationId="{00000000-0000-0000-0000-000000000000}"/>
          </ac:picMkLst>
        </pc:picChg>
        <pc:picChg chg="add del mod ord">
          <ac:chgData name="명준 송" userId="7e48128a0c33bc37" providerId="LiveId" clId="{A62D5C53-2774-4FE3-8307-3525D25D70A4}" dt="2026-06-02T01:22:42.857" v="232" actId="931"/>
          <ac:picMkLst>
            <pc:docMk/>
            <pc:sldMk cId="0" sldId="264"/>
            <ac:picMk id="12" creationId="{A6863B08-52BD-37C9-9772-279C432F8114}"/>
          </ac:picMkLst>
        </pc:picChg>
      </pc:sldChg>
      <pc:sldChg chg="modSp mod">
        <pc:chgData name="명준 송" userId="7e48128a0c33bc37" providerId="LiveId" clId="{A62D5C53-2774-4FE3-8307-3525D25D70A4}" dt="2026-06-02T01:23:46.859" v="238" actId="20577"/>
        <pc:sldMkLst>
          <pc:docMk/>
          <pc:sldMk cId="0" sldId="266"/>
        </pc:sldMkLst>
        <pc:spChg chg="mod">
          <ac:chgData name="명준 송" userId="7e48128a0c33bc37" providerId="LiveId" clId="{A62D5C53-2774-4FE3-8307-3525D25D70A4}" dt="2026-06-02T01:23:46.859" v="238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1:24:23.196" v="333" actId="1038"/>
        <pc:sldMkLst>
          <pc:docMk/>
          <pc:sldMk cId="0" sldId="267"/>
        </pc:sldMkLst>
        <pc:spChg chg="mod">
          <ac:chgData name="명준 송" userId="7e48128a0c33bc37" providerId="LiveId" clId="{A62D5C53-2774-4FE3-8307-3525D25D70A4}" dt="2026-06-02T01:23:56.757" v="261" actId="1038"/>
          <ac:spMkLst>
            <pc:docMk/>
            <pc:sldMk cId="0" sldId="267"/>
            <ac:spMk id="9" creationId="{00000000-0000-0000-0000-000000000000}"/>
          </ac:spMkLst>
        </pc:spChg>
        <pc:spChg chg="mod">
          <ac:chgData name="명준 송" userId="7e48128a0c33bc37" providerId="LiveId" clId="{A62D5C53-2774-4FE3-8307-3525D25D70A4}" dt="2026-06-02T01:24:23.196" v="333" actId="1038"/>
          <ac:spMkLst>
            <pc:docMk/>
            <pc:sldMk cId="0" sldId="267"/>
            <ac:spMk id="25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1:25:19.829" v="360" actId="1038"/>
        <pc:sldMkLst>
          <pc:docMk/>
          <pc:sldMk cId="0" sldId="269"/>
        </pc:sldMkLst>
        <pc:spChg chg="mod">
          <ac:chgData name="명준 송" userId="7e48128a0c33bc37" providerId="LiveId" clId="{A62D5C53-2774-4FE3-8307-3525D25D70A4}" dt="2026-06-02T01:25:11.819" v="347" actId="1038"/>
          <ac:spMkLst>
            <pc:docMk/>
            <pc:sldMk cId="0" sldId="269"/>
            <ac:spMk id="8" creationId="{00000000-0000-0000-0000-000000000000}"/>
          </ac:spMkLst>
        </pc:spChg>
        <pc:spChg chg="mod">
          <ac:chgData name="명준 송" userId="7e48128a0c33bc37" providerId="LiveId" clId="{A62D5C53-2774-4FE3-8307-3525D25D70A4}" dt="2026-06-02T01:25:19.829" v="360" actId="1038"/>
          <ac:spMkLst>
            <pc:docMk/>
            <pc:sldMk cId="0" sldId="269"/>
            <ac:spMk id="11" creationId="{00000000-0000-0000-0000-000000000000}"/>
          </ac:spMkLst>
        </pc:spChg>
      </pc:sldChg>
      <pc:sldChg chg="del">
        <pc:chgData name="명준 송" userId="7e48128a0c33bc37" providerId="LiveId" clId="{A62D5C53-2774-4FE3-8307-3525D25D70A4}" dt="2026-06-02T01:19:17.976" v="170" actId="47"/>
        <pc:sldMkLst>
          <pc:docMk/>
          <pc:sldMk cId="0" sldId="27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Consolas"/>
              </a:rPr>
              <a:t>// YOUTUBE CHANNEL ANALYZER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698480" cy="1645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2F2F2"/>
                </a:solidFill>
                <a:latin typeface="Malgun Gothic"/>
              </a:rPr>
              <a:t>구독 채널 </a:t>
            </a:r>
            <a:r>
              <a:rPr sz="5400" b="1">
                <a:solidFill>
                  <a:srgbClr val="FF3B3B"/>
                </a:solidFill>
                <a:latin typeface="Malgun Gothic"/>
              </a:rPr>
              <a:t>관심도 분석기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05840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9A9AA2"/>
                </a:solidFill>
                <a:latin typeface="Malgun Gothic"/>
              </a:rPr>
              <a:t>Google OAuth로 내 계정을 연결해 구독 채널을 </a:t>
            </a:r>
            <a:r>
              <a:rPr sz="1800" b="1">
                <a:solidFill>
                  <a:srgbClr val="F2F2F2"/>
                </a:solidFill>
                <a:latin typeface="Malgun Gothic"/>
              </a:rPr>
              <a:t>관심도 점수(0~100)</a:t>
            </a:r>
            <a:r>
              <a:rPr sz="1800" b="0">
                <a:solidFill>
                  <a:srgbClr val="9A9AA2"/>
                </a:solidFill>
                <a:latin typeface="Malgun Gothic"/>
              </a:rPr>
              <a:t>로 환산하고,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9A9AA2"/>
                </a:solidFill>
                <a:latin typeface="Malgun Gothic"/>
              </a:rPr>
              <a:t>Solar LLM이 시청 취향을 해석해 </a:t>
            </a:r>
            <a:r>
              <a:rPr sz="1800" b="1">
                <a:solidFill>
                  <a:srgbClr val="F2F2F2"/>
                </a:solidFill>
                <a:latin typeface="Malgun Gothic"/>
              </a:rPr>
              <a:t>페르소나·구독 정리·새 채널</a:t>
            </a:r>
            <a:r>
              <a:rPr sz="1800" b="0">
                <a:solidFill>
                  <a:srgbClr val="9A9AA2"/>
                </a:solidFill>
                <a:latin typeface="Malgun Gothic"/>
              </a:rPr>
              <a:t>까지 추천하는 웹 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983480"/>
            <a:ext cx="845820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845820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Flask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3372" y="4983480"/>
            <a:ext cx="1371600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33372" y="4983480"/>
            <a:ext cx="1371600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Vanilla JS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9564" y="4983480"/>
            <a:ext cx="2212848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9564" y="4983480"/>
            <a:ext cx="2212848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Google OAuth (GIS)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7004" y="4983480"/>
            <a:ext cx="2318004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7004" y="4983480"/>
            <a:ext cx="2318004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YouTube Data API v3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4983480"/>
            <a:ext cx="2107692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4983480"/>
            <a:ext cx="2107692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Upstage Solar 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A6A72"/>
                </a:solidFill>
                <a:latin typeface="Consolas"/>
              </a:rPr>
              <a:t>알고리즘 실습 — 팀 프로젝트 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01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이런 문제에서 출발했습니다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7552" y="1691640"/>
            <a:ext cx="1114190" cy="3282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dirty="0" err="1">
                <a:solidFill>
                  <a:srgbClr val="FF3B3B"/>
                </a:solidFill>
                <a:latin typeface="Malgun Gothic"/>
              </a:rPr>
              <a:t>문제</a:t>
            </a:r>
            <a:r>
              <a:rPr lang="en-US" sz="18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lang="ko-KR" altLang="en-US" sz="1800" b="1" dirty="0">
                <a:solidFill>
                  <a:srgbClr val="FF3B3B"/>
                </a:solidFill>
                <a:latin typeface="Malgun Gothic"/>
              </a:rPr>
              <a:t>상</a:t>
            </a:r>
            <a:r>
              <a:rPr lang="ko-KR" altLang="en-US" b="1" dirty="0">
                <a:solidFill>
                  <a:srgbClr val="FF3B3B"/>
                </a:solidFill>
                <a:latin typeface="Malgun Gothic"/>
              </a:rPr>
              <a:t>항</a:t>
            </a:r>
            <a:endParaRPr sz="1800" b="1" dirty="0">
              <a:solidFill>
                <a:srgbClr val="FF3B3B"/>
              </a:solidFill>
              <a:latin typeface="Malgun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4983480" cy="293054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구독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채널이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수십~수백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개로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쌓이지만</a:t>
            </a:r>
            <a:endParaRPr sz="15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2F2F2"/>
                </a:solidFill>
                <a:latin typeface="Malgun Gothic"/>
              </a:rPr>
              <a:t> 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정작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어떤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채널을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진짜로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보는지</a:t>
            </a:r>
            <a:endParaRPr sz="15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알기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어렵다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2F2F2"/>
                </a:solidFill>
                <a:latin typeface="Malgun Gothic"/>
              </a:rPr>
              <a:t>• "10년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구독했지만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안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보는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"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휴면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채널이</a:t>
            </a:r>
            <a:endParaRPr sz="15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목록을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가득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채우고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있다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YouTube는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lang="ko-KR" altLang="en-US" sz="1500" b="0" dirty="0">
                <a:solidFill>
                  <a:srgbClr val="F2F2F2"/>
                </a:solidFill>
                <a:latin typeface="Malgun Gothic"/>
              </a:rPr>
              <a:t>공식적으론 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"내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댓글·시청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기록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전체"를</a:t>
            </a:r>
            <a:endParaRPr sz="15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조회하는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API를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제공하지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않는다</a:t>
            </a:r>
            <a:r>
              <a:rPr sz="1300" b="0" dirty="0">
                <a:solidFill>
                  <a:srgbClr val="6A6A72"/>
                </a:solidFill>
                <a:latin typeface="Malgun Gothic"/>
              </a:rPr>
              <a:t> (2016 </a:t>
            </a:r>
            <a:r>
              <a:rPr sz="1300" b="0" dirty="0" err="1">
                <a:solidFill>
                  <a:srgbClr val="6A6A72"/>
                </a:solidFill>
                <a:latin typeface="Malgun Gothic"/>
              </a:rPr>
              <a:t>폐지</a:t>
            </a:r>
            <a:r>
              <a:rPr sz="1300" b="0" dirty="0">
                <a:solidFill>
                  <a:srgbClr val="6A6A72"/>
                </a:solidFill>
                <a:latin typeface="Malgun Gothic"/>
              </a:rPr>
              <a:t>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9420" y="1691640"/>
            <a:ext cx="5029200" cy="3282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dirty="0" err="1">
                <a:solidFill>
                  <a:srgbClr val="2ECC71"/>
                </a:solidFill>
                <a:latin typeface="Malgun Gothic"/>
              </a:rPr>
              <a:t>해결</a:t>
            </a:r>
            <a:r>
              <a:rPr lang="en-US" sz="1800" b="1" dirty="0">
                <a:solidFill>
                  <a:srgbClr val="2ECC71"/>
                </a:solidFill>
                <a:latin typeface="Malgun Gothic"/>
              </a:rPr>
              <a:t> </a:t>
            </a:r>
            <a:r>
              <a:rPr lang="ko-KR" altLang="en-US" sz="1800" b="1" dirty="0">
                <a:solidFill>
                  <a:srgbClr val="2ECC71"/>
                </a:solidFill>
                <a:latin typeface="Malgun Gothic"/>
              </a:rPr>
              <a:t>방안</a:t>
            </a:r>
            <a:endParaRPr sz="1800" b="1" dirty="0">
              <a:solidFill>
                <a:srgbClr val="2ECC71"/>
              </a:solidFill>
              <a:latin typeface="Malgun Goth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73952" y="224028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댓글·좋아요·시청 횟수·구독 기간을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Malgun Gothic"/>
              </a:rPr>
              <a:t>   가중 합산 → </a:t>
            </a:r>
            <a:r>
              <a:rPr sz="1500" b="1">
                <a:solidFill>
                  <a:srgbClr val="F2F2F2"/>
                </a:solidFill>
                <a:latin typeface="Malgun Gothic"/>
              </a:rPr>
              <a:t>관심도 점수(0~100)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1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</a:t>
            </a:r>
            <a:r>
              <a:rPr sz="1500" b="1">
                <a:solidFill>
                  <a:srgbClr val="FF3B3B"/>
                </a:solidFill>
                <a:latin typeface="Malgun Gothic"/>
              </a:rPr>
              <a:t>활동 0이면 즉시 0점</a:t>
            </a:r>
            <a:r>
              <a:rPr sz="1500" b="0">
                <a:solidFill>
                  <a:srgbClr val="9A9AA2"/>
                </a:solidFill>
                <a:latin typeface="Malgun Gothic"/>
              </a:rPr>
              <a:t> — 휴면 강등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4그룹 자동 분류 🔥 😊 👋 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Google Takeout으로 </a:t>
            </a:r>
            <a:r>
              <a:rPr sz="1500" b="1">
                <a:solidFill>
                  <a:srgbClr val="F2F2F2"/>
                </a:solidFill>
                <a:latin typeface="Malgun Gothic"/>
              </a:rPr>
              <a:t>실제 시청 기록</a:t>
            </a:r>
            <a:r>
              <a:rPr sz="1500" b="0">
                <a:solidFill>
                  <a:srgbClr val="9A9AA2"/>
                </a:solidFill>
                <a:latin typeface="Malgun Gothic"/>
              </a:rPr>
              <a:t> 보강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Solar LLM이 취향 해석·채널 추천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02 ·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핵심 기능 한눈에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dirty="0">
                <a:solidFill>
                  <a:srgbClr val="F2F2F2"/>
                </a:solidFill>
                <a:latin typeface="Malgun Gothic"/>
              </a:rPr>
              <a:t>📊  </a:t>
            </a:r>
            <a:r>
              <a:rPr sz="1800" b="1" dirty="0" err="1">
                <a:solidFill>
                  <a:srgbClr val="FF3B3B"/>
                </a:solidFill>
                <a:latin typeface="Malgun Gothic"/>
              </a:rPr>
              <a:t>관심도</a:t>
            </a:r>
            <a:r>
              <a:rPr sz="18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800" b="1" dirty="0" err="1">
                <a:solidFill>
                  <a:srgbClr val="FF3B3B"/>
                </a:solidFill>
                <a:latin typeface="Malgun Gothic"/>
              </a:rPr>
              <a:t>점수화</a:t>
            </a:r>
            <a:endParaRPr sz="1800" b="1" dirty="0">
              <a:solidFill>
                <a:srgbClr val="FF3B3B"/>
              </a:solidFill>
              <a:latin typeface="Malgun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댓글·좋아요·시청·구독 기간을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가중 합산해 0~100 점으로 환산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7992" y="1755648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🗂️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4그룹 자동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🔥 최애 / 😊 자주 / 👋 가끔 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🌱 구독만 — 이진 탐색으로 매핑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1755648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📥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Takeout 하이브리드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comments.csv·watch-history.json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으로 정확한 댓글·시청 기록 반영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97096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🧬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시청 취향 페르소나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채널 분포를 Solar LLM이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한 편의 취향 리포트로 해석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7992" y="4197096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🧹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구독 정리 코치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휴면·저관심 채널의 해제/보류를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LLM이 사유와 함께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4464" y="4197096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✨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새 채널 추천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관심사 영상을 역추적해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실재하는 채널 10개 발굴·추천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시스템 아키텍처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B92BF93-5CAD-CF44-7188-3A1012F2098D}"/>
              </a:ext>
            </a:extLst>
          </p:cNvPr>
          <p:cNvGrpSpPr/>
          <p:nvPr/>
        </p:nvGrpSpPr>
        <p:grpSpPr>
          <a:xfrm>
            <a:off x="667512" y="1604518"/>
            <a:ext cx="3465576" cy="3291840"/>
            <a:chOff x="502920" y="1600200"/>
            <a:chExt cx="3611880" cy="3541311"/>
          </a:xfrm>
        </p:grpSpPr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28CE0282-72B1-59FD-9BBC-60B48375ABC0}"/>
                </a:ext>
              </a:extLst>
            </p:cNvPr>
            <p:cNvGrpSpPr/>
            <p:nvPr/>
          </p:nvGrpSpPr>
          <p:grpSpPr>
            <a:xfrm>
              <a:off x="502920" y="1600200"/>
              <a:ext cx="3611880" cy="3291840"/>
              <a:chOff x="502920" y="1600200"/>
              <a:chExt cx="3611880" cy="3291840"/>
            </a:xfrm>
          </p:grpSpPr>
          <p:sp>
            <p:nvSpPr>
              <p:cNvPr id="7" name="Rounded Rectangle 6"/>
              <p:cNvSpPr/>
              <p:nvPr/>
            </p:nvSpPr>
            <p:spPr>
              <a:xfrm>
                <a:off x="502920" y="1600200"/>
                <a:ext cx="3611880" cy="3291840"/>
              </a:xfrm>
              <a:prstGeom prst="roundRect">
                <a:avLst/>
              </a:prstGeom>
              <a:solidFill>
                <a:srgbClr val="161619"/>
              </a:solidFill>
              <a:ln w="12700">
                <a:solidFill>
                  <a:srgbClr val="2A2A3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Rounded Rectangle 7"/>
              <p:cNvSpPr/>
              <p:nvPr/>
            </p:nvSpPr>
            <p:spPr>
              <a:xfrm>
                <a:off x="502920" y="1600200"/>
                <a:ext cx="3611880" cy="566928"/>
              </a:xfrm>
              <a:prstGeom prst="roundRect">
                <a:avLst/>
              </a:prstGeom>
              <a:solidFill>
                <a:srgbClr val="202026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02920" y="1600200"/>
                <a:ext cx="3611880" cy="566928"/>
              </a:xfrm>
              <a:prstGeom prst="rect">
                <a:avLst/>
              </a:prstGeom>
              <a:noFill/>
            </p:spPr>
            <p:txBody>
              <a:bodyPr wrap="square" lIns="25400" tIns="25400" rIns="25400" bIns="25400" anchor="ctr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500" b="1">
                    <a:solidFill>
                      <a:srgbClr val="F2F2F2"/>
                    </a:solidFill>
                    <a:latin typeface="Malgun Gothic"/>
                  </a:rPr>
                  <a:t>브라우저 (Vanilla JS)</a:t>
                </a:r>
              </a:p>
            </p:txBody>
          </p:sp>
        </p:grpSp>
        <p:sp>
          <p:nvSpPr>
            <p:cNvPr id="10" name="TextBox 9"/>
            <p:cNvSpPr txBox="1"/>
            <p:nvPr/>
          </p:nvSpPr>
          <p:spPr>
            <a:xfrm>
              <a:off x="758952" y="2764071"/>
              <a:ext cx="3154680" cy="2377440"/>
            </a:xfrm>
            <a:prstGeom prst="rect">
              <a:avLst/>
            </a:prstGeom>
            <a:noFill/>
          </p:spPr>
          <p:txBody>
            <a:bodyPr wrap="square" lIns="25400" tIns="25400" rIns="25400" bIns="25400" anchor="t">
              <a:spAutoFit/>
            </a:bodyPr>
            <a:lstStyle/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GIS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토큰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클라이언트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(OAuth)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YouTube Data API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직접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호출</a:t>
              </a:r>
              <a:endParaRPr sz="1300" b="0" dirty="0">
                <a:solidFill>
                  <a:srgbClr val="F2F2F2"/>
                </a:solidFill>
                <a:latin typeface="Malgun Gothic"/>
              </a:endParaRP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Takeout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파일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파싱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(JS)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결과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렌더링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·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필터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·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요약</a:t>
              </a:r>
              <a:endParaRPr sz="1300" b="0" dirty="0">
                <a:solidFill>
                  <a:srgbClr val="F2F2F2"/>
                </a:solidFill>
                <a:latin typeface="Malgun Gothic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D17177F0-6707-A934-4FD2-61C15A49E363}"/>
              </a:ext>
            </a:extLst>
          </p:cNvPr>
          <p:cNvGrpSpPr/>
          <p:nvPr/>
        </p:nvGrpSpPr>
        <p:grpSpPr>
          <a:xfrm>
            <a:off x="4443984" y="1604518"/>
            <a:ext cx="3465576" cy="3291840"/>
            <a:chOff x="4279392" y="1600200"/>
            <a:chExt cx="3611880" cy="3541311"/>
          </a:xfrm>
        </p:grpSpPr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2DAAB65D-D369-6CAF-112E-4E5D7D646E73}"/>
                </a:ext>
              </a:extLst>
            </p:cNvPr>
            <p:cNvGrpSpPr/>
            <p:nvPr/>
          </p:nvGrpSpPr>
          <p:grpSpPr>
            <a:xfrm>
              <a:off x="4279392" y="1600200"/>
              <a:ext cx="3611880" cy="3291840"/>
              <a:chOff x="4279392" y="1600200"/>
              <a:chExt cx="3611880" cy="3291840"/>
            </a:xfrm>
          </p:grpSpPr>
          <p:sp>
            <p:nvSpPr>
              <p:cNvPr id="12" name="Rounded Rectangle 11"/>
              <p:cNvSpPr/>
              <p:nvPr/>
            </p:nvSpPr>
            <p:spPr>
              <a:xfrm>
                <a:off x="4279392" y="1600200"/>
                <a:ext cx="3611880" cy="3291840"/>
              </a:xfrm>
              <a:prstGeom prst="roundRect">
                <a:avLst/>
              </a:prstGeom>
              <a:solidFill>
                <a:srgbClr val="161619"/>
              </a:solidFill>
              <a:ln w="12700">
                <a:solidFill>
                  <a:srgbClr val="2A2A3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Rounded Rectangle 12"/>
              <p:cNvSpPr/>
              <p:nvPr/>
            </p:nvSpPr>
            <p:spPr>
              <a:xfrm>
                <a:off x="4279392" y="1600200"/>
                <a:ext cx="3611880" cy="566928"/>
              </a:xfrm>
              <a:prstGeom prst="roundRect">
                <a:avLst/>
              </a:prstGeom>
              <a:solidFill>
                <a:srgbClr val="202026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4279392" y="1600200"/>
                <a:ext cx="3611880" cy="566928"/>
              </a:xfrm>
              <a:prstGeom prst="rect">
                <a:avLst/>
              </a:prstGeom>
              <a:noFill/>
            </p:spPr>
            <p:txBody>
              <a:bodyPr wrap="square" lIns="25400" tIns="25400" rIns="25400" bIns="25400" anchor="ctr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500" b="1" dirty="0">
                    <a:solidFill>
                      <a:srgbClr val="FF3B3B"/>
                    </a:solidFill>
                    <a:latin typeface="Malgun Gothic"/>
                  </a:rPr>
                  <a:t>Flask </a:t>
                </a:r>
                <a:r>
                  <a:rPr sz="1500" b="1" dirty="0" err="1">
                    <a:solidFill>
                      <a:srgbClr val="FF3B3B"/>
                    </a:solidFill>
                    <a:latin typeface="Malgun Gothic"/>
                  </a:rPr>
                  <a:t>서버</a:t>
                </a:r>
                <a:r>
                  <a:rPr sz="1500" b="1" dirty="0">
                    <a:solidFill>
                      <a:srgbClr val="FF3B3B"/>
                    </a:solidFill>
                    <a:latin typeface="Malgun Gothic"/>
                  </a:rPr>
                  <a:t> (app.py)</a:t>
                </a:r>
              </a:p>
            </p:txBody>
          </p:sp>
        </p:grpSp>
        <p:sp>
          <p:nvSpPr>
            <p:cNvPr id="15" name="TextBox 14"/>
            <p:cNvSpPr txBox="1"/>
            <p:nvPr/>
          </p:nvSpPr>
          <p:spPr>
            <a:xfrm>
              <a:off x="4535424" y="2764071"/>
              <a:ext cx="3154680" cy="2377440"/>
            </a:xfrm>
            <a:prstGeom prst="rect">
              <a:avLst/>
            </a:prstGeom>
            <a:noFill/>
          </p:spPr>
          <p:txBody>
            <a:bodyPr wrap="square" lIns="25400" tIns="25400" rIns="25400" bIns="25400" anchor="t">
              <a:spAutoFit/>
            </a:bodyPr>
            <a:lstStyle/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/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api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/analyze —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점수·정렬·분류</a:t>
              </a:r>
              <a:endParaRPr sz="1300" b="0" dirty="0">
                <a:solidFill>
                  <a:srgbClr val="F2F2F2"/>
                </a:solidFill>
                <a:latin typeface="Malgun Gothic"/>
              </a:endParaRP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LRU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캐시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(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입력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의존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키)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Heap Sort · Binary Search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LLM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프록시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7종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엔드포인트</a:t>
              </a:r>
              <a:endParaRPr sz="1300" b="0" dirty="0">
                <a:solidFill>
                  <a:srgbClr val="F2F2F2"/>
                </a:solidFill>
                <a:latin typeface="Malgun Gothic"/>
              </a:endParaRP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7968683" y="2930397"/>
            <a:ext cx="193019" cy="38985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dirty="0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F6865427-81ED-B16E-B9C2-68E23D19002D}"/>
              </a:ext>
            </a:extLst>
          </p:cNvPr>
          <p:cNvGrpSpPr/>
          <p:nvPr/>
        </p:nvGrpSpPr>
        <p:grpSpPr>
          <a:xfrm>
            <a:off x="8220456" y="1604518"/>
            <a:ext cx="3465576" cy="3291840"/>
            <a:chOff x="8055864" y="1600200"/>
            <a:chExt cx="3611880" cy="3541311"/>
          </a:xfrm>
        </p:grpSpPr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CE410F3B-4548-F9A8-A612-FFCF8DF4C65D}"/>
                </a:ext>
              </a:extLst>
            </p:cNvPr>
            <p:cNvGrpSpPr/>
            <p:nvPr/>
          </p:nvGrpSpPr>
          <p:grpSpPr>
            <a:xfrm>
              <a:off x="8055864" y="1600200"/>
              <a:ext cx="3611880" cy="3291840"/>
              <a:chOff x="8055864" y="1600200"/>
              <a:chExt cx="3611880" cy="3291840"/>
            </a:xfrm>
          </p:grpSpPr>
          <p:sp>
            <p:nvSpPr>
              <p:cNvPr id="17" name="Rounded Rectangle 16"/>
              <p:cNvSpPr/>
              <p:nvPr/>
            </p:nvSpPr>
            <p:spPr>
              <a:xfrm>
                <a:off x="8055864" y="1600200"/>
                <a:ext cx="3611880" cy="3291840"/>
              </a:xfrm>
              <a:prstGeom prst="roundRect">
                <a:avLst/>
              </a:prstGeom>
              <a:solidFill>
                <a:srgbClr val="161619"/>
              </a:solidFill>
              <a:ln w="12700">
                <a:solidFill>
                  <a:srgbClr val="2A2A3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Rounded Rectangle 17"/>
              <p:cNvSpPr/>
              <p:nvPr/>
            </p:nvSpPr>
            <p:spPr>
              <a:xfrm>
                <a:off x="8055864" y="1600200"/>
                <a:ext cx="3611880" cy="566928"/>
              </a:xfrm>
              <a:prstGeom prst="roundRect">
                <a:avLst/>
              </a:prstGeom>
              <a:solidFill>
                <a:srgbClr val="202026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8055864" y="1600200"/>
                <a:ext cx="3611880" cy="566928"/>
              </a:xfrm>
              <a:prstGeom prst="rect">
                <a:avLst/>
              </a:prstGeom>
              <a:noFill/>
            </p:spPr>
            <p:txBody>
              <a:bodyPr wrap="square" lIns="25400" tIns="25400" rIns="25400" bIns="25400" anchor="ctr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500" b="1">
                    <a:solidFill>
                      <a:srgbClr val="2ECC71"/>
                    </a:solidFill>
                    <a:latin typeface="Malgun Gothic"/>
                  </a:rPr>
                  <a:t>외부 서비스</a:t>
                </a:r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>
              <a:off x="8311896" y="2764071"/>
              <a:ext cx="3154680" cy="2377440"/>
            </a:xfrm>
            <a:prstGeom prst="rect">
              <a:avLst/>
            </a:prstGeom>
            <a:noFill/>
          </p:spPr>
          <p:txBody>
            <a:bodyPr wrap="square" lIns="25400" tIns="25400" rIns="25400" bIns="25400" anchor="t">
              <a:spAutoFit/>
            </a:bodyPr>
            <a:lstStyle/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YouTube Data API v3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9A9AA2"/>
                  </a:solidFill>
                  <a:latin typeface="Malgun Gothic"/>
                </a:rPr>
                <a:t>  subscriptions · videos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9A9AA2"/>
                  </a:solidFill>
                  <a:latin typeface="Malgun Gothic"/>
                </a:rPr>
                <a:t>  search · </a:t>
              </a:r>
              <a:r>
                <a:rPr sz="1300" b="0" dirty="0" err="1">
                  <a:solidFill>
                    <a:srgbClr val="9A9AA2"/>
                  </a:solidFill>
                  <a:latin typeface="Malgun Gothic"/>
                </a:rPr>
                <a:t>commentThreads</a:t>
              </a:r>
              <a:endParaRPr sz="1300" b="0" dirty="0">
                <a:solidFill>
                  <a:srgbClr val="9A9AA2"/>
                </a:solidFill>
                <a:latin typeface="Malgun Gothic"/>
              </a:endParaRP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Upstage Solar (solar-pro2)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02920" y="5120640"/>
            <a:ext cx="11183112" cy="11430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230368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데이터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96128"/>
            <a:ext cx="108813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OAuth 로그인 → 구독·좋아요·댓글 수집 → (선택) Takeout 보강 → </a:t>
            </a:r>
            <a:r>
              <a:rPr sz="1300" b="1">
                <a:solidFill>
                  <a:srgbClr val="F2F2F2"/>
                </a:solidFill>
                <a:latin typeface="Consolas"/>
              </a:rPr>
              <a:t>/api/analyze</a:t>
            </a:r>
            <a:r>
              <a:rPr sz="1300" b="0">
                <a:solidFill>
                  <a:srgbClr val="9A9AA2"/>
                </a:solidFill>
                <a:latin typeface="Malgun Gothic"/>
              </a:rPr>
              <a:t> 점수 파이프라인 → 그룹 분류·정렬 → 화면 렌더 → </a:t>
            </a:r>
            <a:r>
              <a:rPr sz="1300" b="1">
                <a:solidFill>
                  <a:srgbClr val="2ECC71"/>
                </a:solidFill>
                <a:latin typeface="Malgun Gothic"/>
              </a:rPr>
              <a:t>AI 분석 도구(LLM)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8474" y="2930397"/>
            <a:ext cx="193019" cy="38985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dirty="0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04 · 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사용 흐름 — 4단계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2821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2ECC71"/>
                </a:solidFill>
                <a:latin typeface="Consolas"/>
              </a:rPr>
              <a:t>Google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로그인</a:t>
            </a:r>
            <a:r>
              <a:rPr sz="1500" b="1" dirty="0">
                <a:solidFill>
                  <a:srgbClr val="2ECC71"/>
                </a:solidFill>
                <a:latin typeface="Consolas"/>
              </a:rPr>
              <a:t>  → 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데이터</a:t>
            </a:r>
            <a:r>
              <a:rPr sz="1500" b="1" dirty="0">
                <a:solidFill>
                  <a:srgbClr val="2ECC71"/>
                </a:solidFill>
                <a:latin typeface="Consolas"/>
              </a:rPr>
              <a:t>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수집</a:t>
            </a:r>
            <a:r>
              <a:rPr sz="1500" b="1" dirty="0">
                <a:solidFill>
                  <a:srgbClr val="2ECC71"/>
                </a:solidFill>
                <a:latin typeface="Consolas"/>
              </a:rPr>
              <a:t>  → 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분석</a:t>
            </a:r>
            <a:r>
              <a:rPr sz="1500" b="1" dirty="0">
                <a:solidFill>
                  <a:srgbClr val="2ECC71"/>
                </a:solidFill>
                <a:latin typeface="Consolas"/>
              </a:rPr>
              <a:t>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완료</a:t>
            </a:r>
            <a:endParaRPr sz="1500" b="1" dirty="0">
              <a:solidFill>
                <a:srgbClr val="2ECC71"/>
              </a:solidFill>
              <a:latin typeface="Consolas"/>
            </a:endParaRPr>
          </a:p>
        </p:txBody>
      </p:sp>
      <p:pic>
        <p:nvPicPr>
          <p:cNvPr id="8" name="Picture 7" descr="기본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31505"/>
            <a:ext cx="5486400" cy="2909389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pic>
        <p:nvPicPr>
          <p:cNvPr id="9" name="Picture 8" descr="로그인 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418730"/>
            <a:ext cx="5486400" cy="2934940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02920" y="6035040"/>
            <a:ext cx="5486400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① Google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계정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로그인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(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youtube.readonly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6035040"/>
            <a:ext cx="5486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② (선택) Takeout 업로드 → 댓글·시청 기록 정확 반영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점수 산정 — 5단계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80160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활동 가중치 합산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댓글×5 + 시청×3 + 좋아요×2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+ 장기구독 보너스(최대 +12)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활동 0 → 즉시 0점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5768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93008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Recency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score × e^(−0.005·d)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d = 마지막 시청 후 경과일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98648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오래 안 본 채널 감쇠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28616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705856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05856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Min-Max 정규화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(s−min)/(max−min)×100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→ 0~100 상대 평가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1496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11496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사용자 내 비교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41464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918704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918704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1464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Binary Search 분류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8624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경계 [20·50·80] 이진 탐색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→ 4그룹 매핑 O(log 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24344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24344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🔥 😊 👋 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54312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0131552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31552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Heap Sort 정렬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직접 구현한 max-heap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점수 내림차순 O(n log 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7192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37192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순위표 출력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257800"/>
            <a:ext cx="11183112" cy="96012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349240"/>
            <a:ext cx="1078992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Malgun Gothic"/>
              </a:rPr>
              <a:t>+ LRU 캐시</a:t>
            </a:r>
            <a:r>
              <a:rPr sz="1200" b="0">
                <a:solidFill>
                  <a:srgbClr val="9A9AA2"/>
                </a:solidFill>
                <a:latin typeface="Consolas"/>
              </a:rPr>
              <a:t>  (OrderedDict, 입력 의존 키)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캐시 키 = (id, comments, likes, watchCount, subMonths, lastWatchDays) → 입력이 바뀌면 자동 무효화, 반복 호출은 즉시 히트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31736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44584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왜 "활동 0 → 0점"인가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120640" cy="2377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신호별 가중치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280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댓글 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19456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194560"/>
            <a:ext cx="2651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Malgun Gothic"/>
              </a:rPr>
              <a:t>글쓰기 = 가장 적극적 교류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1280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시청 횟수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60604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06040"/>
            <a:ext cx="2651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Malgun Gothic"/>
              </a:rPr>
              <a:t>실제 시청 = 강한 선호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17520"/>
            <a:ext cx="1280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좋아요 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01752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017520"/>
            <a:ext cx="2651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Malgun Gothic"/>
              </a:rPr>
              <a:t>클릭 한 번, 중간 신호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1280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장기 구독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42900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+0.5/월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429000"/>
            <a:ext cx="2651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Malgun Gothic"/>
              </a:rPr>
              <a:t>활동 있을 때만, 2년 캡(+12)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5120640" cy="21945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Recency Decay  </a:t>
            </a:r>
            <a:r>
              <a:rPr sz="1300" b="0">
                <a:solidFill>
                  <a:srgbClr val="9A9AA2"/>
                </a:solidFill>
                <a:latin typeface="Consolas"/>
              </a:rPr>
              <a:t>e^(−0.005·d)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7일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0.97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64792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64792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30일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0.86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52344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52344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90일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52344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0.64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39896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39896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1년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39896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27448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27448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3년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7448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≈0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52160" y="1554480"/>
            <a:ext cx="5833872" cy="47091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80760" y="1691640"/>
            <a:ext cx="5394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Malgun Gothic"/>
              </a:rPr>
              <a:t>검증된 결과 — 동일 입력, 정확한 강등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2194560"/>
            <a:ext cx="5532120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80760" y="2194560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채널 사례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219456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댓글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219456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좋아요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0" y="219456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시청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19456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Consolas"/>
              </a:rPr>
              <a:t>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ECC71"/>
                </a:solidFill>
                <a:latin typeface="Malgun Gothic"/>
              </a:rPr>
              <a:t>3일 전 150회 시청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2761488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2761488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2761488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150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2761488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Consolas"/>
              </a:rPr>
              <a:t>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3328416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80760" y="3328416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5년 활발 (댓글·좋아요)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3328416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55480" y="3328416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0" y="3328416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3328416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Consolas"/>
              </a:rPr>
              <a:t>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60" y="3895344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A9AA2"/>
                </a:solidFill>
                <a:latin typeface="Malgun Gothic"/>
              </a:rPr>
              <a:t>6개월 활발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32520" y="3895344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5480" y="3895344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2720" y="3895344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3895344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9AA2"/>
                </a:solidFill>
                <a:latin typeface="Consolas"/>
              </a:rPr>
              <a:t>15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4462272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080760" y="4462272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10년 잠수 채널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20" y="4462272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55480" y="4462272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4462272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4462272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5029200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1000일 전 50회 시청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32520" y="502920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55480" y="502920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32720" y="502920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64240" y="502920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5715000"/>
            <a:ext cx="539496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→ 이전 산식의 함정(</a:t>
            </a:r>
            <a:r>
              <a:rPr sz="1200" b="1">
                <a:solidFill>
                  <a:srgbClr val="FF3B3B"/>
                </a:solidFill>
                <a:latin typeface="Malgun Gothic"/>
              </a:rPr>
              <a:t>10년 잠수 &gt; 6개월 활발</a:t>
            </a:r>
            <a:r>
              <a:rPr sz="1200" b="0">
                <a:solidFill>
                  <a:srgbClr val="9A9AA2"/>
                </a:solidFill>
                <a:latin typeface="Malgun Gothic"/>
              </a:rPr>
              <a:t>)을 "활동 0 → 0점"으로 해결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06 · COURSE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코드에 실제로 쓰인 알고리즘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Heap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재귀 heapify, max-heap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 log 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21408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점수 내림차순 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Binary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경계 배열 이진 탐색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77272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77272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O(log 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121408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점수 → 4그룹 매핑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2825496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LRU Cache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OrderedDict 입력 의존 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60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282696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점수 캐싱·자동 무효화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28232" y="2825496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Hash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likeMap·commentMap 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7272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77272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 avg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282696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다채널 집계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986784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Min-Max 정규화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선형 스케일링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80560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4443984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0~100 점수화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28232" y="3986784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Recency Decay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232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지수 감쇠 exp(−λ·d)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77272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77272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4272" y="4443984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시청 최근성 반영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1520" y="5148072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Cursor 페이지네이션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nextPageToken 순회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80560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37560" y="5605272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구독·좋아요 전량 수집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99632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28232" y="5148072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병렬 배치 + 백오프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28232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Promise.all 10개·429 재시도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77272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177272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O(n/p)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34272" y="5605272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API 동시 수집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07 ·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분석 결과 — 관심도 순위 + AI 도구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02920" y="1954948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화면 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채널별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F2F2F2"/>
                </a:solidFill>
                <a:latin typeface="Malgun Gothic"/>
              </a:rPr>
              <a:t>관심도</a:t>
            </a:r>
            <a:r>
              <a:rPr sz="1300" b="1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F2F2F2"/>
                </a:solidFill>
                <a:latin typeface="Malgun Gothic"/>
              </a:rPr>
              <a:t>점수·순위</a:t>
            </a:r>
            <a:endParaRPr sz="1300" b="1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dirty="0">
                <a:solidFill>
                  <a:srgbClr val="9A9AA2"/>
                </a:solidFill>
                <a:latin typeface="Malgun Gothic"/>
              </a:rPr>
              <a:t>  (#순위 · </a:t>
            </a:r>
            <a:r>
              <a:rPr sz="1100" b="0" dirty="0" err="1">
                <a:solidFill>
                  <a:srgbClr val="9A9AA2"/>
                </a:solidFill>
                <a:latin typeface="Malgun Gothic"/>
              </a:rPr>
              <a:t>댓글</a:t>
            </a:r>
            <a:r>
              <a:rPr sz="1100" b="0" dirty="0">
                <a:solidFill>
                  <a:srgbClr val="9A9AA2"/>
                </a:solidFill>
                <a:latin typeface="Malgun Gothic"/>
              </a:rPr>
              <a:t> · </a:t>
            </a:r>
            <a:r>
              <a:rPr sz="1100" b="0" dirty="0" err="1">
                <a:solidFill>
                  <a:srgbClr val="9A9AA2"/>
                </a:solidFill>
                <a:latin typeface="Malgun Gothic"/>
              </a:rPr>
              <a:t>좋아요</a:t>
            </a:r>
            <a:r>
              <a:rPr sz="1100" b="0" dirty="0">
                <a:solidFill>
                  <a:srgbClr val="9A9AA2"/>
                </a:solidFill>
                <a:latin typeface="Malgun Gothic"/>
              </a:rPr>
              <a:t> · </a:t>
            </a:r>
            <a:r>
              <a:rPr sz="1100" b="0" dirty="0" err="1">
                <a:solidFill>
                  <a:srgbClr val="9A9AA2"/>
                </a:solidFill>
                <a:latin typeface="Malgun Gothic"/>
              </a:rPr>
              <a:t>구독</a:t>
            </a:r>
            <a:r>
              <a:rPr sz="1100" b="0" dirty="0">
                <a:solidFill>
                  <a:srgbClr val="9A9AA2"/>
                </a:solidFill>
                <a:latin typeface="Malgun Gothic"/>
              </a:rPr>
              <a:t>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1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점수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0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채널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=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휴면으로</a:t>
            </a:r>
            <a:endParaRPr sz="13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하단에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정렬</a:t>
            </a: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하단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1" dirty="0">
                <a:solidFill>
                  <a:srgbClr val="2ECC71"/>
                </a:solidFill>
                <a:latin typeface="Malgun Gothic"/>
              </a:rPr>
              <a:t>🤖 AI </a:t>
            </a:r>
            <a:r>
              <a:rPr sz="1300" b="1" dirty="0" err="1">
                <a:solidFill>
                  <a:srgbClr val="2ECC71"/>
                </a:solidFill>
                <a:latin typeface="Malgun Gothic"/>
              </a:rPr>
              <a:t>분석</a:t>
            </a:r>
            <a:r>
              <a:rPr sz="1300" b="1" dirty="0">
                <a:solidFill>
                  <a:srgbClr val="2ECC71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2ECC71"/>
                </a:solidFill>
                <a:latin typeface="Malgun Gothic"/>
              </a:rPr>
              <a:t>도구</a:t>
            </a:r>
            <a:endParaRPr sz="1300" b="1" dirty="0">
              <a:solidFill>
                <a:srgbClr val="2ECC71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9A9AA2"/>
                </a:solidFill>
                <a:latin typeface="Malgun Gothic"/>
              </a:rPr>
              <a:t>  3개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모드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선택</a:t>
            </a: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-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시청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취향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페르소나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-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구독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정리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코치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- 새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채널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추천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우하단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플로팅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버튼으로</a:t>
            </a:r>
            <a:endParaRPr sz="13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언제든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lang="en-US" sz="1300" b="0" dirty="0">
                <a:solidFill>
                  <a:srgbClr val="9A9AA2"/>
                </a:solidFill>
                <a:latin typeface="Malgun Gothic"/>
              </a:rPr>
              <a:t>AI </a:t>
            </a:r>
            <a:r>
              <a:rPr lang="ko-KR" altLang="en-US" sz="1300" b="0" dirty="0">
                <a:solidFill>
                  <a:srgbClr val="9A9AA2"/>
                </a:solidFill>
                <a:latin typeface="Malgun Gothic"/>
              </a:rPr>
              <a:t>분석 도구로 이동</a:t>
            </a:r>
            <a:endParaRPr sz="1300" b="0" dirty="0">
              <a:solidFill>
                <a:srgbClr val="9A9AA2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08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시청 취향 페르소나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페르소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5048"/>
            <a:ext cx="7406640" cy="3953743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Solar LLM 해석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Malgun Gothic"/>
              </a:rPr>
              <a:t>채널 점수·카테고리 분포를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입력으로 받아 한 편의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취향 리포트로 풀어냄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Malgun Gothic"/>
              </a:rPr>
              <a:t>예시 결과: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"자취 요리 + 게임/역사 덕후"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1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• 자취 요리 마스터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• 게임 전략가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• 역사 + 신조어 덕후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• 건강식 실험가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Malgun Gothic"/>
              </a:rPr>
              <a:t>→ 태그·소제목·요약문을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Malgun Gothic"/>
              </a:rPr>
              <a:t>   구조화 JSON으로 생성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09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구독 정리 코치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구독 정리 코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4949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정리 제안 로직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346485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F2F2F2"/>
                </a:solidFill>
                <a:latin typeface="Malgun Gothic"/>
              </a:rPr>
              <a:t>점수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20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미만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휴면·저관심</a:t>
            </a:r>
            <a:endParaRPr sz="13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9A9AA2"/>
                </a:solidFill>
                <a:latin typeface="Malgun Gothic"/>
              </a:rPr>
              <a:t>채널을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LLM이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판정</a:t>
            </a: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🔴 </a:t>
            </a:r>
            <a:r>
              <a:rPr sz="1300" b="1" dirty="0" err="1">
                <a:solidFill>
                  <a:srgbClr val="FF3B3B"/>
                </a:solidFill>
                <a:latin typeface="Malgun Gothic"/>
              </a:rPr>
              <a:t>해제</a:t>
            </a:r>
            <a:r>
              <a:rPr sz="13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FF3B3B"/>
                </a:solidFill>
                <a:latin typeface="Malgun Gothic"/>
              </a:rPr>
              <a:t>추천</a:t>
            </a:r>
            <a:endParaRPr sz="1300" b="1" dirty="0">
              <a:solidFill>
                <a:srgbClr val="FF3B3B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장기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미활동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(2년+)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🟡 </a:t>
            </a:r>
            <a:r>
              <a:rPr sz="1300" b="1" dirty="0" err="1">
                <a:solidFill>
                  <a:srgbClr val="F4A844"/>
                </a:solidFill>
                <a:latin typeface="Malgun Gothic"/>
              </a:rPr>
              <a:t>보류</a:t>
            </a:r>
            <a:r>
              <a:rPr sz="1300" b="1" dirty="0">
                <a:solidFill>
                  <a:srgbClr val="F4A844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F4A844"/>
                </a:solidFill>
                <a:latin typeface="Malgun Gothic"/>
              </a:rPr>
              <a:t>권장</a:t>
            </a:r>
            <a:endParaRPr sz="1300" b="1" dirty="0">
              <a:solidFill>
                <a:srgbClr val="F4A844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1년 내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미활동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각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채널마다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사유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명시</a:t>
            </a:r>
            <a:endParaRPr sz="13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("1530일 전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활동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추정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장기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미활동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51개월"</a:t>
            </a:r>
            <a:r>
              <a:rPr lang="en-US"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lang="ko-KR" altLang="en-US" sz="1200" b="0" dirty="0">
                <a:solidFill>
                  <a:srgbClr val="9A9AA2"/>
                </a:solidFill>
                <a:latin typeface="Malgun Gothic"/>
              </a:rPr>
              <a:t>등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10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새 채널 추천 — 영상 우선 발굴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채널 추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27512"/>
            <a:ext cx="6400800" cy="3408815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086600" y="1463040"/>
            <a:ext cx="459943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69334" y="1645920"/>
            <a:ext cx="4206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 err="1">
                <a:solidFill>
                  <a:srgbClr val="FF3B3B"/>
                </a:solidFill>
                <a:latin typeface="Malgun Gothic"/>
              </a:rPr>
              <a:t>환각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방지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: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이름을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짓지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않고</a:t>
            </a:r>
            <a:endParaRPr sz="1500" b="1" dirty="0">
              <a:solidFill>
                <a:srgbClr val="FF3B3B"/>
              </a:solidFill>
              <a:latin typeface="Malgun Gothic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 err="1">
                <a:solidFill>
                  <a:srgbClr val="FF3B3B"/>
                </a:solidFill>
                <a:latin typeface="Malgun Gothic"/>
              </a:rPr>
              <a:t>실재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영상을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역추적</a:t>
            </a:r>
            <a:endParaRPr sz="1500" b="1" dirty="0">
              <a:solidFill>
                <a:srgbClr val="FF3B3B"/>
              </a:solidFill>
              <a:latin typeface="Malgun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6888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관심사 키워드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77063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상위 채널 + 최근 영상 제목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18688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1868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키워드별 영상 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52044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search.list → channelId 수집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968496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6849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channelId 빈도 집계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27024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2개+ 키워드 등장 = 진짜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718304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1830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후보 프로파일링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2005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실제 설명·영상 제목 수집 (1 unit)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468112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46811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LLM 큐레이션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76986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순위·이유·적합성(fit) 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97502" y="6085668"/>
            <a:ext cx="4206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dirty="0" err="1">
                <a:solidFill>
                  <a:srgbClr val="6A6A72"/>
                </a:solidFill>
                <a:latin typeface="Malgun Gothic"/>
              </a:rPr>
              <a:t>비싼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 search(100u)는 ②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에서만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, 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깊은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분석은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 1u로 → 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쿼터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절약</a:t>
            </a:r>
            <a:endParaRPr sz="1000" b="0" dirty="0">
              <a:solidFill>
                <a:srgbClr val="6A6A72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11 · DATA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Takeout 하이브리드 — 비용 vs 정확도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Malgun Gothic"/>
              </a:rPr>
              <a:t>YouTube API엔 "내 댓글·시청 기록 전체" 조회가 없다 → </a:t>
            </a:r>
            <a:r>
              <a:rPr sz="1400" b="1">
                <a:solidFill>
                  <a:srgbClr val="F2F2F2"/>
                </a:solidFill>
                <a:latin typeface="Malgun Gothic"/>
              </a:rPr>
              <a:t>Google Takeout 파일을 보조 입력으로 받아 보강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1183112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88036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모드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1031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사용자 부담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11680"/>
            <a:ext cx="3017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API 비용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011680"/>
            <a:ext cx="31546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정확도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542032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Malgun Gothic"/>
              </a:rPr>
              <a:t>둘 다 미업로드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42032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542032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Consolas"/>
              </a:rPr>
              <a:t>commentThreads × 채널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42032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댓글 근사 · 시청 미반영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255264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comments.csv 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255264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1회 업로드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255264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Consolas"/>
              </a:rPr>
              <a:t>videos.list × 영상수/50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55264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Malgun Gothic"/>
              </a:rPr>
              <a:t>댓글 정확 · 시청 미반영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968496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watch-history.json 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68496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1회 업로드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968496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Consolas"/>
              </a:rPr>
              <a:t>0 units (subtitles에 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968496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Malgun Gothic"/>
              </a:rPr>
              <a:t>시청 정확 · 댓글 근사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81728"/>
            <a:ext cx="11183112" cy="658368"/>
          </a:xfrm>
          <a:prstGeom prst="rect">
            <a:avLst/>
          </a:prstGeom>
          <a:solidFill>
            <a:srgbClr val="142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681728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Malgun Gothic"/>
              </a:rPr>
              <a:t>둘 다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81728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2회 업로드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4681728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Consolas"/>
              </a:rPr>
              <a:t>댓글 영상 해석만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681728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ECC71"/>
                </a:solidFill>
                <a:latin typeface="Malgun Gothic"/>
              </a:rPr>
              <a:t>모두 정확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669280"/>
            <a:ext cx="1115568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Malgun Gothic"/>
              </a:rPr>
              <a:t>자동 파일 식별: </a:t>
            </a:r>
            <a:r>
              <a:rPr sz="1300" b="0">
                <a:solidFill>
                  <a:srgbClr val="9A9AA2"/>
                </a:solidFill>
                <a:latin typeface="Malgun Gothic"/>
              </a:rPr>
              <a:t>파일명(watch/comment/시청/댓글) + 내용 첫 4KB(titleUrl·subtitles 패턴)로 종류 자동 분기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watch-history.json은 subtitles[0].url에 channelId가 박혀 있어 </a:t>
            </a:r>
            <a:r>
              <a:rPr sz="1200" b="1">
                <a:solidFill>
                  <a:srgbClr val="2ECC71"/>
                </a:solidFill>
                <a:latin typeface="Malgun Gothic"/>
              </a:rPr>
              <a:t>API 호출 0회</a:t>
            </a:r>
            <a:r>
              <a:rPr sz="1200" b="0">
                <a:solidFill>
                  <a:srgbClr val="9A9AA2"/>
                </a:solidFill>
                <a:latin typeface="Malgun Gothic"/>
              </a:rPr>
              <a:t>로 시청 횟수·마지막 시청일 추출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12 · LIMITS &amp;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제약 사항과 향후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8391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dirty="0" err="1">
                <a:solidFill>
                  <a:srgbClr val="FF3B3B"/>
                </a:solidFill>
                <a:latin typeface="Malgun Gothic"/>
              </a:rPr>
              <a:t>현재</a:t>
            </a:r>
            <a:r>
              <a:rPr sz="17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700" b="1" dirty="0" err="1">
                <a:solidFill>
                  <a:srgbClr val="FF3B3B"/>
                </a:solidFill>
                <a:latin typeface="Malgun Gothic"/>
              </a:rPr>
              <a:t>제약</a:t>
            </a:r>
            <a:endParaRPr sz="1700" b="1" dirty="0">
              <a:solidFill>
                <a:srgbClr val="FF3B3B"/>
              </a:solidFill>
              <a:latin typeface="Malgun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>
                <a:solidFill>
                  <a:srgbClr val="F2F2F2"/>
                </a:solidFill>
                <a:latin typeface="Malgun Gothic"/>
              </a:rPr>
              <a:t>• YouTube API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일일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쿼터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1" dirty="0">
                <a:solidFill>
                  <a:srgbClr val="F4A844"/>
                </a:solidFill>
                <a:latin typeface="Malgun Gothic"/>
              </a:rPr>
              <a:t>10,000 units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단일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GCP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프로젝트를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모든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사용자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공유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>
                <a:solidFill>
                  <a:srgbClr val="F2F2F2"/>
                </a:solidFill>
                <a:latin typeface="Malgun Gothic"/>
              </a:rPr>
              <a:t>• OAuth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access_token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1" dirty="0">
                <a:solidFill>
                  <a:srgbClr val="F4A844"/>
                </a:solidFill>
                <a:latin typeface="Malgun Gothic"/>
              </a:rPr>
              <a:t>1시간 </a:t>
            </a:r>
            <a:r>
              <a:rPr sz="1400" b="1" dirty="0" err="1">
                <a:solidFill>
                  <a:srgbClr val="F4A844"/>
                </a:solidFill>
                <a:latin typeface="Malgun Gothic"/>
              </a:rPr>
              <a:t>만료</a:t>
            </a:r>
            <a:endParaRPr sz="1400" b="1" dirty="0">
              <a:solidFill>
                <a:srgbClr val="F4A844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갱신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로직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없음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(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단발성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토큰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댓글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API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근사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: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채널당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최근</a:t>
            </a:r>
            <a:r>
              <a:rPr sz="1400" b="0">
                <a:solidFill>
                  <a:srgbClr val="F2F2F2"/>
                </a:solidFill>
                <a:latin typeface="Malgun Gothic"/>
              </a:rPr>
              <a:t> 100개만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스캔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→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Takeout으로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보완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점수는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4A844"/>
                </a:solidFill>
                <a:latin typeface="Malgun Gothic"/>
              </a:rPr>
              <a:t>상대</a:t>
            </a:r>
            <a:r>
              <a:rPr sz="1400" b="1" dirty="0">
                <a:solidFill>
                  <a:srgbClr val="F4A8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4A844"/>
                </a:solidFill>
                <a:latin typeface="Malgun Gothic"/>
              </a:rPr>
              <a:t>평가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—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사용자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간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비교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불가</a:t>
            </a:r>
            <a:endParaRPr sz="1400" b="0" dirty="0">
              <a:solidFill>
                <a:srgbClr val="9A9AA2"/>
              </a:solidFill>
              <a:latin typeface="Malgun Gothic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199632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64199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dirty="0" err="1">
                <a:solidFill>
                  <a:srgbClr val="2ECC71"/>
                </a:solidFill>
                <a:latin typeface="Malgun Gothic"/>
              </a:rPr>
              <a:t>향후</a:t>
            </a:r>
            <a:r>
              <a:rPr sz="1700" b="1" dirty="0">
                <a:solidFill>
                  <a:srgbClr val="2ECC71"/>
                </a:solidFill>
                <a:latin typeface="Malgun Gothic"/>
              </a:rPr>
              <a:t> </a:t>
            </a:r>
            <a:r>
              <a:rPr sz="1700" b="1" dirty="0" err="1">
                <a:solidFill>
                  <a:srgbClr val="2ECC71"/>
                </a:solidFill>
                <a:latin typeface="Malgun Gothic"/>
              </a:rPr>
              <a:t>과제</a:t>
            </a:r>
            <a:endParaRPr sz="1700" b="1" dirty="0">
              <a:solidFill>
                <a:srgbClr val="2ECC71"/>
              </a:solidFill>
              <a:latin typeface="Malgun Goth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Refresh Token 도입 → 장시간 분석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분석 결과 저장·기간별 추이 비교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추천 채널 원클릭 구독 연동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카테고리 군집화 시각화(차트)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OAuth 동의 화면 프로덕션 게시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  → 테스트 사용자 100명 제한 해제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1463</Words>
  <Application>Microsoft Office PowerPoint</Application>
  <PresentationFormat>와이드스크린</PresentationFormat>
  <Paragraphs>322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명준 송</cp:lastModifiedBy>
  <cp:revision>1</cp:revision>
  <dcterms:created xsi:type="dcterms:W3CDTF">2013-01-27T09:14:16Z</dcterms:created>
  <dcterms:modified xsi:type="dcterms:W3CDTF">2026-06-02T01:31:51Z</dcterms:modified>
  <cp:category/>
</cp:coreProperties>
</file>