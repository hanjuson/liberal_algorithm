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6"/>
    <p:sldId id="263" r:id="rId7"/>
    <p:sldId id="261" r:id="rId8"/>
    <p:sldId id="262" r:id="rId9"/>
    <p:sldId id="273" r:id="rId10"/>
    <p:sldId id="260" r:id="rId11"/>
    <p:sldId id="272" r:id="rId12"/>
    <p:sldId id="264" r:id="rId13"/>
    <p:sldId id="265" r:id="rId14"/>
    <p:sldId id="266" r:id="rId15"/>
    <p:sldId id="267" r:id="rId16"/>
    <p:sldId id="27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F971D4-CDB2-4822-BC53-288A61021AA8}" v="13" dt="2026-06-02T06:43:31.3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284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명준 송" userId="7e48128a0c33bc37" providerId="LiveId" clId="{A62D5C53-2774-4FE3-8307-3525D25D70A4}"/>
    <pc:docChg chg="modSld">
      <pc:chgData name="명준 송" userId="7e48128a0c33bc37" providerId="LiveId" clId="{A62D5C53-2774-4FE3-8307-3525D25D70A4}" dt="2026-06-02T08:01:32.060" v="29" actId="20577"/>
      <pc:docMkLst>
        <pc:docMk/>
      </pc:docMkLst>
      <pc:sldChg chg="modSp mod">
        <pc:chgData name="명준 송" userId="7e48128a0c33bc37" providerId="LiveId" clId="{A62D5C53-2774-4FE3-8307-3525D25D70A4}" dt="2026-06-02T08:01:12.839" v="13" actId="20577"/>
        <pc:sldMkLst>
          <pc:docMk/>
          <pc:sldMk cId="0" sldId="260"/>
        </pc:sldMkLst>
        <pc:spChg chg="mod">
          <ac:chgData name="명준 송" userId="7e48128a0c33bc37" providerId="LiveId" clId="{A62D5C53-2774-4FE3-8307-3525D25D70A4}" dt="2026-06-02T08:01:12.839" v="13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0:53.867" v="7" actId="20577"/>
        <pc:sldMkLst>
          <pc:docMk/>
          <pc:sldMk cId="0" sldId="261"/>
        </pc:sldMkLst>
        <pc:spChg chg="mod">
          <ac:chgData name="명준 송" userId="7e48128a0c33bc37" providerId="LiveId" clId="{A62D5C53-2774-4FE3-8307-3525D25D70A4}" dt="2026-06-02T08:00:53.867" v="7" actId="20577"/>
          <ac:spMkLst>
            <pc:docMk/>
            <pc:sldMk cId="0" sldId="261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05.474" v="9" actId="20577"/>
        <pc:sldMkLst>
          <pc:docMk/>
          <pc:sldMk cId="0" sldId="262"/>
        </pc:sldMkLst>
        <pc:spChg chg="mod">
          <ac:chgData name="명준 송" userId="7e48128a0c33bc37" providerId="LiveId" clId="{A62D5C53-2774-4FE3-8307-3525D25D70A4}" dt="2026-06-02T08:01:05.474" v="9" actId="20577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0:51.154" v="5" actId="20577"/>
        <pc:sldMkLst>
          <pc:docMk/>
          <pc:sldMk cId="0" sldId="263"/>
        </pc:sldMkLst>
        <pc:spChg chg="mod">
          <ac:chgData name="명준 송" userId="7e48128a0c33bc37" providerId="LiveId" clId="{A62D5C53-2774-4FE3-8307-3525D25D70A4}" dt="2026-06-02T08:00:51.154" v="5" actId="20577"/>
          <ac:spMkLst>
            <pc:docMk/>
            <pc:sldMk cId="0" sldId="263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18.961" v="19" actId="20577"/>
        <pc:sldMkLst>
          <pc:docMk/>
          <pc:sldMk cId="0" sldId="264"/>
        </pc:sldMkLst>
        <pc:spChg chg="mod">
          <ac:chgData name="명준 송" userId="7e48128a0c33bc37" providerId="LiveId" clId="{A62D5C53-2774-4FE3-8307-3525D25D70A4}" dt="2026-06-02T08:01:18.961" v="19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22.906" v="23" actId="20577"/>
        <pc:sldMkLst>
          <pc:docMk/>
          <pc:sldMk cId="0" sldId="265"/>
        </pc:sldMkLst>
        <pc:spChg chg="mod">
          <ac:chgData name="명준 송" userId="7e48128a0c33bc37" providerId="LiveId" clId="{A62D5C53-2774-4FE3-8307-3525D25D70A4}" dt="2026-06-02T08:01:22.906" v="23" actId="20577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25.635" v="25" actId="20577"/>
        <pc:sldMkLst>
          <pc:docMk/>
          <pc:sldMk cId="0" sldId="266"/>
        </pc:sldMkLst>
        <pc:spChg chg="mod">
          <ac:chgData name="명준 송" userId="7e48128a0c33bc37" providerId="LiveId" clId="{A62D5C53-2774-4FE3-8307-3525D25D70A4}" dt="2026-06-02T08:01:25.635" v="25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28.762" v="27" actId="20577"/>
        <pc:sldMkLst>
          <pc:docMk/>
          <pc:sldMk cId="0" sldId="267"/>
        </pc:sldMkLst>
        <pc:spChg chg="mod">
          <ac:chgData name="명준 송" userId="7e48128a0c33bc37" providerId="LiveId" clId="{A62D5C53-2774-4FE3-8307-3525D25D70A4}" dt="2026-06-02T08:01:28.762" v="27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0:48.186" v="3" actId="20577"/>
        <pc:sldMkLst>
          <pc:docMk/>
          <pc:sldMk cId="0" sldId="270"/>
        </pc:sldMkLst>
        <pc:spChg chg="mod">
          <ac:chgData name="명준 송" userId="7e48128a0c33bc37" providerId="LiveId" clId="{A62D5C53-2774-4FE3-8307-3525D25D70A4}" dt="2026-06-02T08:00:48.186" v="3" actId="20577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15.901" v="15" actId="20577"/>
        <pc:sldMkLst>
          <pc:docMk/>
          <pc:sldMk cId="259452641" sldId="272"/>
        </pc:sldMkLst>
        <pc:spChg chg="mod">
          <ac:chgData name="명준 송" userId="7e48128a0c33bc37" providerId="LiveId" clId="{A62D5C53-2774-4FE3-8307-3525D25D70A4}" dt="2026-06-02T08:01:15.901" v="15" actId="20577"/>
          <ac:spMkLst>
            <pc:docMk/>
            <pc:sldMk cId="259452641" sldId="272"/>
            <ac:spMk id="4" creationId="{00000000-0000-0000-0000-000000000000}"/>
          </ac:spMkLst>
        </pc:spChg>
      </pc:sldChg>
      <pc:sldChg chg="modSp mod">
        <pc:chgData name="명준 송" userId="7e48128a0c33bc37" providerId="LiveId" clId="{A62D5C53-2774-4FE3-8307-3525D25D70A4}" dt="2026-06-02T08:01:08.503" v="11" actId="20577"/>
        <pc:sldMkLst>
          <pc:docMk/>
          <pc:sldMk cId="2915698829" sldId="273"/>
        </pc:sldMkLst>
        <pc:spChg chg="mod">
          <ac:chgData name="명준 송" userId="7e48128a0c33bc37" providerId="LiveId" clId="{A62D5C53-2774-4FE3-8307-3525D25D70A4}" dt="2026-06-02T08:01:08.503" v="11" actId="20577"/>
          <ac:spMkLst>
            <pc:docMk/>
            <pc:sldMk cId="2915698829" sldId="273"/>
            <ac:spMk id="4" creationId="{8058CF80-C3A9-8966-D924-CFC22C0347FD}"/>
          </ac:spMkLst>
        </pc:spChg>
      </pc:sldChg>
      <pc:sldChg chg="modSp mod">
        <pc:chgData name="명준 송" userId="7e48128a0c33bc37" providerId="LiveId" clId="{A62D5C53-2774-4FE3-8307-3525D25D70A4}" dt="2026-06-02T08:01:32.060" v="29" actId="20577"/>
        <pc:sldMkLst>
          <pc:docMk/>
          <pc:sldMk cId="3664251528" sldId="274"/>
        </pc:sldMkLst>
        <pc:spChg chg="mod">
          <ac:chgData name="명준 송" userId="7e48128a0c33bc37" providerId="LiveId" clId="{A62D5C53-2774-4FE3-8307-3525D25D70A4}" dt="2026-06-02T08:01:32.060" v="29" actId="20577"/>
          <ac:spMkLst>
            <pc:docMk/>
            <pc:sldMk cId="3664251528" sldId="274"/>
            <ac:spMk id="4" creationId="{4B6CED53-B1CD-45E1-4F7B-70FFE424D18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3000" b="1" dirty="0">
                <a:solidFill>
                  <a:srgbClr val="FF3B3B"/>
                </a:solidFill>
                <a:latin typeface="Consolas"/>
              </a:rPr>
              <a:t>Team Liberal</a:t>
            </a:r>
            <a:endParaRPr sz="3000" b="1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2148840"/>
            <a:ext cx="1069848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5000" b="1" dirty="0">
                <a:solidFill>
                  <a:srgbClr val="F2F2F2"/>
                </a:solidFill>
                <a:latin typeface="Segoe UI"/>
              </a:rPr>
              <a:t>Subscription </a:t>
            </a:r>
            <a:r>
              <a:rPr sz="5000" b="1" dirty="0">
                <a:solidFill>
                  <a:srgbClr val="FF3B3B"/>
                </a:solidFill>
                <a:latin typeface="Segoe UI"/>
              </a:rPr>
              <a:t>Interest Analyzer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46320"/>
            <a:ext cx="1051560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2000" dirty="0">
                <a:solidFill>
                  <a:schemeClr val="bg1"/>
                </a:solidFill>
                <a:highlight>
                  <a:srgbClr val="000000"/>
                </a:highlight>
              </a:rPr>
              <a:t>Sorting, search, hashing, and graphs — applied to your real YouTube data</a:t>
            </a:r>
            <a:endParaRPr sz="2000" b="0" dirty="0">
              <a:solidFill>
                <a:schemeClr val="bg1"/>
              </a:solidFill>
              <a:highlight>
                <a:srgbClr val="000000"/>
              </a:highlight>
              <a:latin typeface="Consola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01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Where this project started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484632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3B3B"/>
                </a:solidFill>
                <a:latin typeface="Segoe UI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40280"/>
            <a:ext cx="4983480" cy="326300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2F2F2"/>
                </a:solidFill>
                <a:latin typeface="Segoe UI"/>
              </a:rPr>
              <a:t>• Subscriptions pile up to dozens or</a:t>
            </a:r>
            <a:r>
              <a:rPr lang="en-US" sz="1500" b="0" dirty="0">
                <a:solidFill>
                  <a:srgbClr val="F2F2F2"/>
                </a:solidFill>
                <a:latin typeface="Segoe UI"/>
              </a:rPr>
              <a:t> </a:t>
            </a:r>
            <a:r>
              <a:rPr sz="1500" b="0" dirty="0">
                <a:solidFill>
                  <a:schemeClr val="bg1"/>
                </a:solidFill>
                <a:latin typeface="Segoe UI"/>
              </a:rPr>
              <a:t>hundreds, </a:t>
            </a:r>
            <a:endParaRPr lang="en-US" sz="1500" b="0" dirty="0">
              <a:solidFill>
                <a:schemeClr val="bg1"/>
              </a:solidFill>
              <a:latin typeface="Segoe UI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1500" dirty="0">
                <a:solidFill>
                  <a:srgbClr val="9A9AA2"/>
                </a:solidFill>
                <a:latin typeface="Segoe UI"/>
              </a:rPr>
              <a:t>  </a:t>
            </a:r>
            <a:r>
              <a:rPr lang="en-US" altLang="ko-KR" sz="1500" dirty="0">
                <a:solidFill>
                  <a:srgbClr val="9A9AA2"/>
                </a:solidFill>
                <a:latin typeface="Segoe UI"/>
              </a:rPr>
              <a:t>— </a:t>
            </a:r>
            <a:r>
              <a:rPr sz="1500" b="0" dirty="0">
                <a:solidFill>
                  <a:srgbClr val="9A9AA2"/>
                </a:solidFill>
                <a:latin typeface="Segoe UI"/>
              </a:rPr>
              <a:t>yet it's hard to tell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9A9AA2"/>
                </a:solidFill>
                <a:latin typeface="Segoe UI"/>
              </a:rPr>
              <a:t>  which channels you actually watch.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 dirty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2F2F2"/>
                </a:solidFill>
                <a:latin typeface="Segoe UI"/>
              </a:rPr>
              <a:t>• "Subscribed for years but never</a:t>
            </a:r>
            <a:r>
              <a:rPr lang="en-US" sz="1500" b="0" dirty="0">
                <a:solidFill>
                  <a:srgbClr val="F2F2F2"/>
                </a:solidFill>
                <a:latin typeface="Segoe UI"/>
              </a:rPr>
              <a:t> </a:t>
            </a:r>
            <a:r>
              <a:rPr sz="1500" b="0" dirty="0">
                <a:solidFill>
                  <a:schemeClr val="bg1"/>
                </a:solidFill>
                <a:latin typeface="Segoe UI"/>
              </a:rPr>
              <a:t>watch" </a:t>
            </a:r>
            <a:endParaRPr lang="en-US" sz="1500" b="0" dirty="0">
              <a:solidFill>
                <a:schemeClr val="bg1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500" dirty="0">
                <a:solidFill>
                  <a:srgbClr val="9A9AA2"/>
                </a:solidFill>
                <a:latin typeface="Segoe UI"/>
              </a:rPr>
              <a:t>  </a:t>
            </a:r>
            <a:r>
              <a:rPr sz="1500" b="0" dirty="0">
                <a:solidFill>
                  <a:srgbClr val="9A9AA2"/>
                </a:solidFill>
                <a:latin typeface="Segoe UI"/>
              </a:rPr>
              <a:t>— dormant channels clutter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9A9AA2"/>
                </a:solidFill>
                <a:latin typeface="Segoe UI"/>
              </a:rPr>
              <a:t>  the whole list.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 dirty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2F2F2"/>
                </a:solidFill>
                <a:latin typeface="Segoe UI"/>
              </a:rPr>
              <a:t>• YouTube offers no API for your full</a:t>
            </a:r>
            <a:endParaRPr lang="en-US" sz="1500" b="0" dirty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lang="ko-KR" altLang="en-US" sz="1500" b="0" dirty="0">
                <a:solidFill>
                  <a:srgbClr val="9A9AA2"/>
                </a:solidFill>
                <a:latin typeface="Segoe UI"/>
              </a:rPr>
              <a:t>  </a:t>
            </a:r>
            <a:r>
              <a:rPr lang="en-US" sz="1500" b="0" dirty="0">
                <a:solidFill>
                  <a:schemeClr val="bg1"/>
                </a:solidFill>
                <a:latin typeface="Segoe UI"/>
              </a:rPr>
              <a:t>comment / watch history </a:t>
            </a:r>
            <a:r>
              <a:rPr lang="en-US" sz="1300" b="0" dirty="0">
                <a:solidFill>
                  <a:srgbClr val="6A6A72"/>
                </a:solidFill>
                <a:latin typeface="Segoe UI"/>
              </a:rPr>
              <a:t>(removed 2016).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463040"/>
            <a:ext cx="5486400" cy="484632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73952" y="1691640"/>
            <a:ext cx="50292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Our Solution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73952" y="2240280"/>
            <a:ext cx="4983480" cy="3840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Weight &amp; sum comments, likes, watch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9A9AA2"/>
                </a:solidFill>
                <a:latin typeface="Segoe UI"/>
              </a:rPr>
              <a:t>   count, sub age → </a:t>
            </a:r>
            <a:r>
              <a:rPr sz="1500" b="1">
                <a:solidFill>
                  <a:srgbClr val="F2F2F2"/>
                </a:solidFill>
                <a:latin typeface="Segoe UI"/>
              </a:rPr>
              <a:t>Interest Score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1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</a:t>
            </a:r>
            <a:r>
              <a:rPr sz="1500" b="1">
                <a:solidFill>
                  <a:srgbClr val="FF3B3B"/>
                </a:solidFill>
                <a:latin typeface="Segoe UI"/>
              </a:rPr>
              <a:t>Zero activity → instant 0 points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1">
              <a:solidFill>
                <a:srgbClr val="FF3B3B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Auto-classify into 4 groups 🔥 😊 👋 🌱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Boost accuracy with real </a:t>
            </a:r>
            <a:r>
              <a:rPr sz="1500" b="1">
                <a:solidFill>
                  <a:srgbClr val="F2F2F2"/>
                </a:solidFill>
                <a:latin typeface="Segoe UI"/>
              </a:rPr>
              <a:t>watch history</a:t>
            </a:r>
            <a:r>
              <a:rPr sz="1500" b="0">
                <a:solidFill>
                  <a:srgbClr val="9A9AA2"/>
                </a:solidFill>
                <a:latin typeface="Segoe UI"/>
              </a:rPr>
              <a:t> (Takeout)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endParaRPr sz="15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F2F2F2"/>
                </a:solidFill>
                <a:latin typeface="Segoe UI"/>
              </a:rPr>
              <a:t>✓ Solar LLM interprets taste &amp; recommends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02 ·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Core features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755648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📊  </a:t>
            </a:r>
            <a:r>
              <a:rPr sz="1600" b="1">
                <a:solidFill>
                  <a:srgbClr val="FF3B3B"/>
                </a:solidFill>
                <a:latin typeface="Segoe UI"/>
              </a:rPr>
              <a:t>Interest Scoring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Weight &amp; sum comments, likes,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watch &amp; sub age into 0–100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79392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07992" y="1755648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🗂️  </a:t>
            </a:r>
            <a:r>
              <a:rPr sz="1600" b="1">
                <a:solidFill>
                  <a:srgbClr val="FF3B3B"/>
                </a:solidFill>
                <a:latin typeface="Segoe UI"/>
              </a:rPr>
              <a:t>4-Group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468880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🔥 Top / 😊 Often / 👋 Sometimes 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🌱 Subscribed-only via binary search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55864" y="1554480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84464" y="1755648"/>
            <a:ext cx="3200400" cy="38985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dirty="0">
                <a:solidFill>
                  <a:srgbClr val="F2F2F2"/>
                </a:solidFill>
                <a:latin typeface="Segoe UI"/>
              </a:rPr>
              <a:t>📥  </a:t>
            </a:r>
            <a:r>
              <a:rPr lang="en-US" sz="1600" b="1" dirty="0" err="1">
                <a:solidFill>
                  <a:srgbClr val="FF3B3B"/>
                </a:solidFill>
                <a:latin typeface="Segoe UI"/>
              </a:rPr>
              <a:t>Coments</a:t>
            </a:r>
            <a:r>
              <a:rPr lang="en-US" sz="1600" b="1" dirty="0">
                <a:solidFill>
                  <a:srgbClr val="FF3B3B"/>
                </a:solidFill>
                <a:latin typeface="Segoe UI"/>
              </a:rPr>
              <a:t> &amp; history</a:t>
            </a:r>
            <a:r>
              <a:rPr sz="1600" b="1" dirty="0">
                <a:solidFill>
                  <a:srgbClr val="FF3B3B"/>
                </a:solidFill>
                <a:latin typeface="Segoe UI"/>
              </a:rPr>
              <a:t> Hybrid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468880"/>
            <a:ext cx="3200400" cy="5686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9A9AA2"/>
                </a:solidFill>
                <a:latin typeface="Segoe UI"/>
              </a:rPr>
              <a:t>Exact </a:t>
            </a:r>
            <a:r>
              <a:rPr lang="en-US" sz="1300" b="0" dirty="0">
                <a:solidFill>
                  <a:srgbClr val="9A9AA2"/>
                </a:solidFill>
                <a:latin typeface="Segoe UI"/>
              </a:rPr>
              <a:t>both </a:t>
            </a:r>
            <a:r>
              <a:rPr sz="1300" b="0" dirty="0">
                <a:solidFill>
                  <a:srgbClr val="9A9AA2"/>
                </a:solidFill>
                <a:latin typeface="Segoe UI"/>
              </a:rPr>
              <a:t>comments &amp; watch history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0" dirty="0">
                <a:solidFill>
                  <a:srgbClr val="9A9AA2"/>
                </a:solidFill>
                <a:latin typeface="Segoe UI"/>
              </a:rPr>
              <a:t>Using takeout service</a:t>
            </a:r>
            <a:endParaRPr sz="1300" b="0" dirty="0">
              <a:solidFill>
                <a:srgbClr val="9A9AA2"/>
              </a:solidFill>
              <a:latin typeface="Segoe UI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🧬  </a:t>
            </a:r>
            <a:r>
              <a:rPr sz="1600" b="1">
                <a:solidFill>
                  <a:srgbClr val="FF3B3B"/>
                </a:solidFill>
                <a:latin typeface="Segoe UI"/>
              </a:rPr>
              <a:t>Viewing-Taste Persona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Solar LLM turns your channel mix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into one taste 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79392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507992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🧹  </a:t>
            </a:r>
            <a:r>
              <a:rPr sz="1600" b="1">
                <a:solidFill>
                  <a:srgbClr val="FF3B3B"/>
                </a:solidFill>
                <a:latin typeface="Segoe UI"/>
              </a:rPr>
              <a:t>Cleanup Coach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7992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LLM suggests drop/keep for dormant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&amp; low-interest channels, with reasons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55864" y="3995928"/>
            <a:ext cx="3611880" cy="2240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84464" y="4197096"/>
            <a:ext cx="3200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>
                <a:solidFill>
                  <a:srgbClr val="F2F2F2"/>
                </a:solidFill>
                <a:latin typeface="Segoe UI"/>
              </a:rPr>
              <a:t>✨  </a:t>
            </a:r>
            <a:r>
              <a:rPr sz="1600" b="1">
                <a:solidFill>
                  <a:srgbClr val="FF3B3B"/>
                </a:solidFill>
                <a:latin typeface="Segoe UI"/>
              </a:rPr>
              <a:t>New Channel Recommend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4464" y="4910328"/>
            <a:ext cx="320040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Reverse-trace interest videos to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surface 10 real, existing channels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03 ·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02920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2F2"/>
                </a:solidFill>
                <a:latin typeface="Segoe UI"/>
              </a:rPr>
              <a:t>Browser (Vanilla 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377440"/>
            <a:ext cx="315468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GIS token client (OAuth)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Direct YouTube Data API calls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Takeout file parsing (JS)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Render · filter · 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96512" y="2926080"/>
            <a:ext cx="20116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9392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79392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79392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Segoe UI"/>
              </a:rPr>
              <a:t>Flask Server (app.py)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377440"/>
            <a:ext cx="3154680" cy="2377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/api/analyze — score·sort·group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LRU cache (input-dependent key)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Heap Sort · Binary Search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7 LLM proxy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2984" y="2926080"/>
            <a:ext cx="201168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5864" y="1600200"/>
            <a:ext cx="361188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55864" y="1600200"/>
            <a:ext cx="3611880" cy="566928"/>
          </a:xfrm>
          <a:prstGeom prst="roundRect">
            <a:avLst/>
          </a:prstGeom>
          <a:solidFill>
            <a:srgbClr val="202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55864" y="1600200"/>
            <a:ext cx="3611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Segoe UI"/>
              </a:rPr>
              <a:t>External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377440"/>
            <a:ext cx="3154680" cy="60362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F2F2F2"/>
                </a:solidFill>
                <a:latin typeface="Segoe UI"/>
              </a:rPr>
              <a:t>• YouTube Data API v3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dirty="0">
                <a:solidFill>
                  <a:srgbClr val="F2F2F2"/>
                </a:solidFill>
                <a:latin typeface="Segoe UI"/>
              </a:rPr>
              <a:t>• Upstage Solar (solar-pro2)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5120640"/>
            <a:ext cx="11183112" cy="114300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5230368"/>
            <a:ext cx="107899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Data Flow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596128"/>
            <a:ext cx="1088136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OAuth login → collect subs·likes·comments → (optional) Takeout boost → </a:t>
            </a:r>
            <a:r>
              <a:rPr sz="1300" b="1">
                <a:solidFill>
                  <a:srgbClr val="F2F2F2"/>
                </a:solidFill>
                <a:latin typeface="Consolas"/>
              </a:rPr>
              <a:t>/api/analyze</a:t>
            </a:r>
            <a:r>
              <a:rPr sz="1300" b="0">
                <a:solidFill>
                  <a:srgbClr val="9A9AA2"/>
                </a:solidFill>
                <a:latin typeface="Segoe UI"/>
              </a:rPr>
              <a:t> scoring pipeline → group &amp; sort → render → </a:t>
            </a:r>
            <a:r>
              <a:rPr sz="1300" b="1">
                <a:solidFill>
                  <a:srgbClr val="2ECC71"/>
                </a:solidFill>
                <a:latin typeface="Segoe UI"/>
              </a:rPr>
              <a:t>AI Tools (LLM)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04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DATA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Takeout Hybrid — Cost vs Accuracy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YouTube API can't fetch your full comment/watch history → </a:t>
            </a:r>
            <a:r>
              <a:rPr sz="1400" b="1">
                <a:solidFill>
                  <a:srgbClr val="F2F2F2"/>
                </a:solidFill>
                <a:latin typeface="Segoe UI"/>
              </a:rPr>
              <a:t>take Google Takeout files as auxiliary input to boost accuracy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11183112" cy="502920"/>
          </a:xfrm>
          <a:prstGeom prst="rect">
            <a:avLst/>
          </a:prstGeom>
          <a:solidFill>
            <a:srgbClr val="24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288036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011680"/>
            <a:ext cx="21031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User Effort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2011680"/>
            <a:ext cx="3017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API Cost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011680"/>
            <a:ext cx="315468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Segoe UI"/>
              </a:rPr>
              <a:t>Accuracy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42032"/>
            <a:ext cx="11183112" cy="658368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920" y="2542032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9A9AA2"/>
                </a:solidFill>
                <a:latin typeface="Segoe UI"/>
              </a:rPr>
              <a:t>Neither uploaded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42032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none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2542032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commentThreads × #channels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2542032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approx comments · no watch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255264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2F2"/>
                </a:solidFill>
                <a:latin typeface="Segoe UI"/>
              </a:rPr>
              <a:t>comments.csv only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255264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 upload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3255264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videos.list × #videos/50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255264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exact comments · no watch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968496"/>
            <a:ext cx="11183112" cy="658368"/>
          </a:xfrm>
          <a:prstGeom prst="rect">
            <a:avLst/>
          </a:prstGeom>
          <a:solidFill>
            <a:srgbClr val="1616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3968496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2F2F2"/>
                </a:solidFill>
                <a:latin typeface="Segoe UI"/>
              </a:rPr>
              <a:t>watch-history.json only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3968496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 upload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968496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0 units (channelId in subtitles)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968496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exact watch · approx comments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681728"/>
            <a:ext cx="11183112" cy="658368"/>
          </a:xfrm>
          <a:prstGeom prst="rect">
            <a:avLst/>
          </a:prstGeom>
          <a:solidFill>
            <a:srgbClr val="1422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681728"/>
            <a:ext cx="288036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CC71"/>
                </a:solidFill>
                <a:latin typeface="Segoe UI"/>
              </a:rPr>
              <a:t>Both 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681728"/>
            <a:ext cx="21031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2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681728"/>
            <a:ext cx="301752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>
                <a:solidFill>
                  <a:srgbClr val="9A9AA2"/>
                </a:solidFill>
                <a:latin typeface="Consolas"/>
              </a:rPr>
              <a:t>comment video-resolve only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4681728"/>
            <a:ext cx="3154680" cy="65836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2ECC71"/>
                </a:solidFill>
                <a:latin typeface="Segoe UI"/>
              </a:rPr>
              <a:t>all exact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669280"/>
            <a:ext cx="111556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Segoe UI"/>
              </a:rPr>
              <a:t>Auto file detection: </a:t>
            </a:r>
            <a:r>
              <a:rPr sz="1300" b="0">
                <a:solidFill>
                  <a:srgbClr val="9A9AA2"/>
                </a:solidFill>
                <a:latin typeface="Segoe UI"/>
              </a:rPr>
              <a:t>filename (watch/comment) + first 4KB content (titleUrl·subtitles patterns) auto-routes the type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watch-history.json embeds channelId in subtitles[0].url → </a:t>
            </a:r>
            <a:r>
              <a:rPr sz="1200" b="1">
                <a:solidFill>
                  <a:srgbClr val="2ECC71"/>
                </a:solidFill>
                <a:latin typeface="Segoe UI"/>
              </a:rPr>
              <a:t>0 API calls</a:t>
            </a:r>
            <a:r>
              <a:rPr sz="1200" b="0">
                <a:solidFill>
                  <a:srgbClr val="9A9AA2"/>
                </a:solidFill>
                <a:latin typeface="Segoe UI"/>
              </a:rPr>
              <a:t> to extract watch count &amp; last-watch date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5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COURSE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Algorithms Actually Used in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Heap Sort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recursive heapify, max-heap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700784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700784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2ECC71"/>
                </a:solidFill>
                <a:latin typeface="Consolas"/>
              </a:rPr>
              <a:t>O(n log 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121408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descending score sort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554480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28232" y="1664208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Binary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2057400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boundary-array search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177272" y="1700784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177272" y="1700784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O(log k)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88552" y="2121408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score → 4 groups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2715768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2825496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LRU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218688"/>
            <a:ext cx="384048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OrderedDict input key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2862072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480560" y="2862072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O(1)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3282696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score cache · auto-invalidate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9632" y="2715768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28232" y="2825496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Hash 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3218688"/>
            <a:ext cx="3840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9A9AA2"/>
                </a:solidFill>
                <a:latin typeface="Segoe UI"/>
              </a:rPr>
              <a:t>Activity s</a:t>
            </a:r>
            <a:r>
              <a:rPr lang="en-US" sz="1200" b="0" dirty="0">
                <a:solidFill>
                  <a:srgbClr val="9A9AA2"/>
                </a:solidFill>
                <a:latin typeface="Segoe UI"/>
              </a:rPr>
              <a:t>ignal aggregation</a:t>
            </a:r>
            <a:endParaRPr sz="1200" b="0" dirty="0">
              <a:solidFill>
                <a:srgbClr val="9A9AA2"/>
              </a:solidFill>
              <a:latin typeface="Segoe UI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0177272" y="2862072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177272" y="2862072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O(1) avg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88552" y="3282696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multi-channel aggregation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3877056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986784"/>
            <a:ext cx="34747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Min-Max Normalize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379976"/>
            <a:ext cx="3840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dirty="0">
                <a:solidFill>
                  <a:srgbClr val="9A9AA2"/>
                </a:solidFill>
                <a:latin typeface="Segoe UI"/>
              </a:rPr>
              <a:t>L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inear scaling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80560" y="4023360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80560" y="4023360"/>
            <a:ext cx="1325880" cy="3657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ECC71"/>
                </a:solidFill>
                <a:latin typeface="Consolas"/>
              </a:rPr>
              <a:t>O(n)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91840" y="4443984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Segoe UI"/>
              </a:rPr>
              <a:t>0–100 scoring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9632" y="3877056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28232" y="3986784"/>
            <a:ext cx="3474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sz="1600" b="1" dirty="0">
                <a:solidFill>
                  <a:srgbClr val="FF3B3B"/>
                </a:solidFill>
                <a:latin typeface="Segoe UI"/>
              </a:rPr>
              <a:t>Kruskal</a:t>
            </a:r>
            <a:endParaRPr sz="1600" b="1" dirty="0">
              <a:solidFill>
                <a:srgbClr val="FF3B3B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28232" y="4379976"/>
            <a:ext cx="3840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200" b="0" dirty="0">
                <a:solidFill>
                  <a:srgbClr val="9A9AA2"/>
                </a:solidFill>
                <a:latin typeface="Segoe UI"/>
              </a:rPr>
              <a:t>Building taste map</a:t>
            </a:r>
            <a:endParaRPr sz="1200" b="0" dirty="0">
              <a:solidFill>
                <a:srgbClr val="9A9AA2"/>
              </a:solidFill>
              <a:latin typeface="Segoe UI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10177272" y="4023360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77272" y="4088259"/>
            <a:ext cx="13258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dirty="0">
                <a:solidFill>
                  <a:srgbClr val="2ECC71"/>
                </a:solidFill>
                <a:latin typeface="Consolas"/>
              </a:rPr>
              <a:t>O(</a:t>
            </a:r>
            <a:r>
              <a:rPr lang="en-US" sz="1200" b="1" dirty="0" err="1">
                <a:solidFill>
                  <a:srgbClr val="2ECC71"/>
                </a:solidFill>
                <a:latin typeface="Consolas"/>
              </a:rPr>
              <a:t>ElogE</a:t>
            </a:r>
            <a:r>
              <a:rPr sz="1200" b="1" dirty="0">
                <a:solidFill>
                  <a:srgbClr val="2ECC71"/>
                </a:solidFill>
                <a:latin typeface="Consolas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88552" y="4443984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dirty="0">
                <a:solidFill>
                  <a:srgbClr val="6A6A72"/>
                </a:solidFill>
                <a:latin typeface="Segoe UI"/>
              </a:rPr>
              <a:t>watch-recency weighting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02920" y="5038344"/>
            <a:ext cx="5486400" cy="105156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737657" y="5148072"/>
            <a:ext cx="3474720" cy="297517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600" b="1" dirty="0">
                <a:solidFill>
                  <a:srgbClr val="FF0000"/>
                </a:solidFill>
                <a:latin typeface="Segoe UI"/>
              </a:rPr>
              <a:t>Union-Find + MST</a:t>
            </a:r>
            <a:endParaRPr sz="1600" b="1" dirty="0">
              <a:solidFill>
                <a:srgbClr val="FF0000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31520" y="5541264"/>
            <a:ext cx="384048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dirty="0">
                <a:solidFill>
                  <a:srgbClr val="9A9AA2"/>
                </a:solidFill>
                <a:latin typeface="Segoe UI"/>
              </a:rPr>
              <a:t>Graph </a:t>
            </a:r>
            <a:r>
              <a:rPr lang="en-US" altLang="ko-KR" sz="1200" dirty="0" err="1">
                <a:solidFill>
                  <a:srgbClr val="9A9AA2"/>
                </a:solidFill>
                <a:latin typeface="Segoe UI"/>
              </a:rPr>
              <a:t>visuallize</a:t>
            </a:r>
            <a:r>
              <a:rPr lang="en-US" altLang="ko-KR" sz="1200" dirty="0">
                <a:solidFill>
                  <a:srgbClr val="9A9AA2"/>
                </a:solidFill>
                <a:latin typeface="Segoe UI"/>
              </a:rPr>
              <a:t> </a:t>
            </a:r>
            <a:endParaRPr sz="1200" b="0" dirty="0">
              <a:solidFill>
                <a:srgbClr val="9A9AA2"/>
              </a:solidFill>
              <a:latin typeface="Segoe UI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480560" y="5184648"/>
            <a:ext cx="1325880" cy="365760"/>
          </a:xfrm>
          <a:prstGeom prst="roundRect">
            <a:avLst/>
          </a:prstGeom>
          <a:solidFill>
            <a:srgbClr val="1E2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480560" y="5249547"/>
            <a:ext cx="1325880" cy="235962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ko-KR" sz="1200" b="1" dirty="0">
                <a:solidFill>
                  <a:srgbClr val="2ECC71"/>
                </a:solidFill>
                <a:latin typeface="Consolas"/>
              </a:rPr>
              <a:t>O(1)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91840" y="5605272"/>
            <a:ext cx="2468880" cy="2205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100" b="0" dirty="0">
                <a:solidFill>
                  <a:srgbClr val="6A6A72"/>
                </a:solidFill>
                <a:latin typeface="Segoe UI"/>
              </a:rPr>
              <a:t>Almost</a:t>
            </a:r>
            <a:endParaRPr sz="1100" b="0" dirty="0">
              <a:solidFill>
                <a:srgbClr val="6A6A72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6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Scoring — 5-Stage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80160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80160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2F2F2"/>
                </a:solidFill>
                <a:latin typeface="Segoe UI"/>
              </a:rPr>
              <a:t>Weighted Activity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comments×5 + watch×3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+ likes×2 + sub bonus(+12)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Zero activity → 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15768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493008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493008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Recency Decay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score × e^(−0.005·d)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d = days since last watch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98648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98648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Decay stale channels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28616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5705856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705856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28616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Min-Max Normalize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65776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(s−min)/(max−min)×100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→ 0–100 relative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111496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11496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Within-user compare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31736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141464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918704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918704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41464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Binary Search Group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78624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boundaries [20·50·80]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→ 4 groups O(log 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24344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324344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🔥 😊 👋 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44584" y="3108960"/>
            <a:ext cx="182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→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54312" y="1783080"/>
            <a:ext cx="2148840" cy="329184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131552" y="1965960"/>
            <a:ext cx="566928" cy="566928"/>
          </a:xfrm>
          <a:prstGeom prst="round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0131552" y="1965960"/>
            <a:ext cx="566928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1">
                <a:solidFill>
                  <a:srgbClr val="F2F2F2"/>
                </a:solidFill>
                <a:latin typeface="Segoe U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2697480"/>
            <a:ext cx="214884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Heap Sort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91472" y="3246120"/>
            <a:ext cx="1874520" cy="11887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custom max-heap</a:t>
            </a:r>
          </a:p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Consolas"/>
              </a:rPr>
              <a:t>descending O(n log n)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37192" y="4434840"/>
            <a:ext cx="1783080" cy="411480"/>
          </a:xfrm>
          <a:prstGeom prst="roundRect">
            <a:avLst/>
          </a:prstGeom>
          <a:solidFill>
            <a:srgbClr val="2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537192" y="4434840"/>
            <a:ext cx="1783080" cy="4114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4A844"/>
                </a:solidFill>
                <a:latin typeface="Segoe UI"/>
              </a:rPr>
              <a:t>Ranked output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2920" y="5257800"/>
            <a:ext cx="11183112" cy="960120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31520" y="5349240"/>
            <a:ext cx="1078992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CC71"/>
                </a:solidFill>
                <a:latin typeface="Segoe UI"/>
              </a:rPr>
              <a:t>+ LRU Cache</a:t>
            </a:r>
            <a:r>
              <a:rPr sz="1200" b="0">
                <a:solidFill>
                  <a:srgbClr val="9A9AA2"/>
                </a:solidFill>
                <a:latin typeface="Consolas"/>
              </a:rPr>
              <a:t>  (OrderedDict, input-dependent key)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Cache key = (id, comments, likes, watchCount, subMonths, lastWatchDays) → auto-invalidates on input change; repeat calls hit instantly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7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Why "Zero Activity → 0 Points"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5120640" cy="237744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691640"/>
            <a:ext cx="4572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Signal Weights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Comments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219456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219456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Writing = most active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0604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Watch 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60604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260604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Real watching = strong preference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01752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Likes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01752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×2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301752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One click, medium signal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429000"/>
            <a:ext cx="1417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Long sub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429000"/>
            <a:ext cx="9144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Consolas"/>
              </a:rPr>
              <a:t>+0.5/mo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3429000"/>
            <a:ext cx="24688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A9AA2"/>
                </a:solidFill>
                <a:latin typeface="Segoe UI"/>
              </a:rPr>
              <a:t>Only if active, 2yr cap (+12)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069080"/>
            <a:ext cx="5120640" cy="21945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206240"/>
            <a:ext cx="45720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Recency Decay  </a:t>
            </a:r>
            <a:r>
              <a:rPr sz="1300" b="0">
                <a:solidFill>
                  <a:srgbClr val="9A9AA2"/>
                </a:solidFill>
                <a:latin typeface="Consolas"/>
              </a:rPr>
              <a:t>e^(−0.005·d)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7d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0.97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764792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764792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30d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0.86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52344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752344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90d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52344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0.64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39896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739896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1yr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39896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0.16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27448" y="4709160"/>
            <a:ext cx="914400" cy="1280160"/>
          </a:xfrm>
          <a:prstGeom prst="roundRect">
            <a:avLst/>
          </a:prstGeom>
          <a:solidFill>
            <a:srgbClr val="1E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27448" y="4846320"/>
            <a:ext cx="914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3yr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27448" y="5257800"/>
            <a:ext cx="9144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2F2F2"/>
                </a:solidFill>
                <a:latin typeface="Consolas"/>
              </a:rPr>
              <a:t>≈0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852160" y="1554480"/>
            <a:ext cx="5833872" cy="47091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80760" y="1691640"/>
            <a:ext cx="5394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Segoe UI"/>
              </a:rPr>
              <a:t>Verified Results — same input, accurate demotion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989320" y="2194560"/>
            <a:ext cx="5532120" cy="502920"/>
          </a:xfrm>
          <a:prstGeom prst="rect">
            <a:avLst/>
          </a:prstGeom>
          <a:solidFill>
            <a:srgbClr val="2424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0760" y="219456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F2F2"/>
                </a:solidFill>
                <a:latin typeface="Segoe UI"/>
              </a:rPr>
              <a:t>Channel case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Cmt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0120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Likes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219456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Watch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09960" y="2194560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F2F2F2"/>
                </a:solidFill>
                <a:latin typeface="Consolas"/>
              </a:rPr>
              <a:t>Score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080760" y="2761488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2ECC71"/>
                </a:solidFill>
                <a:latin typeface="Segoe UI"/>
              </a:rPr>
              <a:t>Watched 150× · 3 days ago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378440" y="2761488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150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109960" y="2761488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ECC71"/>
                </a:solidFill>
                <a:latin typeface="Consolas"/>
              </a:rPr>
              <a:t>100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89320" y="3328416"/>
            <a:ext cx="5532120" cy="50292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080760" y="3328416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2F2F2"/>
                </a:solidFill>
                <a:latin typeface="Segoe UI"/>
              </a:rPr>
              <a:t>5yr active (cmt·likes)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6968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80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78440" y="3328416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109960" y="3328416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2F2F2"/>
                </a:solidFill>
                <a:latin typeface="Consolas"/>
              </a:rPr>
              <a:t>60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080760" y="3895344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Segoe UI"/>
              </a:rPr>
              <a:t>6mo active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86968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20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78440" y="3895344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109960" y="3895344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9A9AA2"/>
                </a:solidFill>
                <a:latin typeface="Consolas"/>
              </a:rPr>
              <a:t>15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989320" y="4462272"/>
            <a:ext cx="5532120" cy="502920"/>
          </a:xfrm>
          <a:prstGeom prst="rect">
            <a:avLst/>
          </a:prstGeom>
          <a:solidFill>
            <a:srgbClr val="18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6080760" y="4462272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3B3B"/>
                </a:solidFill>
                <a:latin typeface="Segoe UI"/>
              </a:rPr>
              <a:t>Dormant 10 years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86968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78440" y="4462272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09960" y="4462272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Consolas"/>
              </a:rPr>
              <a:t>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080760" y="5029200"/>
            <a:ext cx="274320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FF3B3B"/>
                </a:solidFill>
                <a:latin typeface="Segoe UI"/>
              </a:rPr>
              <a:t>Watched 50× · 1000 days ago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6968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60120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378440" y="5029200"/>
            <a:ext cx="73152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9A9AA2"/>
                </a:solidFill>
                <a:latin typeface="Consolas"/>
              </a:rPr>
              <a:t>50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09960" y="5029200"/>
            <a:ext cx="5486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Consolas"/>
              </a:rPr>
              <a:t>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080760" y="5715000"/>
            <a:ext cx="539496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→ Fixes the old trap (</a:t>
            </a:r>
            <a:r>
              <a:rPr sz="1200" b="1">
                <a:solidFill>
                  <a:srgbClr val="FF3B3B"/>
                </a:solidFill>
                <a:latin typeface="Segoe UI"/>
              </a:rPr>
              <a:t>10yr-dormant &gt; 6mo-active</a:t>
            </a:r>
            <a:r>
              <a:rPr sz="1200" b="0">
                <a:solidFill>
                  <a:srgbClr val="9A9AA2"/>
                </a:solidFill>
                <a:latin typeface="Segoe UI"/>
              </a:rPr>
              <a:t>) via "zero activity → 0"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7F4950-EDA6-0DBB-3892-1B0EB32C2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F397EA5-1872-B370-DB25-32B50A8D8F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076F47-2E25-6110-F6D8-1737E8813701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58CF80-C3A9-8966-D924-CFC22C0347FD}"/>
              </a:ext>
            </a:extLst>
          </p:cNvPr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8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USER 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EDFE66-A4C7-7C9D-EB57-CB715ADB8B20}"/>
              </a:ext>
            </a:extLst>
          </p:cNvPr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User Flow — 4 Steps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17E5D1-C557-FB2E-EA74-0F0E4D7F00A1}"/>
              </a:ext>
            </a:extLst>
          </p:cNvPr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8CB4FC-7BA8-7843-AEB2-A9AE5025C3DA}"/>
              </a:ext>
            </a:extLst>
          </p:cNvPr>
          <p:cNvSpPr txBox="1"/>
          <p:nvPr/>
        </p:nvSpPr>
        <p:spPr>
          <a:xfrm>
            <a:off x="502920" y="1325099"/>
            <a:ext cx="1115568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2ECC71"/>
                </a:solidFill>
                <a:latin typeface="Consolas"/>
              </a:rPr>
              <a:t>Google Login  →  Data Collection  →  Analysis Done</a:t>
            </a:r>
          </a:p>
        </p:txBody>
      </p:sp>
      <p:pic>
        <p:nvPicPr>
          <p:cNvPr id="8" name="Picture 7" descr="기본화면.png">
            <a:extLst>
              <a:ext uri="{FF2B5EF4-FFF2-40B4-BE49-F238E27FC236}">
                <a16:creationId xmlns:a16="http://schemas.microsoft.com/office/drawing/2014/main" id="{90D1D4DA-DC08-BA23-F418-AF8672584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65" t="3739" r="26522" b="29523"/>
          <a:stretch>
            <a:fillRect/>
          </a:stretch>
        </p:blipFill>
        <p:spPr>
          <a:xfrm>
            <a:off x="2737063" y="1631430"/>
            <a:ext cx="6676961" cy="4860884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454D848-26E8-4BB4-1567-8881515AF807}"/>
              </a:ext>
            </a:extLst>
          </p:cNvPr>
          <p:cNvSpPr txBox="1"/>
          <p:nvPr/>
        </p:nvSpPr>
        <p:spPr>
          <a:xfrm>
            <a:off x="3352647" y="6557176"/>
            <a:ext cx="5486400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9A9AA2"/>
                </a:solidFill>
                <a:latin typeface="Segoe UI"/>
              </a:rPr>
              <a:t>① </a:t>
            </a:r>
            <a:r>
              <a:rPr lang="en-US" sz="1200" dirty="0">
                <a:solidFill>
                  <a:srgbClr val="9A9AA2"/>
                </a:solidFill>
                <a:latin typeface="Segoe UI"/>
              </a:rPr>
              <a:t>L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og in with Google (</a:t>
            </a:r>
            <a:r>
              <a:rPr sz="1200" b="0" dirty="0" err="1">
                <a:solidFill>
                  <a:srgbClr val="9A9AA2"/>
                </a:solidFill>
                <a:latin typeface="Segoe UI"/>
              </a:rPr>
              <a:t>youtube.readonly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915698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로그인 후.png"/>
          <p:cNvPicPr>
            <a:picLocks noChangeAspect="1"/>
          </p:cNvPicPr>
          <p:nvPr/>
        </p:nvPicPr>
        <p:blipFill>
          <a:blip r:embed="rId2"/>
          <a:srcRect l="22213" r="24801"/>
          <a:stretch>
            <a:fillRect/>
          </a:stretch>
        </p:blipFill>
        <p:spPr>
          <a:xfrm>
            <a:off x="3528725" y="1630125"/>
            <a:ext cx="4735468" cy="4780926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0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8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USER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User Flow — 4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282129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2ECC71"/>
                </a:solidFill>
                <a:latin typeface="Consolas"/>
              </a:rPr>
              <a:t>Google Login  →  Data Collection  →  Analysis Done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3182" y="6419979"/>
            <a:ext cx="6401721" cy="235962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dirty="0">
                <a:solidFill>
                  <a:srgbClr val="9A9AA2"/>
                </a:solidFill>
                <a:latin typeface="Segoe UI"/>
              </a:rPr>
              <a:t>② (Optional</a:t>
            </a:r>
            <a:r>
              <a:rPr lang="en-US" sz="1200" b="0" dirty="0">
                <a:solidFill>
                  <a:srgbClr val="9A9AA2"/>
                </a:solidFill>
                <a:latin typeface="Segoe UI"/>
              </a:rPr>
              <a:t>, Recommended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) Upload Takeout → exact comments &amp; watch</a:t>
            </a:r>
            <a:r>
              <a:rPr lang="en-US" sz="1200" b="0" dirty="0">
                <a:solidFill>
                  <a:srgbClr val="9A9AA2"/>
                </a:solidFill>
                <a:latin typeface="Segoe UI"/>
              </a:rPr>
              <a:t> </a:t>
            </a:r>
            <a:r>
              <a:rPr sz="1200" b="0" dirty="0">
                <a:solidFill>
                  <a:srgbClr val="9A9AA2"/>
                </a:solidFill>
                <a:latin typeface="Segoe UI"/>
              </a:rPr>
              <a:t>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09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RESULT - 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T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aste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G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raph</a:t>
            </a:r>
            <a:endParaRPr sz="1300" b="1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500" b="1" dirty="0">
                <a:solidFill>
                  <a:srgbClr val="F2F2F2"/>
                </a:solidFill>
                <a:latin typeface="Segoe UI"/>
              </a:rPr>
              <a:t>Taste Communities &amp; Map — Union-Find + MST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111556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dirty="0">
                <a:solidFill>
                  <a:srgbClr val="9A9AA2"/>
                </a:solidFill>
                <a:latin typeface="Segoe UI"/>
              </a:rPr>
              <a:t>Build a weighted graph from channels — </a:t>
            </a:r>
            <a:r>
              <a:rPr sz="1350" b="1" dirty="0">
                <a:solidFill>
                  <a:srgbClr val="F2F2F2"/>
                </a:solidFill>
                <a:latin typeface="Segoe UI"/>
              </a:rPr>
              <a:t>an edge connects two channels when category cosine similarity ≥ threshold.</a:t>
            </a:r>
          </a:p>
        </p:txBody>
      </p:sp>
      <p:pic>
        <p:nvPicPr>
          <p:cNvPr id="8" name="Picture 7" descr="그래프 추가.png"/>
          <p:cNvPicPr>
            <a:picLocks noChangeAspect="1"/>
          </p:cNvPicPr>
          <p:nvPr/>
        </p:nvPicPr>
        <p:blipFill>
          <a:blip r:embed="rId2"/>
          <a:srcRect l="30628" t="8388" r="30501" b="9156"/>
          <a:stretch>
            <a:fillRect/>
          </a:stretch>
        </p:blipFill>
        <p:spPr>
          <a:xfrm>
            <a:off x="1877895" y="1660172"/>
            <a:ext cx="4549919" cy="5151801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9" name="Rounded Rectangle 8"/>
          <p:cNvSpPr/>
          <p:nvPr/>
        </p:nvSpPr>
        <p:spPr>
          <a:xfrm>
            <a:off x="7452360" y="1874519"/>
            <a:ext cx="4233672" cy="4526280"/>
          </a:xfrm>
          <a:prstGeom prst="roundRect">
            <a:avLst/>
          </a:prstGeom>
          <a:solidFill>
            <a:srgbClr val="161619"/>
          </a:solidFill>
          <a:ln w="12700"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08392" y="2084831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2ECC71"/>
                </a:solidFill>
                <a:latin typeface="Segoe UI"/>
              </a:rPr>
              <a:t>🔗  Taste Communities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08392" y="2432304"/>
            <a:ext cx="3749039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Union-Find · connected components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2743200"/>
            <a:ext cx="3749039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Group channels into taste clusters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Each community labeled by its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dominant 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08392" y="379476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A97BE8"/>
                </a:solidFill>
                <a:latin typeface="Segoe UI"/>
              </a:rPr>
              <a:t>🗺️  Taste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08392" y="4142232"/>
            <a:ext cx="3749039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6A6A72"/>
                </a:solidFill>
                <a:latin typeface="Consolas"/>
              </a:rPr>
              <a:t>Kruskal · maximum spanning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08392" y="4453128"/>
            <a:ext cx="3749039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Minimal backbone linking your taste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F2F2F2"/>
                </a:solidFill>
                <a:latin typeface="Segoe UI"/>
              </a:rPr>
              <a:t>• Rendered as a force-directed SVG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(node size = interest score)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08392" y="5532120"/>
            <a:ext cx="3703320" cy="713232"/>
          </a:xfrm>
          <a:prstGeom prst="roundRect">
            <a:avLst/>
          </a:prstGeom>
          <a:solidFill>
            <a:srgbClr val="1212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45552" y="5614416"/>
            <a:ext cx="347472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FF3B3B"/>
                </a:solidFill>
                <a:latin typeface="Consolas"/>
              </a:rPr>
              <a:t>Algorithms</a:t>
            </a:r>
            <a:r>
              <a:rPr sz="1100" b="0">
                <a:solidFill>
                  <a:srgbClr val="9A9AA2"/>
                </a:solidFill>
                <a:latin typeface="Segoe UI"/>
              </a:rPr>
              <a:t>  Union-Find · Kruskal MST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Segoe UI"/>
              </a:rPr>
              <a:t>Reuses categoryScores vectors → </a:t>
            </a:r>
            <a:r>
              <a:rPr sz="1100" b="1">
                <a:solidFill>
                  <a:srgbClr val="2ECC71"/>
                </a:solidFill>
                <a:latin typeface="Segoe UI"/>
              </a:rPr>
              <a:t>0 extra API</a:t>
            </a:r>
          </a:p>
        </p:txBody>
      </p:sp>
    </p:spTree>
    <p:extLst>
      <p:ext uri="{BB962C8B-B14F-4D97-AF65-F5344CB8AC3E}">
        <p14:creationId xmlns:p14="http://schemas.microsoft.com/office/powerpoint/2010/main" val="2594526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10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RESULT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 – Interest Ranking</a:t>
            </a:r>
            <a:endParaRPr sz="1300" b="1" dirty="0">
              <a:solidFill>
                <a:srgbClr val="FF3B3B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Result — Interest Ranking + AI Tools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27264" r="27081" b="7426"/>
          <a:stretch>
            <a:fillRect/>
          </a:stretch>
        </p:blipFill>
        <p:spPr>
          <a:xfrm>
            <a:off x="1957674" y="1406293"/>
            <a:ext cx="4676329" cy="5062013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Screen Layout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Per-channel </a:t>
            </a:r>
            <a:r>
              <a:rPr sz="1300" b="1">
                <a:solidFill>
                  <a:srgbClr val="F2F2F2"/>
                </a:solidFill>
                <a:latin typeface="Segoe UI"/>
              </a:rPr>
              <a:t>Interest Score·rank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Segoe UI"/>
              </a:rPr>
              <a:t>  (#rank · cmt · likes · subs)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1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Zero-score channels sorted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to the bottom as dormant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Bottom </a:t>
            </a:r>
            <a:r>
              <a:rPr sz="1300" b="1">
                <a:solidFill>
                  <a:srgbClr val="2ECC71"/>
                </a:solidFill>
                <a:latin typeface="Segoe UI"/>
              </a:rPr>
              <a:t>🤖 AI Analysis Tools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— 3 selectable modes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Viewing-Taste Persona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Subscription Cleanup Coach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- New Channel Recommendation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• Floating button re-opens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  the tools anytime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11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Viewing-Taste Persona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페르소나.png"/>
          <p:cNvPicPr>
            <a:picLocks noChangeAspect="1"/>
          </p:cNvPicPr>
          <p:nvPr/>
        </p:nvPicPr>
        <p:blipFill>
          <a:blip r:embed="rId2"/>
          <a:srcRect l="27430" r="27745" b="5872"/>
          <a:stretch>
            <a:fillRect/>
          </a:stretch>
        </p:blipFill>
        <p:spPr>
          <a:xfrm>
            <a:off x="2215426" y="1358417"/>
            <a:ext cx="4498358" cy="5042383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3B3B"/>
                </a:solidFill>
                <a:latin typeface="Segoe UI"/>
              </a:rPr>
              <a:t>Solar LLM Interpretation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Takes channel scores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category distribution, then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writes one taste report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4A844"/>
                </a:solidFill>
                <a:latin typeface="Segoe UI"/>
              </a:rPr>
              <a:t>Example result: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"Solo-cooking + Game/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 History buff"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1">
              <a:solidFill>
                <a:srgbClr val="F2F2F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Solo-Cooking Master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Game Strategist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History + Slang buff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• Healthy-Food Experimenter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6A72"/>
                </a:solidFill>
                <a:latin typeface="Segoe UI"/>
              </a:rPr>
              <a:t>→ tags·subtitles·summary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6A6A72"/>
                </a:solidFill>
                <a:latin typeface="Segoe UI"/>
              </a:rPr>
              <a:t>   as structured JSON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1300" b="1" dirty="0">
                <a:solidFill>
                  <a:srgbClr val="FF3B3B"/>
                </a:solidFill>
                <a:latin typeface="Consolas"/>
              </a:rPr>
              <a:t>12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Subscription Cleanup Coach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구독 정리 코치.png"/>
          <p:cNvPicPr>
            <a:picLocks noChangeAspect="1"/>
          </p:cNvPicPr>
          <p:nvPr/>
        </p:nvPicPr>
        <p:blipFill>
          <a:blip r:embed="rId2"/>
          <a:srcRect l="28373" t="5781" r="27299" b="-877"/>
          <a:stretch>
            <a:fillRect/>
          </a:stretch>
        </p:blipFill>
        <p:spPr>
          <a:xfrm>
            <a:off x="1969948" y="1345567"/>
            <a:ext cx="4516770" cy="5172706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8092440" y="1463040"/>
            <a:ext cx="359359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0" y="1691640"/>
            <a:ext cx="320040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3B3B"/>
                </a:solidFill>
                <a:latin typeface="Segoe UI"/>
              </a:rPr>
              <a:t>Cleanup Logic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240280"/>
            <a:ext cx="3246120" cy="4023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LLM judges dormant &amp;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low-interest channels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A9AA2"/>
                </a:solidFill>
                <a:latin typeface="Segoe UI"/>
              </a:rPr>
              <a:t>(score &lt; 20)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3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🔴 </a:t>
            </a:r>
            <a:r>
              <a:rPr sz="1300" b="1">
                <a:solidFill>
                  <a:srgbClr val="FF3B3B"/>
                </a:solidFill>
                <a:latin typeface="Segoe UI"/>
              </a:rPr>
              <a:t>Drop Recommended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long inactivity (2yr+)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🟡 </a:t>
            </a:r>
            <a:r>
              <a:rPr sz="1300" b="1">
                <a:solidFill>
                  <a:srgbClr val="F4A844"/>
                </a:solidFill>
                <a:latin typeface="Segoe UI"/>
              </a:rPr>
              <a:t>Keep for Now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 inactive within 1 year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endParaRPr sz="1200" b="0">
              <a:solidFill>
                <a:srgbClr val="9A9AA2"/>
              </a:solidFill>
              <a:latin typeface="Segoe UI"/>
            </a:endParaR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F2F2F2"/>
                </a:solidFill>
                <a:latin typeface="Segoe UI"/>
              </a:rPr>
              <a:t>Each with a stated reason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("active ~1530 days ago,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9A9AA2"/>
                </a:solidFill>
                <a:latin typeface="Segoe UI"/>
              </a:rPr>
              <a:t>  inactive 51 months")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dirty="0">
                <a:solidFill>
                  <a:srgbClr val="FF3B3B"/>
                </a:solidFill>
                <a:latin typeface="Consolas"/>
              </a:rPr>
              <a:t>1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3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 · AI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1556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Channel </a:t>
            </a:r>
            <a:r>
              <a:rPr sz="3000" b="1" dirty="0">
                <a:solidFill>
                  <a:srgbClr val="F2F2F2"/>
                </a:solidFill>
                <a:latin typeface="Segoe UI"/>
              </a:rPr>
              <a:t>Recommendation — Video-First Discovery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30354" r="30062"/>
          <a:stretch>
            <a:fillRect/>
          </a:stretch>
        </p:blipFill>
        <p:spPr>
          <a:xfrm>
            <a:off x="1737448" y="1355949"/>
            <a:ext cx="3657426" cy="5273451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8" name="Rounded Rectangle 7"/>
          <p:cNvSpPr/>
          <p:nvPr/>
        </p:nvSpPr>
        <p:spPr>
          <a:xfrm>
            <a:off x="7086600" y="1463040"/>
            <a:ext cx="459943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4206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Anti-hallucination: don't invent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names — reverse-trace real videos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2468880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46888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Extract interest keywords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77063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top channels + recent titles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218688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21868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Search videos per keyword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52044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search.list → collect channelId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3968496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96849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Aggregate channelId frequency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27024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2+ keywords = real 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718304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471830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Profile candidates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502005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real desc·titles (1 unit)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5468112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546811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LLM curation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576986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rank · reason · fit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6263640"/>
            <a:ext cx="4206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A6A72"/>
                </a:solidFill>
                <a:latin typeface="Segoe UI"/>
              </a:rPr>
              <a:t>Costly search(100u) only at ②, deep profiling at 1u → quota saved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8C85A-F898-1B17-A192-3E9525EF73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A874857-639F-A25B-B9A3-F7313AAADCB3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6">
            <a:extLst>
              <a:ext uri="{FF2B5EF4-FFF2-40B4-BE49-F238E27FC236}">
                <a16:creationId xmlns:a16="http://schemas.microsoft.com/office/drawing/2014/main" id="{759BF991-44F8-A0D7-4B29-4FACD97005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497" r="30397" b="3830"/>
          <a:stretch>
            <a:fillRect/>
          </a:stretch>
        </p:blipFill>
        <p:spPr>
          <a:xfrm>
            <a:off x="1755157" y="1361148"/>
            <a:ext cx="4269757" cy="5248422"/>
          </a:xfrm>
          <a:prstGeom prst="rect">
            <a:avLst/>
          </a:prstGeom>
          <a:ln w="12700">
            <a:solidFill>
              <a:srgbClr val="33333A"/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D068949-FE29-029E-C556-A1AF7D914902}"/>
              </a:ext>
            </a:extLst>
          </p:cNvPr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6CED53-B1CD-45E1-4F7B-70FFE424D183}"/>
              </a:ext>
            </a:extLst>
          </p:cNvPr>
          <p:cNvSpPr txBox="1"/>
          <p:nvPr/>
        </p:nvSpPr>
        <p:spPr>
          <a:xfrm>
            <a:off x="502920" y="320040"/>
            <a:ext cx="1115568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F3B3B"/>
                </a:solidFill>
                <a:latin typeface="Consolas"/>
              </a:rPr>
              <a:t>1</a:t>
            </a:r>
            <a:r>
              <a:rPr lang="en-US" sz="1300" b="1" dirty="0">
                <a:solidFill>
                  <a:srgbClr val="FF3B3B"/>
                </a:solidFill>
                <a:latin typeface="Consolas"/>
              </a:rPr>
              <a:t>4</a:t>
            </a:r>
            <a:r>
              <a:rPr sz="1300" b="1">
                <a:solidFill>
                  <a:srgbClr val="FF3B3B"/>
                </a:solidFill>
                <a:latin typeface="Consolas"/>
              </a:rPr>
              <a:t> </a:t>
            </a:r>
            <a:r>
              <a:rPr sz="1300" b="1" dirty="0">
                <a:solidFill>
                  <a:srgbClr val="FF3B3B"/>
                </a:solidFill>
                <a:latin typeface="Consolas"/>
              </a:rPr>
              <a:t>· AI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460956-808C-1B76-FF78-4EC4D8B7A95C}"/>
              </a:ext>
            </a:extLst>
          </p:cNvPr>
          <p:cNvSpPr txBox="1"/>
          <p:nvPr/>
        </p:nvSpPr>
        <p:spPr>
          <a:xfrm>
            <a:off x="502920" y="603504"/>
            <a:ext cx="11155680" cy="51296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>
                <a:solidFill>
                  <a:srgbClr val="F2F2F2"/>
                </a:solidFill>
                <a:latin typeface="Segoe UI"/>
              </a:rPr>
              <a:t>Channel </a:t>
            </a:r>
            <a:r>
              <a:rPr sz="3000" b="1" dirty="0">
                <a:solidFill>
                  <a:srgbClr val="F2F2F2"/>
                </a:solidFill>
                <a:latin typeface="Segoe UI"/>
              </a:rPr>
              <a:t>Recommendation — Video-First Discovery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D5E826-A0ED-5334-70F0-75FF30956BF8}"/>
              </a:ext>
            </a:extLst>
          </p:cNvPr>
          <p:cNvSpPr/>
          <p:nvPr/>
        </p:nvSpPr>
        <p:spPr>
          <a:xfrm>
            <a:off x="521207" y="1207008"/>
            <a:ext cx="1920240" cy="31750"/>
          </a:xfrm>
          <a:prstGeom prst="rect">
            <a:avLst/>
          </a:prstGeom>
          <a:solidFill>
            <a:srgbClr val="FF3B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650B3DB-E628-98AD-7AF1-804ECED2F362}"/>
              </a:ext>
            </a:extLst>
          </p:cNvPr>
          <p:cNvSpPr/>
          <p:nvPr/>
        </p:nvSpPr>
        <p:spPr>
          <a:xfrm>
            <a:off x="7086600" y="1463040"/>
            <a:ext cx="4599432" cy="4937760"/>
          </a:xfrm>
          <a:prstGeom prst="roundRect">
            <a:avLst/>
          </a:prstGeom>
          <a:solidFill>
            <a:srgbClr val="1616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66ED96-6058-A43B-8C28-99036EA60CBC}"/>
              </a:ext>
            </a:extLst>
          </p:cNvPr>
          <p:cNvSpPr txBox="1"/>
          <p:nvPr/>
        </p:nvSpPr>
        <p:spPr>
          <a:xfrm>
            <a:off x="7315200" y="1645920"/>
            <a:ext cx="4206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Anti-hallucination: don't invent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FF3B3B"/>
                </a:solidFill>
                <a:latin typeface="Segoe UI"/>
              </a:rPr>
              <a:t>names — reverse-trace real videos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F81810-D4A7-C73C-CA9A-D9D8A2FDBA9D}"/>
              </a:ext>
            </a:extLst>
          </p:cNvPr>
          <p:cNvSpPr txBox="1"/>
          <p:nvPr/>
        </p:nvSpPr>
        <p:spPr>
          <a:xfrm>
            <a:off x="7315200" y="2468880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①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AB88E8-F234-B194-798D-DFCA910B2BDA}"/>
              </a:ext>
            </a:extLst>
          </p:cNvPr>
          <p:cNvSpPr txBox="1"/>
          <p:nvPr/>
        </p:nvSpPr>
        <p:spPr>
          <a:xfrm>
            <a:off x="7772400" y="246888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Extract interest keywords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C05C33-A4D8-5681-9016-A261BBCDE164}"/>
              </a:ext>
            </a:extLst>
          </p:cNvPr>
          <p:cNvSpPr txBox="1"/>
          <p:nvPr/>
        </p:nvSpPr>
        <p:spPr>
          <a:xfrm>
            <a:off x="7772400" y="277063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top channels + recent titles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BBCD29D-AB7C-502A-C1EF-191F18DD0529}"/>
              </a:ext>
            </a:extLst>
          </p:cNvPr>
          <p:cNvSpPr txBox="1"/>
          <p:nvPr/>
        </p:nvSpPr>
        <p:spPr>
          <a:xfrm>
            <a:off x="7315200" y="3218688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②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D6599D8-AF83-2CA8-C14D-E3C04BD53211}"/>
              </a:ext>
            </a:extLst>
          </p:cNvPr>
          <p:cNvSpPr txBox="1"/>
          <p:nvPr/>
        </p:nvSpPr>
        <p:spPr>
          <a:xfrm>
            <a:off x="7772400" y="321868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Search videos per keyword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B688F6-084D-71AF-A4B8-7E4E7D883F04}"/>
              </a:ext>
            </a:extLst>
          </p:cNvPr>
          <p:cNvSpPr txBox="1"/>
          <p:nvPr/>
        </p:nvSpPr>
        <p:spPr>
          <a:xfrm>
            <a:off x="7772400" y="3520440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search.list → collect channelId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A06D3D-ECC6-2846-38B8-4EF0CD71A99A}"/>
              </a:ext>
            </a:extLst>
          </p:cNvPr>
          <p:cNvSpPr txBox="1"/>
          <p:nvPr/>
        </p:nvSpPr>
        <p:spPr>
          <a:xfrm>
            <a:off x="7315200" y="3968496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③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74C3F2-2FD1-AA1E-0BB4-8463DF582CF9}"/>
              </a:ext>
            </a:extLst>
          </p:cNvPr>
          <p:cNvSpPr txBox="1"/>
          <p:nvPr/>
        </p:nvSpPr>
        <p:spPr>
          <a:xfrm>
            <a:off x="7772400" y="396849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Aggregate channelId frequency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3BE722-F33F-83EC-D3AC-8FAD95573362}"/>
              </a:ext>
            </a:extLst>
          </p:cNvPr>
          <p:cNvSpPr txBox="1"/>
          <p:nvPr/>
        </p:nvSpPr>
        <p:spPr>
          <a:xfrm>
            <a:off x="7772400" y="4270248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2+ keywords = real topic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E454CF2-1C69-D567-F3D5-2E3733C723FB}"/>
              </a:ext>
            </a:extLst>
          </p:cNvPr>
          <p:cNvSpPr txBox="1"/>
          <p:nvPr/>
        </p:nvSpPr>
        <p:spPr>
          <a:xfrm>
            <a:off x="7315200" y="4718304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④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1DAFC09-E269-3366-B2C1-44AEBE12E237}"/>
              </a:ext>
            </a:extLst>
          </p:cNvPr>
          <p:cNvSpPr txBox="1"/>
          <p:nvPr/>
        </p:nvSpPr>
        <p:spPr>
          <a:xfrm>
            <a:off x="7772400" y="471830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Profile candidates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918A150-1EC4-6D51-4B99-F35A22385773}"/>
              </a:ext>
            </a:extLst>
          </p:cNvPr>
          <p:cNvSpPr txBox="1"/>
          <p:nvPr/>
        </p:nvSpPr>
        <p:spPr>
          <a:xfrm>
            <a:off x="7772400" y="5020056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real desc·titles (1 unit)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F89D0D-1789-1CD2-3345-2531D99384E6}"/>
              </a:ext>
            </a:extLst>
          </p:cNvPr>
          <p:cNvSpPr txBox="1"/>
          <p:nvPr/>
        </p:nvSpPr>
        <p:spPr>
          <a:xfrm>
            <a:off x="7315200" y="5468112"/>
            <a:ext cx="45720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2ECC71"/>
                </a:solidFill>
                <a:latin typeface="Segoe UI"/>
              </a:rPr>
              <a:t>⑤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CFBB91-BE75-3275-2806-D4C8EB0CA892}"/>
              </a:ext>
            </a:extLst>
          </p:cNvPr>
          <p:cNvSpPr txBox="1"/>
          <p:nvPr/>
        </p:nvSpPr>
        <p:spPr>
          <a:xfrm>
            <a:off x="7772400" y="5468112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F2F2F2"/>
                </a:solidFill>
                <a:latin typeface="Segoe UI"/>
              </a:rPr>
              <a:t>LLM curation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65E805-5873-42F5-2DD0-FE89F6AE8C7F}"/>
              </a:ext>
            </a:extLst>
          </p:cNvPr>
          <p:cNvSpPr txBox="1"/>
          <p:nvPr/>
        </p:nvSpPr>
        <p:spPr>
          <a:xfrm>
            <a:off x="7772400" y="5769864"/>
            <a:ext cx="3749039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A9AA2"/>
                </a:solidFill>
                <a:latin typeface="Consolas"/>
              </a:rPr>
              <a:t>rank · reason · fit decision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74822E-D912-9A45-FE9B-C8349498B2C6}"/>
              </a:ext>
            </a:extLst>
          </p:cNvPr>
          <p:cNvSpPr txBox="1"/>
          <p:nvPr/>
        </p:nvSpPr>
        <p:spPr>
          <a:xfrm>
            <a:off x="7315200" y="6263640"/>
            <a:ext cx="42062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A6A72"/>
                </a:solidFill>
                <a:latin typeface="Segoe UI"/>
              </a:rPr>
              <a:t>Costly search(100u) only at ②, deep profiling at 1u → quota saved</a:t>
            </a:r>
          </a:p>
        </p:txBody>
      </p:sp>
    </p:spTree>
    <p:extLst>
      <p:ext uri="{BB962C8B-B14F-4D97-AF65-F5344CB8AC3E}">
        <p14:creationId xmlns:p14="http://schemas.microsoft.com/office/powerpoint/2010/main" val="36642515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1404</Words>
  <Application>Microsoft Office PowerPoint</Application>
  <PresentationFormat>와이드스크린</PresentationFormat>
  <Paragraphs>326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21" baseType="lpstr">
      <vt:lpstr>Arial</vt:lpstr>
      <vt:lpstr>Calibri</vt:lpstr>
      <vt:lpstr>Consolas</vt:lpstr>
      <vt:lpstr>Segoe UI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이태진</dc:creator>
  <cp:keywords/>
  <dc:description>generated using python-pptx</dc:description>
  <cp:lastModifiedBy>명준 송</cp:lastModifiedBy>
  <cp:revision>6</cp:revision>
  <dcterms:created xsi:type="dcterms:W3CDTF">2013-01-27T09:14:16Z</dcterms:created>
  <dcterms:modified xsi:type="dcterms:W3CDTF">2026-06-02T08:01:32Z</dcterms:modified>
  <cp:category/>
</cp:coreProperties>
</file>